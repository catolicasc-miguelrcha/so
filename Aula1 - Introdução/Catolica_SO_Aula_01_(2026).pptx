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9.xml" ContentType="application/vnd.openxmlformats-officedocument.presentationml.notesSlide+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73" r:id="rId3"/>
    <p:sldId id="257" r:id="rId4"/>
    <p:sldId id="258" r:id="rId5"/>
    <p:sldId id="266" r:id="rId6"/>
    <p:sldId id="263" r:id="rId7"/>
    <p:sldId id="259" r:id="rId8"/>
    <p:sldId id="267" r:id="rId9"/>
    <p:sldId id="268" r:id="rId10"/>
    <p:sldId id="269" r:id="rId11"/>
    <p:sldId id="270" r:id="rId12"/>
    <p:sldId id="271" r:id="rId13"/>
    <p:sldId id="272"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15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663" autoAdjust="0"/>
  </p:normalViewPr>
  <p:slideViewPr>
    <p:cSldViewPr snapToGrid="0" snapToObjects="1">
      <p:cViewPr varScale="1">
        <p:scale>
          <a:sx n="126" d="100"/>
          <a:sy n="126" d="100"/>
        </p:scale>
        <p:origin x="3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086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760419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561969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6E8F0"/>
                </a:solidFill>
                <a:effectLst/>
                <a:latin typeface="Google Sans"/>
              </a:rPr>
              <a:t>Demand paging is </a:t>
            </a:r>
            <a:r>
              <a:rPr lang="en-US" dirty="0"/>
              <a:t>a virtual memory technique that loads program pages into physical memory (RAM) only when they are needed during execution, rather than loading the entire process at once.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31223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b="0" i="0" dirty="0">
                <a:solidFill>
                  <a:srgbClr val="E6E8F0"/>
                </a:solidFill>
                <a:effectLst/>
                <a:latin typeface="Google Sans"/>
              </a:rPr>
              <a:t>High Bandwidth </a:t>
            </a:r>
            <a:r>
              <a:rPr lang="pt-BR" b="0" i="0" dirty="0" err="1">
                <a:solidFill>
                  <a:srgbClr val="E6E8F0"/>
                </a:solidFill>
                <a:effectLst/>
                <a:latin typeface="Google Sans"/>
              </a:rPr>
              <a:t>Memory</a:t>
            </a:r>
            <a:r>
              <a:rPr lang="pt-BR" b="0" i="0" dirty="0">
                <a:solidFill>
                  <a:srgbClr val="E6E8F0"/>
                </a:solidFill>
                <a:effectLst/>
                <a:latin typeface="Google Sans"/>
              </a:rPr>
              <a:t> 3: </a:t>
            </a:r>
            <a:r>
              <a:rPr lang="pt-BR" dirty="0"/>
              <a:t> projetado para atender à demanda de largura de banda de IA, HPC e gráficos</a:t>
            </a:r>
            <a:r>
              <a:rPr lang="pt-BR" b="0" i="0" dirty="0">
                <a:solidFill>
                  <a:srgbClr val="E6E8F0"/>
                </a:solidFill>
                <a:effectLst/>
                <a:latin typeface="Google Sans"/>
              </a:rPr>
              <a:t>. Ele oferece velocidades de até 6,4 </a:t>
            </a:r>
            <a:r>
              <a:rPr lang="pt-BR" b="0" i="0" dirty="0" err="1">
                <a:solidFill>
                  <a:srgbClr val="E6E8F0"/>
                </a:solidFill>
                <a:effectLst/>
                <a:latin typeface="Google Sans"/>
              </a:rPr>
              <a:t>Gbps</a:t>
            </a:r>
            <a:r>
              <a:rPr lang="pt-BR" b="0" i="0" dirty="0">
                <a:solidFill>
                  <a:srgbClr val="E6E8F0"/>
                </a:solidFill>
                <a:effectLst/>
                <a:latin typeface="Google Sans"/>
              </a:rPr>
              <a:t>, largura de banda superior a 819 GB/s por dispositivo e densidades de 16 Gb a 32 Gb por camada, suportando pilhas de até 16 camadas, superando significativamente o HBM2E em velocidade e eficiência. </a:t>
            </a:r>
            <a:br>
              <a:rPr lang="pt-BR" b="0" i="0" dirty="0">
                <a:solidFill>
                  <a:srgbClr val="E6E8F0"/>
                </a:solidFill>
                <a:effectLst/>
                <a:latin typeface="Google Sans"/>
              </a:rPr>
            </a:br>
            <a:br>
              <a:rPr lang="pt-BR" b="0" i="0" dirty="0">
                <a:solidFill>
                  <a:srgbClr val="E6E8F0"/>
                </a:solidFill>
                <a:effectLst/>
                <a:latin typeface="Google Sans"/>
              </a:rPr>
            </a:br>
            <a:r>
              <a:rPr lang="en-US" dirty="0"/>
              <a:t>DDR5 (Double Data Rate 5</a:t>
            </a:r>
            <a:r>
              <a:rPr lang="en-US" b="0" i="0" dirty="0">
                <a:solidFill>
                  <a:srgbClr val="E6E8F0"/>
                </a:solidFill>
                <a:effectLst/>
                <a:latin typeface="Google Sans"/>
              </a:rPr>
              <a:t>) - </a:t>
            </a:r>
            <a:r>
              <a:rPr lang="pt-BR" b="0" i="0" dirty="0">
                <a:solidFill>
                  <a:srgbClr val="E6E8F0"/>
                </a:solidFill>
                <a:effectLst/>
                <a:latin typeface="Google Sans"/>
              </a:rPr>
              <a:t>4800 MHz (chegando a 8000+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b="0" i="0" dirty="0">
                <a:solidFill>
                  <a:srgbClr val="E6E8F0"/>
                </a:solidFill>
                <a:effectLst/>
                <a:latin typeface="Google Sans"/>
              </a:rPr>
              <a:t>High Bandwidth </a:t>
            </a:r>
            <a:r>
              <a:rPr lang="pt-BR" b="0" i="0" dirty="0" err="1">
                <a:solidFill>
                  <a:srgbClr val="E6E8F0"/>
                </a:solidFill>
                <a:effectLst/>
                <a:latin typeface="Google Sans"/>
              </a:rPr>
              <a:t>Memory</a:t>
            </a:r>
            <a:r>
              <a:rPr lang="pt-BR" b="0" i="0" dirty="0">
                <a:solidFill>
                  <a:srgbClr val="E6E8F0"/>
                </a:solidFill>
                <a:effectLst/>
                <a:latin typeface="Google Sans"/>
              </a:rPr>
              <a:t> 3: </a:t>
            </a:r>
            <a:r>
              <a:rPr lang="pt-BR" dirty="0"/>
              <a:t> projetado para atender à demanda de largura de banda de IA, HPC e gráficos</a:t>
            </a:r>
            <a:r>
              <a:rPr lang="pt-BR" b="0" i="0" dirty="0">
                <a:solidFill>
                  <a:srgbClr val="E6E8F0"/>
                </a:solidFill>
                <a:effectLst/>
                <a:latin typeface="Google Sans"/>
              </a:rPr>
              <a:t>. Ele oferece velocidades de até 6,4 </a:t>
            </a:r>
            <a:r>
              <a:rPr lang="pt-BR" b="0" i="0" dirty="0" err="1">
                <a:solidFill>
                  <a:srgbClr val="E6E8F0"/>
                </a:solidFill>
                <a:effectLst/>
                <a:latin typeface="Google Sans"/>
              </a:rPr>
              <a:t>Gbps</a:t>
            </a:r>
            <a:r>
              <a:rPr lang="pt-BR" b="0" i="0" dirty="0">
                <a:solidFill>
                  <a:srgbClr val="E6E8F0"/>
                </a:solidFill>
                <a:effectLst/>
                <a:latin typeface="Google Sans"/>
              </a:rPr>
              <a:t>, largura de banda superior a 819 GB/s por dispositivo e densidades de 16 Gb a 32 Gb por camada, suportando pilhas de até 16 camadas, superando significativamente o HBM2E em velocidade e eficiência. </a:t>
            </a:r>
            <a:br>
              <a:rPr lang="pt-BR" b="0" i="0" dirty="0">
                <a:solidFill>
                  <a:srgbClr val="E6E8F0"/>
                </a:solidFill>
                <a:effectLst/>
                <a:latin typeface="Google Sans"/>
              </a:rPr>
            </a:br>
            <a:br>
              <a:rPr lang="pt-BR" b="0" i="0" dirty="0">
                <a:solidFill>
                  <a:srgbClr val="E6E8F0"/>
                </a:solidFill>
                <a:effectLst/>
                <a:latin typeface="Google Sans"/>
              </a:rPr>
            </a:br>
            <a:r>
              <a:rPr lang="en-US" dirty="0"/>
              <a:t>DDR5 (Double Data Rate 5</a:t>
            </a:r>
            <a:r>
              <a:rPr lang="en-US" b="0" i="0" dirty="0">
                <a:solidFill>
                  <a:srgbClr val="E6E8F0"/>
                </a:solidFill>
                <a:effectLst/>
                <a:latin typeface="Google Sans"/>
              </a:rPr>
              <a:t>) - </a:t>
            </a:r>
            <a:r>
              <a:rPr lang="pt-BR" b="0" i="0" dirty="0">
                <a:solidFill>
                  <a:srgbClr val="E6E8F0"/>
                </a:solidFill>
                <a:effectLst/>
                <a:latin typeface="Google Sans"/>
              </a:rPr>
              <a:t>4800 MHz (chegando a 8000+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66585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b="0" i="0" dirty="0">
                <a:solidFill>
                  <a:srgbClr val="E6E8F0"/>
                </a:solidFill>
                <a:effectLst/>
                <a:latin typeface="Google Sans"/>
              </a:rPr>
              <a:t>High Bandwidth </a:t>
            </a:r>
            <a:r>
              <a:rPr lang="pt-BR" b="0" i="0" dirty="0" err="1">
                <a:solidFill>
                  <a:srgbClr val="E6E8F0"/>
                </a:solidFill>
                <a:effectLst/>
                <a:latin typeface="Google Sans"/>
              </a:rPr>
              <a:t>Memory</a:t>
            </a:r>
            <a:r>
              <a:rPr lang="pt-BR" b="0" i="0" dirty="0">
                <a:solidFill>
                  <a:srgbClr val="E6E8F0"/>
                </a:solidFill>
                <a:effectLst/>
                <a:latin typeface="Google Sans"/>
              </a:rPr>
              <a:t> 3: </a:t>
            </a:r>
            <a:r>
              <a:rPr lang="pt-BR" dirty="0"/>
              <a:t> projetado para atender à demanda de largura de banda de IA, HPC e gráficos</a:t>
            </a:r>
            <a:r>
              <a:rPr lang="pt-BR" b="0" i="0" dirty="0">
                <a:solidFill>
                  <a:srgbClr val="E6E8F0"/>
                </a:solidFill>
                <a:effectLst/>
                <a:latin typeface="Google Sans"/>
              </a:rPr>
              <a:t>. Ele oferece velocidades de até 6,4 </a:t>
            </a:r>
            <a:r>
              <a:rPr lang="pt-BR" b="0" i="0" dirty="0" err="1">
                <a:solidFill>
                  <a:srgbClr val="E6E8F0"/>
                </a:solidFill>
                <a:effectLst/>
                <a:latin typeface="Google Sans"/>
              </a:rPr>
              <a:t>Gbps</a:t>
            </a:r>
            <a:r>
              <a:rPr lang="pt-BR" b="0" i="0" dirty="0">
                <a:solidFill>
                  <a:srgbClr val="E6E8F0"/>
                </a:solidFill>
                <a:effectLst/>
                <a:latin typeface="Google Sans"/>
              </a:rPr>
              <a:t>, largura de banda superior a 819 GB/s por dispositivo e densidades de 16 Gb a 32 Gb por camada, suportando pilhas de até 16 camadas, superando significativamente o HBM2E em velocidade e eficiência. </a:t>
            </a:r>
            <a:br>
              <a:rPr lang="pt-BR" b="0" i="0" dirty="0">
                <a:solidFill>
                  <a:srgbClr val="E6E8F0"/>
                </a:solidFill>
                <a:effectLst/>
                <a:latin typeface="Google Sans"/>
              </a:rPr>
            </a:br>
            <a:br>
              <a:rPr lang="pt-BR" b="0" i="0" dirty="0">
                <a:solidFill>
                  <a:srgbClr val="E6E8F0"/>
                </a:solidFill>
                <a:effectLst/>
                <a:latin typeface="Google Sans"/>
              </a:rPr>
            </a:br>
            <a:r>
              <a:rPr lang="en-US" dirty="0"/>
              <a:t>DDR5 (Double Data Rate 5</a:t>
            </a:r>
            <a:r>
              <a:rPr lang="en-US" b="0" i="0" dirty="0">
                <a:solidFill>
                  <a:srgbClr val="E6E8F0"/>
                </a:solidFill>
                <a:effectLst/>
                <a:latin typeface="Google Sans"/>
              </a:rPr>
              <a:t>) - </a:t>
            </a:r>
            <a:r>
              <a:rPr lang="pt-BR" b="0" i="0" dirty="0">
                <a:solidFill>
                  <a:srgbClr val="E6E8F0"/>
                </a:solidFill>
                <a:effectLst/>
                <a:latin typeface="Google Sans"/>
              </a:rPr>
              <a:t>4800 MHz (chegando a 8000+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20380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b="0" i="0" dirty="0">
                <a:solidFill>
                  <a:srgbClr val="E6E8F0"/>
                </a:solidFill>
                <a:effectLst/>
                <a:latin typeface="Google Sans"/>
              </a:rPr>
              <a:t>High Bandwidth </a:t>
            </a:r>
            <a:r>
              <a:rPr lang="pt-BR" b="0" i="0" dirty="0" err="1">
                <a:solidFill>
                  <a:srgbClr val="E6E8F0"/>
                </a:solidFill>
                <a:effectLst/>
                <a:latin typeface="Google Sans"/>
              </a:rPr>
              <a:t>Memory</a:t>
            </a:r>
            <a:r>
              <a:rPr lang="pt-BR" b="0" i="0" dirty="0">
                <a:solidFill>
                  <a:srgbClr val="E6E8F0"/>
                </a:solidFill>
                <a:effectLst/>
                <a:latin typeface="Google Sans"/>
              </a:rPr>
              <a:t> 3: </a:t>
            </a:r>
            <a:r>
              <a:rPr lang="pt-BR" dirty="0"/>
              <a:t> projetado para atender à demanda de largura de banda de IA, HPC e gráficos</a:t>
            </a:r>
            <a:r>
              <a:rPr lang="pt-BR" b="0" i="0" dirty="0">
                <a:solidFill>
                  <a:srgbClr val="E6E8F0"/>
                </a:solidFill>
                <a:effectLst/>
                <a:latin typeface="Google Sans"/>
              </a:rPr>
              <a:t>. Ele oferece velocidades de até 6,4 </a:t>
            </a:r>
            <a:r>
              <a:rPr lang="pt-BR" b="0" i="0" dirty="0" err="1">
                <a:solidFill>
                  <a:srgbClr val="E6E8F0"/>
                </a:solidFill>
                <a:effectLst/>
                <a:latin typeface="Google Sans"/>
              </a:rPr>
              <a:t>Gbps</a:t>
            </a:r>
            <a:r>
              <a:rPr lang="pt-BR" b="0" i="0" dirty="0">
                <a:solidFill>
                  <a:srgbClr val="E6E8F0"/>
                </a:solidFill>
                <a:effectLst/>
                <a:latin typeface="Google Sans"/>
              </a:rPr>
              <a:t>, largura de banda superior a 819 GB/s por dispositivo e densidades de 16 Gb a 32 Gb por camada, suportando pilhas de até 16 camadas, superando significativamente o HBM2E em velocidade e eficiência. </a:t>
            </a:r>
            <a:br>
              <a:rPr lang="pt-BR" b="0" i="0" dirty="0">
                <a:solidFill>
                  <a:srgbClr val="E6E8F0"/>
                </a:solidFill>
                <a:effectLst/>
                <a:latin typeface="Google Sans"/>
              </a:rPr>
            </a:br>
            <a:br>
              <a:rPr lang="pt-BR" b="0" i="0" dirty="0">
                <a:solidFill>
                  <a:srgbClr val="E6E8F0"/>
                </a:solidFill>
                <a:effectLst/>
                <a:latin typeface="Google Sans"/>
              </a:rPr>
            </a:br>
            <a:r>
              <a:rPr lang="en-US" dirty="0"/>
              <a:t>DDR5 (Double Data Rate 5</a:t>
            </a:r>
            <a:r>
              <a:rPr lang="en-US" b="0" i="0" dirty="0">
                <a:solidFill>
                  <a:srgbClr val="E6E8F0"/>
                </a:solidFill>
                <a:effectLst/>
                <a:latin typeface="Google Sans"/>
              </a:rPr>
              <a:t>) - </a:t>
            </a:r>
            <a:r>
              <a:rPr lang="pt-BR" b="0" i="0" dirty="0">
                <a:solidFill>
                  <a:srgbClr val="E6E8F0"/>
                </a:solidFill>
                <a:effectLst/>
                <a:latin typeface="Google Sans"/>
              </a:rPr>
              <a:t>4800 MHz (chegando a 8000+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843161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b="0" i="0" dirty="0">
                <a:solidFill>
                  <a:srgbClr val="E6E8F0"/>
                </a:solidFill>
                <a:effectLst/>
                <a:latin typeface="Google Sans"/>
              </a:rPr>
              <a:t>High Bandwidth </a:t>
            </a:r>
            <a:r>
              <a:rPr lang="pt-BR" b="0" i="0" dirty="0" err="1">
                <a:solidFill>
                  <a:srgbClr val="E6E8F0"/>
                </a:solidFill>
                <a:effectLst/>
                <a:latin typeface="Google Sans"/>
              </a:rPr>
              <a:t>Memory</a:t>
            </a:r>
            <a:r>
              <a:rPr lang="pt-BR" b="0" i="0" dirty="0">
                <a:solidFill>
                  <a:srgbClr val="E6E8F0"/>
                </a:solidFill>
                <a:effectLst/>
                <a:latin typeface="Google Sans"/>
              </a:rPr>
              <a:t> 3: </a:t>
            </a:r>
            <a:r>
              <a:rPr lang="pt-BR" dirty="0"/>
              <a:t> projetado para atender à demanda de largura de banda de IA, HPC e gráficos</a:t>
            </a:r>
            <a:r>
              <a:rPr lang="pt-BR" b="0" i="0" dirty="0">
                <a:solidFill>
                  <a:srgbClr val="E6E8F0"/>
                </a:solidFill>
                <a:effectLst/>
                <a:latin typeface="Google Sans"/>
              </a:rPr>
              <a:t>. Ele oferece velocidades de até 6,4 </a:t>
            </a:r>
            <a:r>
              <a:rPr lang="pt-BR" b="0" i="0" dirty="0" err="1">
                <a:solidFill>
                  <a:srgbClr val="E6E8F0"/>
                </a:solidFill>
                <a:effectLst/>
                <a:latin typeface="Google Sans"/>
              </a:rPr>
              <a:t>Gbps</a:t>
            </a:r>
            <a:r>
              <a:rPr lang="pt-BR" b="0" i="0" dirty="0">
                <a:solidFill>
                  <a:srgbClr val="E6E8F0"/>
                </a:solidFill>
                <a:effectLst/>
                <a:latin typeface="Google Sans"/>
              </a:rPr>
              <a:t>, largura de banda superior a 819 GB/s por dispositivo e densidades de 16 Gb a 32 Gb por camada, suportando pilhas de até 16 camadas, superando significativamente o HBM2E em velocidade e eficiência. </a:t>
            </a:r>
            <a:br>
              <a:rPr lang="pt-BR" b="0" i="0" dirty="0">
                <a:solidFill>
                  <a:srgbClr val="E6E8F0"/>
                </a:solidFill>
                <a:effectLst/>
                <a:latin typeface="Google Sans"/>
              </a:rPr>
            </a:br>
            <a:br>
              <a:rPr lang="pt-BR" b="0" i="0" dirty="0">
                <a:solidFill>
                  <a:srgbClr val="E6E8F0"/>
                </a:solidFill>
                <a:effectLst/>
                <a:latin typeface="Google Sans"/>
              </a:rPr>
            </a:br>
            <a:r>
              <a:rPr lang="en-US" dirty="0"/>
              <a:t>DDR5 (Double Data Rate 5</a:t>
            </a:r>
            <a:r>
              <a:rPr lang="en-US" b="0" i="0" dirty="0">
                <a:solidFill>
                  <a:srgbClr val="E6E8F0"/>
                </a:solidFill>
                <a:effectLst/>
                <a:latin typeface="Google Sans"/>
              </a:rPr>
              <a:t>) - </a:t>
            </a:r>
            <a:r>
              <a:rPr lang="pt-BR" b="0" i="0" dirty="0">
                <a:solidFill>
                  <a:srgbClr val="E6E8F0"/>
                </a:solidFill>
                <a:effectLst/>
                <a:latin typeface="Google Sans"/>
              </a:rPr>
              <a:t>4800 MHz (chegando a 8000+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926562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b="0" i="0" dirty="0">
                <a:solidFill>
                  <a:srgbClr val="E6E8F0"/>
                </a:solidFill>
                <a:effectLst/>
                <a:latin typeface="Google Sans"/>
              </a:rPr>
              <a:t>High Bandwidth </a:t>
            </a:r>
            <a:r>
              <a:rPr lang="pt-BR" b="0" i="0" dirty="0" err="1">
                <a:solidFill>
                  <a:srgbClr val="E6E8F0"/>
                </a:solidFill>
                <a:effectLst/>
                <a:latin typeface="Google Sans"/>
              </a:rPr>
              <a:t>Memory</a:t>
            </a:r>
            <a:r>
              <a:rPr lang="pt-BR" b="0" i="0" dirty="0">
                <a:solidFill>
                  <a:srgbClr val="E6E8F0"/>
                </a:solidFill>
                <a:effectLst/>
                <a:latin typeface="Google Sans"/>
              </a:rPr>
              <a:t> 3: </a:t>
            </a:r>
            <a:r>
              <a:rPr lang="pt-BR" dirty="0"/>
              <a:t> projetado para atender à demanda de largura de banda de IA, HPC e gráficos</a:t>
            </a:r>
            <a:r>
              <a:rPr lang="pt-BR" b="0" i="0" dirty="0">
                <a:solidFill>
                  <a:srgbClr val="E6E8F0"/>
                </a:solidFill>
                <a:effectLst/>
                <a:latin typeface="Google Sans"/>
              </a:rPr>
              <a:t>. Ele oferece velocidades de até 6,4 </a:t>
            </a:r>
            <a:r>
              <a:rPr lang="pt-BR" b="0" i="0" dirty="0" err="1">
                <a:solidFill>
                  <a:srgbClr val="E6E8F0"/>
                </a:solidFill>
                <a:effectLst/>
                <a:latin typeface="Google Sans"/>
              </a:rPr>
              <a:t>Gbps</a:t>
            </a:r>
            <a:r>
              <a:rPr lang="pt-BR" b="0" i="0" dirty="0">
                <a:solidFill>
                  <a:srgbClr val="E6E8F0"/>
                </a:solidFill>
                <a:effectLst/>
                <a:latin typeface="Google Sans"/>
              </a:rPr>
              <a:t>, largura de banda superior a 819 GB/s por dispositivo e densidades de 16 Gb a 32 Gb por camada, suportando pilhas de até 16 camadas, superando significativamente o HBM2E em velocidade e eficiência. </a:t>
            </a:r>
            <a:br>
              <a:rPr lang="pt-BR" b="0" i="0" dirty="0">
                <a:solidFill>
                  <a:srgbClr val="E6E8F0"/>
                </a:solidFill>
                <a:effectLst/>
                <a:latin typeface="Google Sans"/>
              </a:rPr>
            </a:br>
            <a:br>
              <a:rPr lang="pt-BR" b="0" i="0" dirty="0">
                <a:solidFill>
                  <a:srgbClr val="E6E8F0"/>
                </a:solidFill>
                <a:effectLst/>
                <a:latin typeface="Google Sans"/>
              </a:rPr>
            </a:br>
            <a:r>
              <a:rPr lang="en-US" dirty="0"/>
              <a:t>DDR5 (Double Data Rate 5</a:t>
            </a:r>
            <a:r>
              <a:rPr lang="en-US" b="0" i="0" dirty="0">
                <a:solidFill>
                  <a:srgbClr val="E6E8F0"/>
                </a:solidFill>
                <a:effectLst/>
                <a:latin typeface="Google Sans"/>
              </a:rPr>
              <a:t>) - </a:t>
            </a:r>
            <a:r>
              <a:rPr lang="pt-BR" b="0" i="0" dirty="0">
                <a:solidFill>
                  <a:srgbClr val="E6E8F0"/>
                </a:solidFill>
                <a:effectLst/>
                <a:latin typeface="Google Sans"/>
              </a:rPr>
              <a:t>4800 MHz (chegando a 8000+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748691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b="0" i="0" dirty="0">
                <a:solidFill>
                  <a:srgbClr val="E6E8F0"/>
                </a:solidFill>
                <a:effectLst/>
                <a:latin typeface="Google Sans"/>
              </a:rPr>
              <a:t>High Bandwidth </a:t>
            </a:r>
            <a:r>
              <a:rPr lang="pt-BR" b="0" i="0" dirty="0" err="1">
                <a:solidFill>
                  <a:srgbClr val="E6E8F0"/>
                </a:solidFill>
                <a:effectLst/>
                <a:latin typeface="Google Sans"/>
              </a:rPr>
              <a:t>Memory</a:t>
            </a:r>
            <a:r>
              <a:rPr lang="pt-BR" b="0" i="0" dirty="0">
                <a:solidFill>
                  <a:srgbClr val="E6E8F0"/>
                </a:solidFill>
                <a:effectLst/>
                <a:latin typeface="Google Sans"/>
              </a:rPr>
              <a:t> 3: </a:t>
            </a:r>
            <a:r>
              <a:rPr lang="pt-BR" dirty="0"/>
              <a:t> projetado para atender à demanda de largura de banda de IA, HPC e gráficos</a:t>
            </a:r>
            <a:r>
              <a:rPr lang="pt-BR" b="0" i="0" dirty="0">
                <a:solidFill>
                  <a:srgbClr val="E6E8F0"/>
                </a:solidFill>
                <a:effectLst/>
                <a:latin typeface="Google Sans"/>
              </a:rPr>
              <a:t>. Ele oferece velocidades de até 6,4 </a:t>
            </a:r>
            <a:r>
              <a:rPr lang="pt-BR" b="0" i="0" dirty="0" err="1">
                <a:solidFill>
                  <a:srgbClr val="E6E8F0"/>
                </a:solidFill>
                <a:effectLst/>
                <a:latin typeface="Google Sans"/>
              </a:rPr>
              <a:t>Gbps</a:t>
            </a:r>
            <a:r>
              <a:rPr lang="pt-BR" b="0" i="0" dirty="0">
                <a:solidFill>
                  <a:srgbClr val="E6E8F0"/>
                </a:solidFill>
                <a:effectLst/>
                <a:latin typeface="Google Sans"/>
              </a:rPr>
              <a:t>, largura de banda superior a 819 GB/s por dispositivo e densidades de 16 Gb a 32 Gb por camada, suportando pilhas de até 16 camadas, superando significativamente o HBM2E em velocidade e eficiência. </a:t>
            </a:r>
            <a:br>
              <a:rPr lang="pt-BR" b="0" i="0" dirty="0">
                <a:solidFill>
                  <a:srgbClr val="E6E8F0"/>
                </a:solidFill>
                <a:effectLst/>
                <a:latin typeface="Google Sans"/>
              </a:rPr>
            </a:br>
            <a:br>
              <a:rPr lang="pt-BR" b="0" i="0" dirty="0">
                <a:solidFill>
                  <a:srgbClr val="E6E8F0"/>
                </a:solidFill>
                <a:effectLst/>
                <a:latin typeface="Google Sans"/>
              </a:rPr>
            </a:br>
            <a:r>
              <a:rPr lang="en-US" dirty="0"/>
              <a:t>DDR5 (Double Data Rate 5</a:t>
            </a:r>
            <a:r>
              <a:rPr lang="en-US" b="0" i="0" dirty="0">
                <a:solidFill>
                  <a:srgbClr val="E6E8F0"/>
                </a:solidFill>
                <a:effectLst/>
                <a:latin typeface="Google Sans"/>
              </a:rPr>
              <a:t>) - </a:t>
            </a:r>
            <a:r>
              <a:rPr lang="pt-BR" b="0" i="0" dirty="0">
                <a:solidFill>
                  <a:srgbClr val="E6E8F0"/>
                </a:solidFill>
                <a:effectLst/>
                <a:latin typeface="Google Sans"/>
              </a:rPr>
              <a:t>4800 MHz (chegando a 8000+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288034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9" name="Shape 7">
            <a:extLst>
              <a:ext uri="{FF2B5EF4-FFF2-40B4-BE49-F238E27FC236}">
                <a16:creationId xmlns:a16="http://schemas.microsoft.com/office/drawing/2014/main" id="{18842696-71F6-CF79-157D-E0E9BE87F703}"/>
              </a:ext>
            </a:extLst>
          </p:cNvPr>
          <p:cNvSpPr/>
          <p:nvPr/>
        </p:nvSpPr>
        <p:spPr>
          <a:xfrm>
            <a:off x="56" y="4002395"/>
            <a:ext cx="9143944" cy="1143000"/>
          </a:xfrm>
          <a:prstGeom prst="rect">
            <a:avLst/>
          </a:prstGeom>
          <a:solidFill>
            <a:srgbClr val="971536"/>
          </a:solidFill>
          <a:ln/>
        </p:spPr>
      </p:sp>
      <p:pic>
        <p:nvPicPr>
          <p:cNvPr id="10" name="Imagem 9" descr="Interface gráfica do usuário&#10;&#10;Descrição gerada automaticamente com confiança média">
            <a:extLst>
              <a:ext uri="{FF2B5EF4-FFF2-40B4-BE49-F238E27FC236}">
                <a16:creationId xmlns:a16="http://schemas.microsoft.com/office/drawing/2014/main" id="{C1BA44E1-4671-D972-9993-67AEBB879153}"/>
              </a:ext>
            </a:extLst>
          </p:cNvPr>
          <p:cNvPicPr>
            <a:picLocks noChangeAspect="1"/>
          </p:cNvPicPr>
          <p:nvPr/>
        </p:nvPicPr>
        <p:blipFill>
          <a:blip r:embed="rId3"/>
          <a:stretch>
            <a:fillRect/>
          </a:stretch>
        </p:blipFill>
        <p:spPr>
          <a:xfrm>
            <a:off x="199534" y="4292729"/>
            <a:ext cx="1867805" cy="620050"/>
          </a:xfrm>
          <a:prstGeom prst="rect">
            <a:avLst/>
          </a:prstGeom>
        </p:spPr>
      </p:pic>
      <p:sp>
        <p:nvSpPr>
          <p:cNvPr id="3" name="Text 0"/>
          <p:cNvSpPr/>
          <p:nvPr/>
        </p:nvSpPr>
        <p:spPr>
          <a:xfrm>
            <a:off x="1000125" y="938054"/>
            <a:ext cx="7143750" cy="597599"/>
          </a:xfrm>
          <a:prstGeom prst="rect">
            <a:avLst/>
          </a:prstGeom>
          <a:noFill/>
          <a:ln/>
        </p:spPr>
        <p:txBody>
          <a:bodyPr wrap="square" lIns="0" tIns="0" rIns="0" bIns="0" rtlCol="0" anchor="t">
            <a:spAutoFit/>
          </a:bodyPr>
          <a:lstStyle/>
          <a:p>
            <a:pPr marL="0" indent="0" algn="ctr">
              <a:lnSpc>
                <a:spcPts val="4900"/>
              </a:lnSpc>
              <a:buNone/>
            </a:pPr>
            <a:r>
              <a:rPr lang="en-US" sz="3731" b="1" dirty="0" err="1">
                <a:solidFill>
                  <a:srgbClr val="9B1536"/>
                </a:solidFill>
              </a:rPr>
              <a:t>Sistemas</a:t>
            </a:r>
            <a:r>
              <a:rPr lang="en-US" sz="3731" b="1" dirty="0">
                <a:solidFill>
                  <a:srgbClr val="9B1536"/>
                </a:solidFill>
              </a:rPr>
              <a:t> </a:t>
            </a:r>
            <a:r>
              <a:rPr lang="en-US" sz="3731" b="1" dirty="0" err="1">
                <a:solidFill>
                  <a:srgbClr val="9B1536"/>
                </a:solidFill>
              </a:rPr>
              <a:t>Operacionais</a:t>
            </a:r>
            <a:endParaRPr lang="en-US" sz="3731" b="1" dirty="0">
              <a:solidFill>
                <a:srgbClr val="9B1536"/>
              </a:solidFill>
            </a:endParaRPr>
          </a:p>
        </p:txBody>
      </p:sp>
      <p:sp>
        <p:nvSpPr>
          <p:cNvPr id="4" name="Text 1"/>
          <p:cNvSpPr/>
          <p:nvPr/>
        </p:nvSpPr>
        <p:spPr>
          <a:xfrm>
            <a:off x="3312616" y="2438791"/>
            <a:ext cx="2518767" cy="269304"/>
          </a:xfrm>
          <a:prstGeom prst="rect">
            <a:avLst/>
          </a:prstGeom>
          <a:noFill/>
          <a:ln/>
        </p:spPr>
        <p:txBody>
          <a:bodyPr wrap="none" lIns="0" tIns="0" rIns="0" bIns="0" rtlCol="0" anchor="t">
            <a:spAutoFit/>
          </a:bodyPr>
          <a:lstStyle/>
          <a:p>
            <a:pPr marL="0" indent="0" algn="ctr">
              <a:lnSpc>
                <a:spcPts val="2200"/>
              </a:lnSpc>
              <a:buNone/>
            </a:pPr>
            <a:r>
              <a:rPr lang="pt-BR" sz="1704" dirty="0">
                <a:solidFill>
                  <a:srgbClr val="767676"/>
                </a:solidFill>
              </a:rPr>
              <a:t>Plano de Ensino - 1º Período</a:t>
            </a:r>
          </a:p>
        </p:txBody>
      </p:sp>
      <p:sp>
        <p:nvSpPr>
          <p:cNvPr id="5" name="Shape 2"/>
          <p:cNvSpPr/>
          <p:nvPr/>
        </p:nvSpPr>
        <p:spPr>
          <a:xfrm>
            <a:off x="1714500" y="3197185"/>
            <a:ext cx="5715000" cy="351830"/>
          </a:xfrm>
          <a:prstGeom prst="rect">
            <a:avLst/>
          </a:prstGeom>
          <a:solidFill>
            <a:srgbClr val="000000">
              <a:alpha val="0"/>
            </a:srgbClr>
          </a:solidFill>
          <a:ln/>
        </p:spPr>
      </p:sp>
      <p:sp>
        <p:nvSpPr>
          <p:cNvPr id="6" name="Shape 3"/>
          <p:cNvSpPr/>
          <p:nvPr/>
        </p:nvSpPr>
        <p:spPr>
          <a:xfrm>
            <a:off x="1714500" y="3197185"/>
            <a:ext cx="5715000" cy="14288"/>
          </a:xfrm>
          <a:prstGeom prst="rect">
            <a:avLst/>
          </a:prstGeom>
          <a:solidFill>
            <a:srgbClr val="9B1536"/>
          </a:solidFill>
          <a:ln/>
        </p:spPr>
      </p:sp>
      <p:sp>
        <p:nvSpPr>
          <p:cNvPr id="7" name="Text 4"/>
          <p:cNvSpPr/>
          <p:nvPr/>
        </p:nvSpPr>
        <p:spPr>
          <a:xfrm>
            <a:off x="1714500" y="3354348"/>
            <a:ext cx="1078821" cy="17017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9B1536"/>
                </a:solidFill>
              </a:rPr>
              <a:t>Rafael </a:t>
            </a:r>
            <a:r>
              <a:rPr lang="en-US" sz="1050" b="1" dirty="0">
                <a:solidFill>
                  <a:srgbClr val="9B1536"/>
                </a:solidFill>
              </a:rPr>
              <a:t>Descio</a:t>
            </a:r>
            <a:r>
              <a:rPr lang="en-US" sz="987" b="1" dirty="0">
                <a:solidFill>
                  <a:srgbClr val="9B1536"/>
                </a:solidFill>
              </a:rPr>
              <a:t>, M.Sc.</a:t>
            </a:r>
            <a:endParaRPr lang="en-US" sz="987" dirty="0"/>
          </a:p>
        </p:txBody>
      </p:sp>
      <p:sp>
        <p:nvSpPr>
          <p:cNvPr id="8" name="Text 5"/>
          <p:cNvSpPr/>
          <p:nvPr/>
        </p:nvSpPr>
        <p:spPr>
          <a:xfrm>
            <a:off x="4033309" y="3354348"/>
            <a:ext cx="3390352" cy="170175"/>
          </a:xfrm>
          <a:prstGeom prst="rect">
            <a:avLst/>
          </a:prstGeom>
          <a:noFill/>
          <a:ln/>
        </p:spPr>
        <p:txBody>
          <a:bodyPr wrap="none" lIns="0" tIns="0" rIns="0" bIns="0" rtlCol="0" anchor="t">
            <a:spAutoFit/>
          </a:bodyPr>
          <a:lstStyle/>
          <a:p>
            <a:pPr marL="0" indent="0" algn="l">
              <a:lnSpc>
                <a:spcPts val="1400"/>
              </a:lnSpc>
              <a:buNone/>
            </a:pPr>
            <a:r>
              <a:rPr lang="pt-BR" sz="1050" dirty="0">
                <a:solidFill>
                  <a:srgbClr val="767676"/>
                </a:solidFill>
              </a:rPr>
              <a:t>Sistemas Operacionais – Engenharia de Software – Católica SC</a:t>
            </a:r>
            <a:endParaRPr lang="pt-BR"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2281074" cy="390235"/>
          </a:xfrm>
          <a:prstGeom prst="rect">
            <a:avLst/>
          </a:prstGeom>
          <a:noFill/>
          <a:ln/>
        </p:spPr>
        <p:txBody>
          <a:bodyPr wrap="none" lIns="0" tIns="0" rIns="0" bIns="0" rtlCol="0" anchor="t">
            <a:spAutoFit/>
          </a:bodyPr>
          <a:lstStyle/>
          <a:p>
            <a:pPr marL="0" indent="0" algn="l">
              <a:lnSpc>
                <a:spcPts val="3200"/>
              </a:lnSpc>
              <a:buNone/>
            </a:pPr>
            <a:r>
              <a:rPr lang="en-US" sz="2436" b="1" dirty="0" err="1">
                <a:solidFill>
                  <a:srgbClr val="9B1536"/>
                </a:solidFill>
              </a:rPr>
              <a:t>Sobre</a:t>
            </a:r>
            <a:r>
              <a:rPr lang="en-US" sz="2436" b="1" dirty="0">
                <a:solidFill>
                  <a:srgbClr val="9B1536"/>
                </a:solidFill>
              </a:rPr>
              <a:t> o professor</a:t>
            </a:r>
            <a:endParaRPr lang="en-US" sz="2436" dirty="0"/>
          </a:p>
        </p:txBody>
      </p:sp>
      <p:sp>
        <p:nvSpPr>
          <p:cNvPr id="13" name="Retângulo 12">
            <a:extLst>
              <a:ext uri="{FF2B5EF4-FFF2-40B4-BE49-F238E27FC236}">
                <a16:creationId xmlns:a16="http://schemas.microsoft.com/office/drawing/2014/main" id="{9757471E-07AB-8F6A-3431-D23712F6FAA7}"/>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Shape 3">
            <a:extLst>
              <a:ext uri="{FF2B5EF4-FFF2-40B4-BE49-F238E27FC236}">
                <a16:creationId xmlns:a16="http://schemas.microsoft.com/office/drawing/2014/main" id="{54380261-A0A4-4590-A5B3-0082A74844E8}"/>
              </a:ext>
            </a:extLst>
          </p:cNvPr>
          <p:cNvSpPr/>
          <p:nvPr/>
        </p:nvSpPr>
        <p:spPr>
          <a:xfrm>
            <a:off x="428625" y="1564481"/>
            <a:ext cx="2809866" cy="3071813"/>
          </a:xfrm>
          <a:prstGeom prst="rect">
            <a:avLst/>
          </a:prstGeom>
          <a:solidFill>
            <a:srgbClr val="FFFFFF"/>
          </a:solidFill>
          <a:ln/>
        </p:spPr>
      </p:sp>
      <p:sp>
        <p:nvSpPr>
          <p:cNvPr id="16" name="Text 4">
            <a:extLst>
              <a:ext uri="{FF2B5EF4-FFF2-40B4-BE49-F238E27FC236}">
                <a16:creationId xmlns:a16="http://schemas.microsoft.com/office/drawing/2014/main" id="{02084E15-CC19-EF7C-F930-BC35327981E4}"/>
              </a:ext>
            </a:extLst>
          </p:cNvPr>
          <p:cNvSpPr/>
          <p:nvPr/>
        </p:nvSpPr>
        <p:spPr>
          <a:xfrm>
            <a:off x="642938" y="1778794"/>
            <a:ext cx="1516249" cy="196849"/>
          </a:xfrm>
          <a:prstGeom prst="rect">
            <a:avLst/>
          </a:prstGeom>
          <a:noFill/>
          <a:ln/>
        </p:spPr>
        <p:txBody>
          <a:bodyPr wrap="none" lIns="127508" tIns="0" rIns="0" bIns="0" rtlCol="0" anchor="t">
            <a:spAutoFit/>
          </a:bodyPr>
          <a:lstStyle/>
          <a:p>
            <a:pPr marL="0" indent="0" algn="l">
              <a:lnSpc>
                <a:spcPts val="1600"/>
              </a:lnSpc>
              <a:buNone/>
            </a:pPr>
            <a:r>
              <a:rPr lang="en-US" sz="1269" dirty="0">
                <a:solidFill>
                  <a:srgbClr val="800020"/>
                </a:solidFill>
              </a:rPr>
              <a:t>Rafael Descio Trineto</a:t>
            </a:r>
            <a:endParaRPr lang="en-US" sz="1269" dirty="0"/>
          </a:p>
        </p:txBody>
      </p:sp>
      <p:sp>
        <p:nvSpPr>
          <p:cNvPr id="17" name="Text 5">
            <a:extLst>
              <a:ext uri="{FF2B5EF4-FFF2-40B4-BE49-F238E27FC236}">
                <a16:creationId xmlns:a16="http://schemas.microsoft.com/office/drawing/2014/main" id="{F0FC3431-E0B9-C380-AEB1-C31FA6A8CACE}"/>
              </a:ext>
            </a:extLst>
          </p:cNvPr>
          <p:cNvSpPr/>
          <p:nvPr/>
        </p:nvSpPr>
        <p:spPr>
          <a:xfrm>
            <a:off x="642938" y="2191345"/>
            <a:ext cx="413575" cy="132344"/>
          </a:xfrm>
          <a:prstGeom prst="rect">
            <a:avLst/>
          </a:prstGeom>
          <a:noFill/>
          <a:ln/>
        </p:spPr>
        <p:txBody>
          <a:bodyPr wrap="none" lIns="0" tIns="0" rIns="0" bIns="0" rtlCol="0" anchor="t">
            <a:spAutoFit/>
          </a:bodyPr>
          <a:lstStyle/>
          <a:p>
            <a:pPr marL="0" indent="0" algn="l">
              <a:lnSpc>
                <a:spcPts val="1100"/>
              </a:lnSpc>
              <a:buNone/>
            </a:pPr>
            <a:r>
              <a:rPr lang="pt-BR" sz="784" b="1">
                <a:solidFill>
                  <a:srgbClr val="800020"/>
                </a:solidFill>
              </a:rPr>
              <a:t>Formação</a:t>
            </a:r>
            <a:endParaRPr lang="pt-BR" sz="784"/>
          </a:p>
        </p:txBody>
      </p:sp>
      <p:sp>
        <p:nvSpPr>
          <p:cNvPr id="18" name="Text 6">
            <a:extLst>
              <a:ext uri="{FF2B5EF4-FFF2-40B4-BE49-F238E27FC236}">
                <a16:creationId xmlns:a16="http://schemas.microsoft.com/office/drawing/2014/main" id="{44431515-6016-0968-EE53-624BF3AE7162}"/>
              </a:ext>
            </a:extLst>
          </p:cNvPr>
          <p:cNvSpPr/>
          <p:nvPr/>
        </p:nvSpPr>
        <p:spPr>
          <a:xfrm>
            <a:off x="642938" y="2382441"/>
            <a:ext cx="2041777" cy="229999"/>
          </a:xfrm>
          <a:prstGeom prst="rect">
            <a:avLst/>
          </a:prstGeom>
          <a:noFill/>
          <a:ln/>
        </p:spPr>
        <p:txBody>
          <a:bodyPr wrap="none" lIns="0" tIns="0" rIns="0" bIns="0" rtlCol="0" anchor="t">
            <a:spAutoFit/>
          </a:bodyPr>
          <a:lstStyle/>
          <a:p>
            <a:pPr marL="0" indent="0" algn="l">
              <a:lnSpc>
                <a:spcPts val="1900"/>
              </a:lnSpc>
              <a:buNone/>
            </a:pPr>
            <a:r>
              <a:rPr lang="en-US" sz="1397" b="1" dirty="0" err="1">
                <a:solidFill>
                  <a:srgbClr val="333333"/>
                </a:solidFill>
              </a:rPr>
              <a:t>Engenheiro</a:t>
            </a:r>
            <a:r>
              <a:rPr lang="en-US" sz="1397" b="1" dirty="0">
                <a:solidFill>
                  <a:srgbClr val="333333"/>
                </a:solidFill>
              </a:rPr>
              <a:t> da </a:t>
            </a:r>
            <a:r>
              <a:rPr lang="en-US" sz="1397" b="1" dirty="0" err="1">
                <a:solidFill>
                  <a:srgbClr val="333333"/>
                </a:solidFill>
              </a:rPr>
              <a:t>Computação</a:t>
            </a:r>
            <a:endParaRPr lang="en-US" sz="1397" dirty="0"/>
          </a:p>
        </p:txBody>
      </p:sp>
      <p:sp>
        <p:nvSpPr>
          <p:cNvPr id="19" name="Text 7">
            <a:extLst>
              <a:ext uri="{FF2B5EF4-FFF2-40B4-BE49-F238E27FC236}">
                <a16:creationId xmlns:a16="http://schemas.microsoft.com/office/drawing/2014/main" id="{3B701D95-FD99-6028-49D9-5897547D1BEA}"/>
              </a:ext>
            </a:extLst>
          </p:cNvPr>
          <p:cNvSpPr/>
          <p:nvPr/>
        </p:nvSpPr>
        <p:spPr>
          <a:xfrm>
            <a:off x="638930" y="3194261"/>
            <a:ext cx="700513" cy="13407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33333">
                    <a:alpha val="70000"/>
                  </a:srgbClr>
                </a:solidFill>
              </a:rPr>
              <a:t>PUC – PR (2014)</a:t>
            </a:r>
            <a:endParaRPr lang="en-US" sz="834" dirty="0"/>
          </a:p>
        </p:txBody>
      </p:sp>
      <p:sp>
        <p:nvSpPr>
          <p:cNvPr id="20" name="Text 8">
            <a:extLst>
              <a:ext uri="{FF2B5EF4-FFF2-40B4-BE49-F238E27FC236}">
                <a16:creationId xmlns:a16="http://schemas.microsoft.com/office/drawing/2014/main" id="{37A0BADF-514C-CE02-4D2C-3774D00A2139}"/>
              </a:ext>
            </a:extLst>
          </p:cNvPr>
          <p:cNvSpPr/>
          <p:nvPr/>
        </p:nvSpPr>
        <p:spPr>
          <a:xfrm>
            <a:off x="642938" y="2717217"/>
            <a:ext cx="631583" cy="132344"/>
          </a:xfrm>
          <a:prstGeom prst="rect">
            <a:avLst/>
          </a:prstGeom>
          <a:noFill/>
          <a:ln/>
        </p:spPr>
        <p:txBody>
          <a:bodyPr wrap="none" lIns="0" tIns="0" rIns="0" bIns="0" rtlCol="0" anchor="t">
            <a:spAutoFit/>
          </a:bodyPr>
          <a:lstStyle/>
          <a:p>
            <a:pPr marL="0" indent="0" algn="l">
              <a:lnSpc>
                <a:spcPts val="1100"/>
              </a:lnSpc>
              <a:buNone/>
            </a:pPr>
            <a:r>
              <a:rPr lang="en-US" sz="784" b="1" dirty="0" err="1">
                <a:solidFill>
                  <a:srgbClr val="800020"/>
                </a:solidFill>
              </a:rPr>
              <a:t>Pós-Graduação</a:t>
            </a:r>
            <a:endParaRPr lang="en-US" sz="784" dirty="0"/>
          </a:p>
        </p:txBody>
      </p:sp>
      <p:sp>
        <p:nvSpPr>
          <p:cNvPr id="21" name="Text 9">
            <a:extLst>
              <a:ext uri="{FF2B5EF4-FFF2-40B4-BE49-F238E27FC236}">
                <a16:creationId xmlns:a16="http://schemas.microsoft.com/office/drawing/2014/main" id="{1244A62D-569B-8097-FE1B-615250A26C24}"/>
              </a:ext>
            </a:extLst>
          </p:cNvPr>
          <p:cNvSpPr/>
          <p:nvPr/>
        </p:nvSpPr>
        <p:spPr>
          <a:xfrm>
            <a:off x="642938" y="2908312"/>
            <a:ext cx="2430858" cy="229999"/>
          </a:xfrm>
          <a:prstGeom prst="rect">
            <a:avLst/>
          </a:prstGeom>
          <a:noFill/>
          <a:ln/>
        </p:spPr>
        <p:txBody>
          <a:bodyPr wrap="none" lIns="0" tIns="0" rIns="0" bIns="0" rtlCol="0" anchor="t">
            <a:spAutoFit/>
          </a:bodyPr>
          <a:lstStyle/>
          <a:p>
            <a:pPr marL="0" indent="0" algn="l">
              <a:lnSpc>
                <a:spcPts val="1900"/>
              </a:lnSpc>
              <a:buNone/>
            </a:pPr>
            <a:r>
              <a:rPr lang="en-US" sz="1397" b="1" dirty="0" err="1">
                <a:solidFill>
                  <a:srgbClr val="333333"/>
                </a:solidFill>
              </a:rPr>
              <a:t>Gerenciamento</a:t>
            </a:r>
            <a:r>
              <a:rPr lang="en-US" sz="1397" b="1" dirty="0">
                <a:solidFill>
                  <a:srgbClr val="333333"/>
                </a:solidFill>
              </a:rPr>
              <a:t> de </a:t>
            </a:r>
            <a:r>
              <a:rPr lang="en-US" sz="1397" b="1" dirty="0" err="1">
                <a:solidFill>
                  <a:srgbClr val="333333"/>
                </a:solidFill>
              </a:rPr>
              <a:t>Projetos</a:t>
            </a:r>
            <a:r>
              <a:rPr lang="en-US" sz="1397" b="1" dirty="0">
                <a:solidFill>
                  <a:srgbClr val="333333"/>
                </a:solidFill>
              </a:rPr>
              <a:t> de TI</a:t>
            </a:r>
            <a:endParaRPr lang="en-US" sz="1397" dirty="0"/>
          </a:p>
        </p:txBody>
      </p:sp>
      <p:sp>
        <p:nvSpPr>
          <p:cNvPr id="22" name="Text 10">
            <a:extLst>
              <a:ext uri="{FF2B5EF4-FFF2-40B4-BE49-F238E27FC236}">
                <a16:creationId xmlns:a16="http://schemas.microsoft.com/office/drawing/2014/main" id="{9C785FE5-346E-B2A9-CF49-52B03BE8A485}"/>
              </a:ext>
            </a:extLst>
          </p:cNvPr>
          <p:cNvSpPr/>
          <p:nvPr/>
        </p:nvSpPr>
        <p:spPr>
          <a:xfrm>
            <a:off x="633276" y="3935334"/>
            <a:ext cx="719749" cy="132344"/>
          </a:xfrm>
          <a:prstGeom prst="rect">
            <a:avLst/>
          </a:prstGeom>
          <a:noFill/>
          <a:ln/>
        </p:spPr>
        <p:txBody>
          <a:bodyPr wrap="none" lIns="0" tIns="0" rIns="0" bIns="0" rtlCol="0" anchor="t">
            <a:spAutoFit/>
          </a:bodyPr>
          <a:lstStyle/>
          <a:p>
            <a:pPr marL="0" indent="0" algn="l">
              <a:lnSpc>
                <a:spcPts val="1100"/>
              </a:lnSpc>
              <a:buNone/>
            </a:pPr>
            <a:r>
              <a:rPr lang="en-US" sz="784" b="1" dirty="0" err="1">
                <a:solidFill>
                  <a:srgbClr val="800020"/>
                </a:solidFill>
              </a:rPr>
              <a:t>Outras</a:t>
            </a:r>
            <a:r>
              <a:rPr lang="en-US" sz="784" b="1" dirty="0">
                <a:solidFill>
                  <a:srgbClr val="800020"/>
                </a:solidFill>
              </a:rPr>
              <a:t> </a:t>
            </a:r>
            <a:r>
              <a:rPr lang="en-US" sz="784" b="1" dirty="0" err="1">
                <a:solidFill>
                  <a:srgbClr val="800020"/>
                </a:solidFill>
              </a:rPr>
              <a:t>Atuações</a:t>
            </a:r>
            <a:r>
              <a:rPr lang="en-US" sz="784" b="1" dirty="0">
                <a:solidFill>
                  <a:srgbClr val="800020"/>
                </a:solidFill>
              </a:rPr>
              <a:t>:</a:t>
            </a:r>
            <a:endParaRPr lang="en-US" sz="784" dirty="0"/>
          </a:p>
        </p:txBody>
      </p:sp>
      <p:sp>
        <p:nvSpPr>
          <p:cNvPr id="23" name="Text 11">
            <a:extLst>
              <a:ext uri="{FF2B5EF4-FFF2-40B4-BE49-F238E27FC236}">
                <a16:creationId xmlns:a16="http://schemas.microsoft.com/office/drawing/2014/main" id="{3D3C4F73-71D0-1759-EA0C-207ABDF4F1E7}"/>
              </a:ext>
            </a:extLst>
          </p:cNvPr>
          <p:cNvSpPr/>
          <p:nvPr/>
        </p:nvSpPr>
        <p:spPr>
          <a:xfrm>
            <a:off x="633276" y="4126430"/>
            <a:ext cx="2051331" cy="229999"/>
          </a:xfrm>
          <a:prstGeom prst="rect">
            <a:avLst/>
          </a:prstGeom>
          <a:noFill/>
          <a:ln/>
        </p:spPr>
        <p:txBody>
          <a:bodyPr wrap="none" lIns="0" tIns="0" rIns="0" bIns="0" rtlCol="0" anchor="t">
            <a:spAutoFit/>
          </a:bodyPr>
          <a:lstStyle/>
          <a:p>
            <a:pPr marL="0" indent="0" algn="l">
              <a:lnSpc>
                <a:spcPts val="1900"/>
              </a:lnSpc>
              <a:buNone/>
            </a:pPr>
            <a:r>
              <a:rPr lang="en-US" sz="1397" b="1" dirty="0" err="1">
                <a:solidFill>
                  <a:srgbClr val="333333"/>
                </a:solidFill>
              </a:rPr>
              <a:t>Gerente</a:t>
            </a:r>
            <a:r>
              <a:rPr lang="en-US" sz="1397" b="1" dirty="0">
                <a:solidFill>
                  <a:srgbClr val="333333"/>
                </a:solidFill>
              </a:rPr>
              <a:t> de </a:t>
            </a:r>
            <a:r>
              <a:rPr lang="en-US" sz="1397" b="1" dirty="0" err="1">
                <a:solidFill>
                  <a:srgbClr val="333333"/>
                </a:solidFill>
              </a:rPr>
              <a:t>Inovação</a:t>
            </a:r>
            <a:r>
              <a:rPr lang="en-US" sz="1397" b="1" dirty="0">
                <a:solidFill>
                  <a:srgbClr val="333333"/>
                </a:solidFill>
              </a:rPr>
              <a:t> Digital</a:t>
            </a:r>
            <a:endParaRPr lang="en-US" sz="1397" dirty="0"/>
          </a:p>
        </p:txBody>
      </p:sp>
      <p:sp>
        <p:nvSpPr>
          <p:cNvPr id="24" name="Shape 12">
            <a:extLst>
              <a:ext uri="{FF2B5EF4-FFF2-40B4-BE49-F238E27FC236}">
                <a16:creationId xmlns:a16="http://schemas.microsoft.com/office/drawing/2014/main" id="{70DF862A-32A4-B7E9-96D5-4D89C95EFDE7}"/>
              </a:ext>
            </a:extLst>
          </p:cNvPr>
          <p:cNvSpPr/>
          <p:nvPr/>
        </p:nvSpPr>
        <p:spPr>
          <a:xfrm>
            <a:off x="3524241" y="1564481"/>
            <a:ext cx="5191134" cy="3071813"/>
          </a:xfrm>
          <a:prstGeom prst="rect">
            <a:avLst/>
          </a:prstGeom>
          <a:solidFill>
            <a:srgbClr val="FFFFFF"/>
          </a:solidFill>
          <a:ln/>
        </p:spPr>
      </p:sp>
      <p:sp>
        <p:nvSpPr>
          <p:cNvPr id="25" name="Text 13">
            <a:extLst>
              <a:ext uri="{FF2B5EF4-FFF2-40B4-BE49-F238E27FC236}">
                <a16:creationId xmlns:a16="http://schemas.microsoft.com/office/drawing/2014/main" id="{6FF90B6C-45D7-418B-532B-FF6240EE3872}"/>
              </a:ext>
            </a:extLst>
          </p:cNvPr>
          <p:cNvSpPr/>
          <p:nvPr/>
        </p:nvSpPr>
        <p:spPr>
          <a:xfrm>
            <a:off x="3738553" y="1778794"/>
            <a:ext cx="511358" cy="196849"/>
          </a:xfrm>
          <a:prstGeom prst="rect">
            <a:avLst/>
          </a:prstGeom>
          <a:noFill/>
          <a:ln/>
        </p:spPr>
        <p:txBody>
          <a:bodyPr wrap="none" lIns="127508" tIns="0" rIns="0" bIns="0" rtlCol="0" anchor="t">
            <a:spAutoFit/>
          </a:bodyPr>
          <a:lstStyle/>
          <a:p>
            <a:pPr marL="0" indent="0" algn="l">
              <a:lnSpc>
                <a:spcPts val="1600"/>
              </a:lnSpc>
              <a:buNone/>
            </a:pPr>
            <a:r>
              <a:rPr lang="en-US" sz="1269" dirty="0" err="1">
                <a:solidFill>
                  <a:srgbClr val="800020"/>
                </a:solidFill>
              </a:rPr>
              <a:t>Sobre</a:t>
            </a:r>
            <a:endParaRPr lang="en-US" sz="1269" dirty="0"/>
          </a:p>
        </p:txBody>
      </p:sp>
      <p:sp>
        <p:nvSpPr>
          <p:cNvPr id="26" name="Text 14">
            <a:extLst>
              <a:ext uri="{FF2B5EF4-FFF2-40B4-BE49-F238E27FC236}">
                <a16:creationId xmlns:a16="http://schemas.microsoft.com/office/drawing/2014/main" id="{B67A702D-871E-5C59-920A-CAA1A1FC1FBA}"/>
              </a:ext>
            </a:extLst>
          </p:cNvPr>
          <p:cNvSpPr/>
          <p:nvPr/>
        </p:nvSpPr>
        <p:spPr>
          <a:xfrm>
            <a:off x="3738553" y="2191345"/>
            <a:ext cx="4762509" cy="2032416"/>
          </a:xfrm>
          <a:prstGeom prst="rect">
            <a:avLst/>
          </a:prstGeom>
          <a:noFill/>
          <a:ln/>
        </p:spPr>
        <p:txBody>
          <a:bodyPr wrap="square" lIns="0" tIns="0" rIns="0" bIns="0" rtlCol="0" anchor="t">
            <a:spAutoFit/>
          </a:bodyPr>
          <a:lstStyle/>
          <a:p>
            <a:pPr marL="0" indent="0" algn="just">
              <a:lnSpc>
                <a:spcPts val="1600"/>
              </a:lnSpc>
              <a:buNone/>
            </a:pPr>
            <a:r>
              <a:rPr lang="pt-BR" sz="942" dirty="0">
                <a:solidFill>
                  <a:srgbClr val="333333"/>
                </a:solidFill>
              </a:rPr>
              <a:t>Sou Engenheiro de Computação, graduado pela Universidade Positivo (2008), com especialização Lato Sensu em Gerenciamento de Projetos de Tecnologia da Informação pela Pontifícia Universidade Católica do Paraná (2012). Sou Mestre em Computação Aplicada pela Universidade do Estado de Santa Catarina (2025), com pesquisa voltada às tecnologias de </a:t>
            </a:r>
            <a:r>
              <a:rPr lang="pt-BR" sz="942" dirty="0" err="1">
                <a:solidFill>
                  <a:srgbClr val="333333"/>
                </a:solidFill>
              </a:rPr>
              <a:t>Blockchain</a:t>
            </a:r>
            <a:r>
              <a:rPr lang="pt-BR" sz="942" dirty="0">
                <a:solidFill>
                  <a:srgbClr val="333333"/>
                </a:solidFill>
              </a:rPr>
              <a:t>, Tokens Não Fungíveis (</a:t>
            </a:r>
            <a:r>
              <a:rPr lang="pt-BR" sz="942" dirty="0" err="1">
                <a:solidFill>
                  <a:srgbClr val="333333"/>
                </a:solidFill>
              </a:rPr>
              <a:t>NFTs</a:t>
            </a:r>
            <a:r>
              <a:rPr lang="pt-BR" sz="942" dirty="0">
                <a:solidFill>
                  <a:srgbClr val="333333"/>
                </a:solidFill>
              </a:rPr>
              <a:t>) e Criptografia Homomórfica aplicada a sistemas distribuídos seguros e auditáveis. Possuo experiência acadêmica e profissional na área de Ciência da Computação, com ênfase em Engenharia de Software, atuando principalmente em desenvolvimento de software, sistemas de pagamentos digitais, metodologias ágeis e gerenciamento de projetos de tecnologia. Meus interesses de pesquisa incluem sistemas distribuídos, arquiteturas de </a:t>
            </a:r>
            <a:r>
              <a:rPr lang="pt-BR" sz="942" dirty="0" err="1">
                <a:solidFill>
                  <a:srgbClr val="333333"/>
                </a:solidFill>
              </a:rPr>
              <a:t>blockchain</a:t>
            </a:r>
            <a:r>
              <a:rPr lang="pt-BR" sz="942" dirty="0">
                <a:solidFill>
                  <a:srgbClr val="333333"/>
                </a:solidFill>
              </a:rPr>
              <a:t>, criptografia avançada, privacidade de dados e computação segura.</a:t>
            </a:r>
            <a:endParaRPr lang="en-US" sz="942" dirty="0"/>
          </a:p>
        </p:txBody>
      </p:sp>
      <p:sp>
        <p:nvSpPr>
          <p:cNvPr id="6" name="Text 7">
            <a:extLst>
              <a:ext uri="{FF2B5EF4-FFF2-40B4-BE49-F238E27FC236}">
                <a16:creationId xmlns:a16="http://schemas.microsoft.com/office/drawing/2014/main" id="{A28A407F-7820-FE37-2ADB-A280107B183A}"/>
              </a:ext>
            </a:extLst>
          </p:cNvPr>
          <p:cNvSpPr/>
          <p:nvPr/>
        </p:nvSpPr>
        <p:spPr>
          <a:xfrm>
            <a:off x="634922" y="3646584"/>
            <a:ext cx="601127" cy="13407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33333">
                    <a:alpha val="70000"/>
                  </a:srgbClr>
                </a:solidFill>
              </a:rPr>
              <a:t>UDESC (2025)</a:t>
            </a:r>
            <a:endParaRPr lang="en-US" sz="834" dirty="0"/>
          </a:p>
        </p:txBody>
      </p:sp>
      <p:sp>
        <p:nvSpPr>
          <p:cNvPr id="7" name="Text 9">
            <a:extLst>
              <a:ext uri="{FF2B5EF4-FFF2-40B4-BE49-F238E27FC236}">
                <a16:creationId xmlns:a16="http://schemas.microsoft.com/office/drawing/2014/main" id="{1F454B2E-D18F-17ED-6D36-59AE10868E93}"/>
              </a:ext>
            </a:extLst>
          </p:cNvPr>
          <p:cNvSpPr/>
          <p:nvPr/>
        </p:nvSpPr>
        <p:spPr>
          <a:xfrm>
            <a:off x="638930" y="3360635"/>
            <a:ext cx="2375587" cy="229999"/>
          </a:xfrm>
          <a:prstGeom prst="rect">
            <a:avLst/>
          </a:prstGeom>
          <a:noFill/>
          <a:ln/>
        </p:spPr>
        <p:txBody>
          <a:bodyPr wrap="none" lIns="0" tIns="0" rIns="0" bIns="0" rtlCol="0" anchor="t">
            <a:spAutoFit/>
          </a:bodyPr>
          <a:lstStyle/>
          <a:p>
            <a:pPr marL="0" indent="0" algn="l">
              <a:lnSpc>
                <a:spcPts val="1900"/>
              </a:lnSpc>
              <a:buNone/>
            </a:pPr>
            <a:r>
              <a:rPr lang="en-US" sz="1397" b="1" dirty="0" err="1">
                <a:solidFill>
                  <a:srgbClr val="333333"/>
                </a:solidFill>
              </a:rPr>
              <a:t>Mestrado</a:t>
            </a:r>
            <a:r>
              <a:rPr lang="en-US" sz="1397" b="1" dirty="0">
                <a:solidFill>
                  <a:srgbClr val="333333"/>
                </a:solidFill>
              </a:rPr>
              <a:t> </a:t>
            </a:r>
            <a:r>
              <a:rPr lang="en-US" sz="1397" b="1" dirty="0" err="1">
                <a:solidFill>
                  <a:srgbClr val="333333"/>
                </a:solidFill>
              </a:rPr>
              <a:t>Computação</a:t>
            </a:r>
            <a:r>
              <a:rPr lang="en-US" sz="1397" b="1" dirty="0">
                <a:solidFill>
                  <a:srgbClr val="333333"/>
                </a:solidFill>
              </a:rPr>
              <a:t> </a:t>
            </a:r>
            <a:r>
              <a:rPr lang="en-US" sz="1397" b="1" dirty="0" err="1">
                <a:solidFill>
                  <a:srgbClr val="333333"/>
                </a:solidFill>
              </a:rPr>
              <a:t>Aplicada</a:t>
            </a:r>
            <a:endParaRPr lang="en-US" sz="1397" dirty="0"/>
          </a:p>
        </p:txBody>
      </p:sp>
    </p:spTree>
    <p:extLst>
      <p:ext uri="{BB962C8B-B14F-4D97-AF65-F5344CB8AC3E}">
        <p14:creationId xmlns:p14="http://schemas.microsoft.com/office/powerpoint/2010/main" val="1354669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1469505" cy="390235"/>
          </a:xfrm>
          <a:prstGeom prst="rect">
            <a:avLst/>
          </a:prstGeom>
          <a:noFill/>
          <a:ln/>
        </p:spPr>
        <p:txBody>
          <a:bodyPr wrap="none" lIns="0" tIns="0" rIns="0" bIns="0" rtlCol="0" anchor="t">
            <a:spAutoFit/>
          </a:bodyPr>
          <a:lstStyle/>
          <a:p>
            <a:pPr marL="0" indent="0" algn="l">
              <a:lnSpc>
                <a:spcPts val="3200"/>
              </a:lnSpc>
              <a:buNone/>
            </a:pPr>
            <a:r>
              <a:rPr lang="en-US" sz="2436" b="1" dirty="0" err="1">
                <a:solidFill>
                  <a:srgbClr val="9B1536"/>
                </a:solidFill>
              </a:rPr>
              <a:t>Visão</a:t>
            </a:r>
            <a:r>
              <a:rPr lang="en-US" sz="2436" b="1" dirty="0">
                <a:solidFill>
                  <a:srgbClr val="9B1536"/>
                </a:solidFill>
              </a:rPr>
              <a:t> </a:t>
            </a:r>
            <a:r>
              <a:rPr lang="en-US" sz="2436" b="1" dirty="0" err="1">
                <a:solidFill>
                  <a:srgbClr val="9B1536"/>
                </a:solidFill>
              </a:rPr>
              <a:t>Geral</a:t>
            </a:r>
            <a:endParaRPr lang="en-US" sz="2436" dirty="0"/>
          </a:p>
        </p:txBody>
      </p:sp>
      <p:sp>
        <p:nvSpPr>
          <p:cNvPr id="13" name="Retângulo 12">
            <a:extLst>
              <a:ext uri="{FF2B5EF4-FFF2-40B4-BE49-F238E27FC236}">
                <a16:creationId xmlns:a16="http://schemas.microsoft.com/office/drawing/2014/main" id="{9757471E-07AB-8F6A-3431-D23712F6FAA7}"/>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Shape 3">
            <a:extLst>
              <a:ext uri="{FF2B5EF4-FFF2-40B4-BE49-F238E27FC236}">
                <a16:creationId xmlns:a16="http://schemas.microsoft.com/office/drawing/2014/main" id="{54380261-A0A4-4590-A5B3-0082A74844E8}"/>
              </a:ext>
            </a:extLst>
          </p:cNvPr>
          <p:cNvSpPr/>
          <p:nvPr/>
        </p:nvSpPr>
        <p:spPr>
          <a:xfrm>
            <a:off x="428625" y="1564481"/>
            <a:ext cx="2809866" cy="3071813"/>
          </a:xfrm>
          <a:prstGeom prst="rect">
            <a:avLst/>
          </a:prstGeom>
          <a:solidFill>
            <a:srgbClr val="FFFFFF"/>
          </a:solidFill>
          <a:ln/>
        </p:spPr>
      </p:sp>
      <p:sp>
        <p:nvSpPr>
          <p:cNvPr id="16" name="Text 4">
            <a:extLst>
              <a:ext uri="{FF2B5EF4-FFF2-40B4-BE49-F238E27FC236}">
                <a16:creationId xmlns:a16="http://schemas.microsoft.com/office/drawing/2014/main" id="{02084E15-CC19-EF7C-F930-BC35327981E4}"/>
              </a:ext>
            </a:extLst>
          </p:cNvPr>
          <p:cNvSpPr/>
          <p:nvPr/>
        </p:nvSpPr>
        <p:spPr>
          <a:xfrm>
            <a:off x="642938" y="1778794"/>
            <a:ext cx="2381241" cy="233958"/>
          </a:xfrm>
          <a:prstGeom prst="rect">
            <a:avLst/>
          </a:prstGeom>
          <a:noFill/>
          <a:ln/>
        </p:spPr>
        <p:txBody>
          <a:bodyPr wrap="none" lIns="127508" tIns="0" rIns="0" bIns="0" rtlCol="0" anchor="t">
            <a:spAutoFit/>
          </a:bodyPr>
          <a:lstStyle/>
          <a:p>
            <a:pPr marL="0" indent="0" algn="l">
              <a:lnSpc>
                <a:spcPts val="1600"/>
              </a:lnSpc>
              <a:buNone/>
            </a:pPr>
            <a:r>
              <a:rPr lang="en-US" sz="1269" dirty="0">
                <a:solidFill>
                  <a:srgbClr val="800020"/>
                </a:solidFill>
              </a:rPr>
              <a:t>Dados da Disciplina</a:t>
            </a:r>
            <a:endParaRPr lang="en-US" sz="1269" dirty="0"/>
          </a:p>
        </p:txBody>
      </p:sp>
      <p:sp>
        <p:nvSpPr>
          <p:cNvPr id="17" name="Text 5">
            <a:extLst>
              <a:ext uri="{FF2B5EF4-FFF2-40B4-BE49-F238E27FC236}">
                <a16:creationId xmlns:a16="http://schemas.microsoft.com/office/drawing/2014/main" id="{F0FC3431-E0B9-C380-AEB1-C31FA6A8CACE}"/>
              </a:ext>
            </a:extLst>
          </p:cNvPr>
          <p:cNvSpPr/>
          <p:nvPr/>
        </p:nvSpPr>
        <p:spPr>
          <a:xfrm>
            <a:off x="642938" y="2191345"/>
            <a:ext cx="2381241"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800020"/>
                </a:solidFill>
              </a:rPr>
              <a:t>Carga Horária</a:t>
            </a:r>
            <a:endParaRPr lang="en-US" sz="784" dirty="0"/>
          </a:p>
        </p:txBody>
      </p:sp>
      <p:sp>
        <p:nvSpPr>
          <p:cNvPr id="18" name="Text 6">
            <a:extLst>
              <a:ext uri="{FF2B5EF4-FFF2-40B4-BE49-F238E27FC236}">
                <a16:creationId xmlns:a16="http://schemas.microsoft.com/office/drawing/2014/main" id="{44431515-6016-0968-EE53-624BF3AE7162}"/>
              </a:ext>
            </a:extLst>
          </p:cNvPr>
          <p:cNvSpPr/>
          <p:nvPr/>
        </p:nvSpPr>
        <p:spPr>
          <a:xfrm>
            <a:off x="642938" y="2382441"/>
            <a:ext cx="2381241"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33333"/>
                </a:solidFill>
              </a:rPr>
              <a:t>60 Horas</a:t>
            </a:r>
            <a:endParaRPr lang="en-US" sz="1397" dirty="0"/>
          </a:p>
        </p:txBody>
      </p:sp>
      <p:sp>
        <p:nvSpPr>
          <p:cNvPr id="19" name="Text 7">
            <a:extLst>
              <a:ext uri="{FF2B5EF4-FFF2-40B4-BE49-F238E27FC236}">
                <a16:creationId xmlns:a16="http://schemas.microsoft.com/office/drawing/2014/main" id="{3B701D95-FD99-6028-49D9-5897547D1BEA}"/>
              </a:ext>
            </a:extLst>
          </p:cNvPr>
          <p:cNvSpPr/>
          <p:nvPr/>
        </p:nvSpPr>
        <p:spPr>
          <a:xfrm>
            <a:off x="642938" y="2655689"/>
            <a:ext cx="2381241"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33333">
                    <a:alpha val="70000"/>
                  </a:srgbClr>
                </a:solidFill>
              </a:rPr>
              <a:t>45h Teórica / 15h Prática</a:t>
            </a:r>
            <a:endParaRPr lang="en-US" sz="834" dirty="0"/>
          </a:p>
        </p:txBody>
      </p:sp>
      <p:sp>
        <p:nvSpPr>
          <p:cNvPr id="20" name="Text 8">
            <a:extLst>
              <a:ext uri="{FF2B5EF4-FFF2-40B4-BE49-F238E27FC236}">
                <a16:creationId xmlns:a16="http://schemas.microsoft.com/office/drawing/2014/main" id="{37A0BADF-514C-CE02-4D2C-3774D00A2139}"/>
              </a:ext>
            </a:extLst>
          </p:cNvPr>
          <p:cNvSpPr/>
          <p:nvPr/>
        </p:nvSpPr>
        <p:spPr>
          <a:xfrm>
            <a:off x="642938" y="3025378"/>
            <a:ext cx="357470" cy="132344"/>
          </a:xfrm>
          <a:prstGeom prst="rect">
            <a:avLst/>
          </a:prstGeom>
          <a:noFill/>
          <a:ln/>
        </p:spPr>
        <p:txBody>
          <a:bodyPr wrap="none" lIns="0" tIns="0" rIns="0" bIns="0" rtlCol="0" anchor="t">
            <a:spAutoFit/>
          </a:bodyPr>
          <a:lstStyle/>
          <a:p>
            <a:pPr marL="0" indent="0" algn="l">
              <a:lnSpc>
                <a:spcPts val="1100"/>
              </a:lnSpc>
              <a:buNone/>
            </a:pPr>
            <a:r>
              <a:rPr lang="en-US" sz="784" b="1" dirty="0" err="1">
                <a:solidFill>
                  <a:srgbClr val="800020"/>
                </a:solidFill>
              </a:rPr>
              <a:t>Horários</a:t>
            </a:r>
            <a:endParaRPr lang="en-US" sz="784" dirty="0"/>
          </a:p>
        </p:txBody>
      </p:sp>
      <p:sp>
        <p:nvSpPr>
          <p:cNvPr id="21" name="Text 9">
            <a:extLst>
              <a:ext uri="{FF2B5EF4-FFF2-40B4-BE49-F238E27FC236}">
                <a16:creationId xmlns:a16="http://schemas.microsoft.com/office/drawing/2014/main" id="{1244A62D-569B-8097-FE1B-615250A26C24}"/>
              </a:ext>
            </a:extLst>
          </p:cNvPr>
          <p:cNvSpPr/>
          <p:nvPr/>
        </p:nvSpPr>
        <p:spPr>
          <a:xfrm>
            <a:off x="642938" y="3216473"/>
            <a:ext cx="2425408" cy="229999"/>
          </a:xfrm>
          <a:prstGeom prst="rect">
            <a:avLst/>
          </a:prstGeom>
          <a:noFill/>
          <a:ln/>
        </p:spPr>
        <p:txBody>
          <a:bodyPr wrap="none" lIns="0" tIns="0" rIns="0" bIns="0" rtlCol="0" anchor="t">
            <a:spAutoFit/>
          </a:bodyPr>
          <a:lstStyle/>
          <a:p>
            <a:pPr marL="0" indent="0" algn="l">
              <a:lnSpc>
                <a:spcPts val="1900"/>
              </a:lnSpc>
              <a:buNone/>
            </a:pPr>
            <a:r>
              <a:rPr lang="pt-BR" sz="1397" b="1" dirty="0">
                <a:solidFill>
                  <a:srgbClr val="333333"/>
                </a:solidFill>
              </a:rPr>
              <a:t>4 aulas </a:t>
            </a:r>
            <a:r>
              <a:rPr lang="pt-BR" sz="1397" b="1">
                <a:solidFill>
                  <a:srgbClr val="333333"/>
                </a:solidFill>
              </a:rPr>
              <a:t>– Terças (B) e Quartas (A)</a:t>
            </a:r>
            <a:endParaRPr lang="pt-BR" sz="1397" dirty="0"/>
          </a:p>
        </p:txBody>
      </p:sp>
      <p:sp>
        <p:nvSpPr>
          <p:cNvPr id="22" name="Text 10">
            <a:extLst>
              <a:ext uri="{FF2B5EF4-FFF2-40B4-BE49-F238E27FC236}">
                <a16:creationId xmlns:a16="http://schemas.microsoft.com/office/drawing/2014/main" id="{9C785FE5-346E-B2A9-CF49-52B03BE8A485}"/>
              </a:ext>
            </a:extLst>
          </p:cNvPr>
          <p:cNvSpPr/>
          <p:nvPr/>
        </p:nvSpPr>
        <p:spPr>
          <a:xfrm>
            <a:off x="642938" y="3871674"/>
            <a:ext cx="2381241"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800020"/>
                </a:solidFill>
              </a:rPr>
              <a:t>Período</a:t>
            </a:r>
            <a:endParaRPr lang="en-US" sz="784" dirty="0"/>
          </a:p>
        </p:txBody>
      </p:sp>
      <p:sp>
        <p:nvSpPr>
          <p:cNvPr id="23" name="Text 11">
            <a:extLst>
              <a:ext uri="{FF2B5EF4-FFF2-40B4-BE49-F238E27FC236}">
                <a16:creationId xmlns:a16="http://schemas.microsoft.com/office/drawing/2014/main" id="{3D3C4F73-71D0-1759-EA0C-207ABDF4F1E7}"/>
              </a:ext>
            </a:extLst>
          </p:cNvPr>
          <p:cNvSpPr/>
          <p:nvPr/>
        </p:nvSpPr>
        <p:spPr>
          <a:xfrm>
            <a:off x="642938" y="4062770"/>
            <a:ext cx="2381241"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33333"/>
                </a:solidFill>
              </a:rPr>
              <a:t>1º Período</a:t>
            </a:r>
            <a:endParaRPr lang="en-US" sz="1397" dirty="0"/>
          </a:p>
        </p:txBody>
      </p:sp>
      <p:sp>
        <p:nvSpPr>
          <p:cNvPr id="24" name="Shape 12">
            <a:extLst>
              <a:ext uri="{FF2B5EF4-FFF2-40B4-BE49-F238E27FC236}">
                <a16:creationId xmlns:a16="http://schemas.microsoft.com/office/drawing/2014/main" id="{70DF862A-32A4-B7E9-96D5-4D89C95EFDE7}"/>
              </a:ext>
            </a:extLst>
          </p:cNvPr>
          <p:cNvSpPr/>
          <p:nvPr/>
        </p:nvSpPr>
        <p:spPr>
          <a:xfrm>
            <a:off x="3524241" y="1564481"/>
            <a:ext cx="5191134" cy="3071813"/>
          </a:xfrm>
          <a:prstGeom prst="rect">
            <a:avLst/>
          </a:prstGeom>
          <a:solidFill>
            <a:srgbClr val="FFFFFF"/>
          </a:solidFill>
          <a:ln/>
        </p:spPr>
      </p:sp>
      <p:sp>
        <p:nvSpPr>
          <p:cNvPr id="25" name="Text 13">
            <a:extLst>
              <a:ext uri="{FF2B5EF4-FFF2-40B4-BE49-F238E27FC236}">
                <a16:creationId xmlns:a16="http://schemas.microsoft.com/office/drawing/2014/main" id="{6FF90B6C-45D7-418B-532B-FF6240EE3872}"/>
              </a:ext>
            </a:extLst>
          </p:cNvPr>
          <p:cNvSpPr/>
          <p:nvPr/>
        </p:nvSpPr>
        <p:spPr>
          <a:xfrm>
            <a:off x="3738553" y="1778794"/>
            <a:ext cx="4762509" cy="233958"/>
          </a:xfrm>
          <a:prstGeom prst="rect">
            <a:avLst/>
          </a:prstGeom>
          <a:noFill/>
          <a:ln/>
        </p:spPr>
        <p:txBody>
          <a:bodyPr wrap="none" lIns="127508" tIns="0" rIns="0" bIns="0" rtlCol="0" anchor="t">
            <a:spAutoFit/>
          </a:bodyPr>
          <a:lstStyle/>
          <a:p>
            <a:pPr marL="0" indent="0" algn="l">
              <a:lnSpc>
                <a:spcPts val="1600"/>
              </a:lnSpc>
              <a:buNone/>
            </a:pPr>
            <a:r>
              <a:rPr lang="en-US" sz="1269" dirty="0">
                <a:solidFill>
                  <a:srgbClr val="800020"/>
                </a:solidFill>
              </a:rPr>
              <a:t>Ementa</a:t>
            </a:r>
            <a:endParaRPr lang="en-US" sz="1269" dirty="0"/>
          </a:p>
        </p:txBody>
      </p:sp>
      <p:sp>
        <p:nvSpPr>
          <p:cNvPr id="26" name="Text 14">
            <a:extLst>
              <a:ext uri="{FF2B5EF4-FFF2-40B4-BE49-F238E27FC236}">
                <a16:creationId xmlns:a16="http://schemas.microsoft.com/office/drawing/2014/main" id="{B67A702D-871E-5C59-920A-CAA1A1FC1FBA}"/>
              </a:ext>
            </a:extLst>
          </p:cNvPr>
          <p:cNvSpPr/>
          <p:nvPr/>
        </p:nvSpPr>
        <p:spPr>
          <a:xfrm>
            <a:off x="3738553" y="2191345"/>
            <a:ext cx="4762509" cy="1645741"/>
          </a:xfrm>
          <a:prstGeom prst="rect">
            <a:avLst/>
          </a:prstGeom>
          <a:noFill/>
          <a:ln/>
        </p:spPr>
        <p:txBody>
          <a:bodyPr wrap="square" lIns="0" tIns="0" rIns="0" bIns="0" rtlCol="0" anchor="t">
            <a:spAutoFit/>
          </a:bodyPr>
          <a:lstStyle/>
          <a:p>
            <a:pPr marL="0" indent="0" algn="just">
              <a:lnSpc>
                <a:spcPts val="1600"/>
              </a:lnSpc>
              <a:buNone/>
            </a:pPr>
            <a:r>
              <a:rPr lang="en-US" sz="942" dirty="0">
                <a:solidFill>
                  <a:srgbClr val="333333"/>
                </a:solidFill>
              </a:rPr>
              <a:t>A disciplina aborda os fundamentos e a evolução dos </a:t>
            </a:r>
            <a:r>
              <a:rPr lang="en-US" sz="942" dirty="0">
                <a:solidFill>
                  <a:srgbClr val="800020"/>
                </a:solidFill>
              </a:rPr>
              <a:t>Sistemas Operacionais</a:t>
            </a:r>
            <a:r>
              <a:rPr lang="en-US" sz="942" dirty="0">
                <a:solidFill>
                  <a:srgbClr val="333333"/>
                </a:solidFill>
              </a:rPr>
              <a:t>, detalhando a estrutura básica de um sistema computacional e as funções essenciais de gestão de recursos. O conteúdo engloba o gerenciamento de programas e processos, noções de concorrência, escalonamento de CPU, administração de memória real e virtual, além de sistemas de arquivos e operações de entrada e saída. Também são introduzidos conceitos de segurança, proteção e uma visão técnica sobre sistemas operacionais modernos e virtualização.</a:t>
            </a:r>
            <a:endParaRPr lang="en-US" sz="942" dirty="0"/>
          </a:p>
        </p:txBody>
      </p:sp>
      <p:sp>
        <p:nvSpPr>
          <p:cNvPr id="31" name="Text 7">
            <a:extLst>
              <a:ext uri="{FF2B5EF4-FFF2-40B4-BE49-F238E27FC236}">
                <a16:creationId xmlns:a16="http://schemas.microsoft.com/office/drawing/2014/main" id="{E2C00186-F3B0-328E-9FD4-10844044F4C4}"/>
              </a:ext>
            </a:extLst>
          </p:cNvPr>
          <p:cNvSpPr/>
          <p:nvPr/>
        </p:nvSpPr>
        <p:spPr>
          <a:xfrm>
            <a:off x="642938" y="3512938"/>
            <a:ext cx="1314462" cy="134076"/>
          </a:xfrm>
          <a:prstGeom prst="rect">
            <a:avLst/>
          </a:prstGeom>
          <a:noFill/>
          <a:ln/>
        </p:spPr>
        <p:txBody>
          <a:bodyPr wrap="none" lIns="0" tIns="0" rIns="0" bIns="0" rtlCol="0" anchor="t">
            <a:spAutoFit/>
          </a:bodyPr>
          <a:lstStyle/>
          <a:p>
            <a:pPr marL="0" indent="0" algn="l">
              <a:lnSpc>
                <a:spcPts val="1100"/>
              </a:lnSpc>
              <a:buNone/>
            </a:pPr>
            <a:r>
              <a:rPr lang="pt-BR" sz="834" dirty="0" err="1">
                <a:solidFill>
                  <a:srgbClr val="333333">
                    <a:alpha val="70000"/>
                  </a:srgbClr>
                </a:solidFill>
              </a:rPr>
              <a:t>Interavalo</a:t>
            </a:r>
            <a:r>
              <a:rPr lang="pt-BR" sz="834" dirty="0">
                <a:solidFill>
                  <a:srgbClr val="333333">
                    <a:alpha val="70000"/>
                  </a:srgbClr>
                </a:solidFill>
              </a:rPr>
              <a:t>: 20:20 (20 minutos)</a:t>
            </a:r>
            <a:endParaRPr lang="pt-BR" sz="83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1874872" cy="390235"/>
          </a:xfrm>
          <a:prstGeom prst="rect">
            <a:avLst/>
          </a:prstGeom>
          <a:noFill/>
          <a:ln/>
        </p:spPr>
        <p:txBody>
          <a:bodyPr wrap="none" lIns="0" tIns="0" rIns="0" bIns="0" rtlCol="0" anchor="t">
            <a:spAutoFit/>
          </a:bodyPr>
          <a:lstStyle/>
          <a:p>
            <a:pPr marL="0" indent="0" algn="l">
              <a:lnSpc>
                <a:spcPts val="3200"/>
              </a:lnSpc>
              <a:buNone/>
            </a:pPr>
            <a:r>
              <a:rPr lang="pt-BR" sz="2436" b="1" dirty="0">
                <a:solidFill>
                  <a:srgbClr val="971536"/>
                </a:solidFill>
              </a:rPr>
              <a:t>Objetivo Geral</a:t>
            </a:r>
          </a:p>
        </p:txBody>
      </p:sp>
      <p:sp>
        <p:nvSpPr>
          <p:cNvPr id="16" name="Retângulo 15">
            <a:extLst>
              <a:ext uri="{FF2B5EF4-FFF2-40B4-BE49-F238E27FC236}">
                <a16:creationId xmlns:a16="http://schemas.microsoft.com/office/drawing/2014/main" id="{8FD82C73-B0E0-E2EE-E382-7ED9275E04B4}"/>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Shape 3">
            <a:extLst>
              <a:ext uri="{FF2B5EF4-FFF2-40B4-BE49-F238E27FC236}">
                <a16:creationId xmlns:a16="http://schemas.microsoft.com/office/drawing/2014/main" id="{5F01EFA0-67DF-1280-EA46-1FE147530C94}"/>
              </a:ext>
            </a:extLst>
          </p:cNvPr>
          <p:cNvSpPr/>
          <p:nvPr/>
        </p:nvSpPr>
        <p:spPr>
          <a:xfrm>
            <a:off x="285750" y="1564481"/>
            <a:ext cx="8572500" cy="1585913"/>
          </a:xfrm>
          <a:prstGeom prst="rect">
            <a:avLst/>
          </a:prstGeom>
          <a:solidFill>
            <a:srgbClr val="FFFFFF"/>
          </a:solidFill>
          <a:ln/>
        </p:spPr>
      </p:sp>
      <p:sp>
        <p:nvSpPr>
          <p:cNvPr id="10" name="Text 4">
            <a:extLst>
              <a:ext uri="{FF2B5EF4-FFF2-40B4-BE49-F238E27FC236}">
                <a16:creationId xmlns:a16="http://schemas.microsoft.com/office/drawing/2014/main" id="{B3652CED-FCDE-FF10-BF63-4653A3966B6C}"/>
              </a:ext>
            </a:extLst>
          </p:cNvPr>
          <p:cNvSpPr/>
          <p:nvPr/>
        </p:nvSpPr>
        <p:spPr>
          <a:xfrm>
            <a:off x="571500" y="2050256"/>
            <a:ext cx="8001000" cy="900113"/>
          </a:xfrm>
          <a:prstGeom prst="rect">
            <a:avLst/>
          </a:prstGeom>
          <a:noFill/>
          <a:ln/>
        </p:spPr>
        <p:txBody>
          <a:bodyPr wrap="square" lIns="0" tIns="0" rIns="0" bIns="0" rtlCol="0" anchor="t">
            <a:spAutoFit/>
          </a:bodyPr>
          <a:lstStyle/>
          <a:p>
            <a:pPr marL="0" indent="0" algn="ctr">
              <a:lnSpc>
                <a:spcPts val="2400"/>
              </a:lnSpc>
              <a:buNone/>
            </a:pPr>
            <a:r>
              <a:rPr lang="en-US" sz="1397" b="1" dirty="0">
                <a:solidFill>
                  <a:srgbClr val="333333"/>
                </a:solidFill>
              </a:rPr>
              <a:t>Proporcionar ao acadêmico uma </a:t>
            </a:r>
            <a:r>
              <a:rPr lang="en-US" sz="1397" b="1" dirty="0">
                <a:solidFill>
                  <a:srgbClr val="800020"/>
                </a:solidFill>
              </a:rPr>
              <a:t>compreensão profunda e técnica</a:t>
            </a:r>
            <a:r>
              <a:rPr lang="en-US" sz="1397" b="1" dirty="0">
                <a:solidFill>
                  <a:srgbClr val="333333"/>
                </a:solidFill>
              </a:rPr>
              <a:t> sobre a arquitetura e o funcionamento dos Sistemas Operacionais, capacitando-o a gerenciar recursos de forma </a:t>
            </a:r>
            <a:r>
              <a:rPr lang="en-US" sz="1397" b="1" dirty="0">
                <a:solidFill>
                  <a:srgbClr val="800020"/>
                </a:solidFill>
              </a:rPr>
              <a:t>eficiente e segura</a:t>
            </a:r>
            <a:r>
              <a:rPr lang="en-US" sz="1397" b="1" dirty="0">
                <a:solidFill>
                  <a:srgbClr val="333333"/>
                </a:solidFill>
              </a:rPr>
              <a:t>.</a:t>
            </a:r>
            <a:endParaRPr lang="en-US" sz="1397" dirty="0"/>
          </a:p>
        </p:txBody>
      </p:sp>
      <p:sp>
        <p:nvSpPr>
          <p:cNvPr id="11" name="Shape 5">
            <a:extLst>
              <a:ext uri="{FF2B5EF4-FFF2-40B4-BE49-F238E27FC236}">
                <a16:creationId xmlns:a16="http://schemas.microsoft.com/office/drawing/2014/main" id="{1C9A32D8-4DC9-F3A4-5869-5BACB06B5EE7}"/>
              </a:ext>
            </a:extLst>
          </p:cNvPr>
          <p:cNvSpPr/>
          <p:nvPr/>
        </p:nvSpPr>
        <p:spPr>
          <a:xfrm>
            <a:off x="571500" y="3436144"/>
            <a:ext cx="2524116" cy="1209415"/>
          </a:xfrm>
          <a:prstGeom prst="rect">
            <a:avLst/>
          </a:prstGeom>
          <a:solidFill>
            <a:srgbClr val="FFFFFF"/>
          </a:solidFill>
          <a:ln/>
        </p:spPr>
      </p:sp>
      <p:pic>
        <p:nvPicPr>
          <p:cNvPr id="12" name="Image 1" descr="preencoded.png">
            <a:extLst>
              <a:ext uri="{FF2B5EF4-FFF2-40B4-BE49-F238E27FC236}">
                <a16:creationId xmlns:a16="http://schemas.microsoft.com/office/drawing/2014/main" id="{D051BAA6-6D7F-B822-556A-5430F55A7108}"/>
              </a:ext>
            </a:extLst>
          </p:cNvPr>
          <p:cNvPicPr>
            <a:picLocks noChangeAspect="1"/>
          </p:cNvPicPr>
          <p:nvPr/>
        </p:nvPicPr>
        <p:blipFill>
          <a:blip r:embed="rId3"/>
          <a:stretch>
            <a:fillRect/>
          </a:stretch>
        </p:blipFill>
        <p:spPr>
          <a:xfrm>
            <a:off x="1690669" y="3650456"/>
            <a:ext cx="285750" cy="285750"/>
          </a:xfrm>
          <a:prstGeom prst="rect">
            <a:avLst/>
          </a:prstGeom>
        </p:spPr>
      </p:pic>
      <p:sp>
        <p:nvSpPr>
          <p:cNvPr id="13" name="Text 6">
            <a:extLst>
              <a:ext uri="{FF2B5EF4-FFF2-40B4-BE49-F238E27FC236}">
                <a16:creationId xmlns:a16="http://schemas.microsoft.com/office/drawing/2014/main" id="{8AEBFF34-C1F9-DF2E-9B11-3D7A88B5A559}"/>
              </a:ext>
            </a:extLst>
          </p:cNvPr>
          <p:cNvSpPr/>
          <p:nvPr/>
        </p:nvSpPr>
        <p:spPr>
          <a:xfrm>
            <a:off x="714375" y="4079081"/>
            <a:ext cx="2238366"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800020"/>
                </a:solidFill>
              </a:rPr>
              <a:t>Foco Técnico</a:t>
            </a:r>
            <a:endParaRPr lang="en-US" sz="885" dirty="0"/>
          </a:p>
        </p:txBody>
      </p:sp>
      <p:sp>
        <p:nvSpPr>
          <p:cNvPr id="14" name="Text 7">
            <a:extLst>
              <a:ext uri="{FF2B5EF4-FFF2-40B4-BE49-F238E27FC236}">
                <a16:creationId xmlns:a16="http://schemas.microsoft.com/office/drawing/2014/main" id="{9392406C-D68B-EFA2-F02A-A7D5826BDA34}"/>
              </a:ext>
            </a:extLst>
          </p:cNvPr>
          <p:cNvSpPr/>
          <p:nvPr/>
        </p:nvSpPr>
        <p:spPr>
          <a:xfrm>
            <a:off x="714375" y="4325541"/>
            <a:ext cx="2238366" cy="320018"/>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333333"/>
                </a:solidFill>
              </a:rPr>
              <a:t>Estudo detalhado da arquitetura interna e mecanismos de baixo nível.</a:t>
            </a:r>
            <a:endParaRPr lang="en-US" sz="834" dirty="0"/>
          </a:p>
        </p:txBody>
      </p:sp>
      <p:sp>
        <p:nvSpPr>
          <p:cNvPr id="15" name="Shape 8">
            <a:extLst>
              <a:ext uri="{FF2B5EF4-FFF2-40B4-BE49-F238E27FC236}">
                <a16:creationId xmlns:a16="http://schemas.microsoft.com/office/drawing/2014/main" id="{5A51DE65-A495-B739-CB75-91076258DFCA}"/>
              </a:ext>
            </a:extLst>
          </p:cNvPr>
          <p:cNvSpPr/>
          <p:nvPr/>
        </p:nvSpPr>
        <p:spPr>
          <a:xfrm>
            <a:off x="3309928" y="3436144"/>
            <a:ext cx="2524116" cy="1209415"/>
          </a:xfrm>
          <a:prstGeom prst="rect">
            <a:avLst/>
          </a:prstGeom>
          <a:solidFill>
            <a:srgbClr val="FFFFFF"/>
          </a:solidFill>
          <a:ln/>
        </p:spPr>
      </p:sp>
      <p:pic>
        <p:nvPicPr>
          <p:cNvPr id="17" name="Image 2" descr="preencoded.png">
            <a:extLst>
              <a:ext uri="{FF2B5EF4-FFF2-40B4-BE49-F238E27FC236}">
                <a16:creationId xmlns:a16="http://schemas.microsoft.com/office/drawing/2014/main" id="{2E0F7525-1CEB-770B-D270-ED536B143180}"/>
              </a:ext>
            </a:extLst>
          </p:cNvPr>
          <p:cNvPicPr>
            <a:picLocks noChangeAspect="1"/>
          </p:cNvPicPr>
          <p:nvPr/>
        </p:nvPicPr>
        <p:blipFill>
          <a:blip r:embed="rId4"/>
          <a:stretch>
            <a:fillRect/>
          </a:stretch>
        </p:blipFill>
        <p:spPr>
          <a:xfrm>
            <a:off x="4429097" y="3650456"/>
            <a:ext cx="285750" cy="285750"/>
          </a:xfrm>
          <a:prstGeom prst="rect">
            <a:avLst/>
          </a:prstGeom>
        </p:spPr>
      </p:pic>
      <p:sp>
        <p:nvSpPr>
          <p:cNvPr id="19" name="Text 9">
            <a:extLst>
              <a:ext uri="{FF2B5EF4-FFF2-40B4-BE49-F238E27FC236}">
                <a16:creationId xmlns:a16="http://schemas.microsoft.com/office/drawing/2014/main" id="{095C8853-98B6-2D05-FED4-FA988D406982}"/>
              </a:ext>
            </a:extLst>
          </p:cNvPr>
          <p:cNvSpPr/>
          <p:nvPr/>
        </p:nvSpPr>
        <p:spPr>
          <a:xfrm>
            <a:off x="3452803" y="4079081"/>
            <a:ext cx="2238366"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800020"/>
                </a:solidFill>
              </a:rPr>
              <a:t>Intermediário Crítico</a:t>
            </a:r>
            <a:endParaRPr lang="en-US" sz="885" dirty="0"/>
          </a:p>
        </p:txBody>
      </p:sp>
      <p:sp>
        <p:nvSpPr>
          <p:cNvPr id="20" name="Text 10">
            <a:extLst>
              <a:ext uri="{FF2B5EF4-FFF2-40B4-BE49-F238E27FC236}">
                <a16:creationId xmlns:a16="http://schemas.microsoft.com/office/drawing/2014/main" id="{56143408-4210-E524-E666-10C93001B754}"/>
              </a:ext>
            </a:extLst>
          </p:cNvPr>
          <p:cNvSpPr/>
          <p:nvPr/>
        </p:nvSpPr>
        <p:spPr>
          <a:xfrm>
            <a:off x="3452803" y="4325541"/>
            <a:ext cx="2238366" cy="320018"/>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333333"/>
                </a:solidFill>
              </a:rPr>
              <a:t>Entender o papel do SO entre o hardware e as aplicações do usuário.</a:t>
            </a:r>
            <a:endParaRPr lang="en-US" sz="834" dirty="0"/>
          </a:p>
        </p:txBody>
      </p:sp>
      <p:sp>
        <p:nvSpPr>
          <p:cNvPr id="21" name="Shape 11">
            <a:extLst>
              <a:ext uri="{FF2B5EF4-FFF2-40B4-BE49-F238E27FC236}">
                <a16:creationId xmlns:a16="http://schemas.microsoft.com/office/drawing/2014/main" id="{23BB0421-BB9E-B0AF-8AFD-91DE146E801F}"/>
              </a:ext>
            </a:extLst>
          </p:cNvPr>
          <p:cNvSpPr/>
          <p:nvPr/>
        </p:nvSpPr>
        <p:spPr>
          <a:xfrm>
            <a:off x="6048356" y="3436144"/>
            <a:ext cx="2524116" cy="1209415"/>
          </a:xfrm>
          <a:prstGeom prst="rect">
            <a:avLst/>
          </a:prstGeom>
          <a:solidFill>
            <a:srgbClr val="FFFFFF"/>
          </a:solidFill>
          <a:ln/>
        </p:spPr>
      </p:sp>
      <p:pic>
        <p:nvPicPr>
          <p:cNvPr id="22" name="Image 3" descr="preencoded.png">
            <a:extLst>
              <a:ext uri="{FF2B5EF4-FFF2-40B4-BE49-F238E27FC236}">
                <a16:creationId xmlns:a16="http://schemas.microsoft.com/office/drawing/2014/main" id="{2FEA6D9F-02D2-7454-AF8A-BAD04908A7B1}"/>
              </a:ext>
            </a:extLst>
          </p:cNvPr>
          <p:cNvPicPr>
            <a:picLocks noChangeAspect="1"/>
          </p:cNvPicPr>
          <p:nvPr/>
        </p:nvPicPr>
        <p:blipFill>
          <a:blip r:embed="rId5"/>
          <a:stretch>
            <a:fillRect/>
          </a:stretch>
        </p:blipFill>
        <p:spPr>
          <a:xfrm>
            <a:off x="7167525" y="3650456"/>
            <a:ext cx="285750" cy="285750"/>
          </a:xfrm>
          <a:prstGeom prst="rect">
            <a:avLst/>
          </a:prstGeom>
        </p:spPr>
      </p:pic>
      <p:sp>
        <p:nvSpPr>
          <p:cNvPr id="23" name="Text 12">
            <a:extLst>
              <a:ext uri="{FF2B5EF4-FFF2-40B4-BE49-F238E27FC236}">
                <a16:creationId xmlns:a16="http://schemas.microsoft.com/office/drawing/2014/main" id="{39079668-1F1F-5960-5DEB-AFB979593DFC}"/>
              </a:ext>
            </a:extLst>
          </p:cNvPr>
          <p:cNvSpPr/>
          <p:nvPr/>
        </p:nvSpPr>
        <p:spPr>
          <a:xfrm>
            <a:off x="6191231" y="4079081"/>
            <a:ext cx="2238366"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800020"/>
                </a:solidFill>
              </a:rPr>
              <a:t>Gestão de Recursos</a:t>
            </a:r>
            <a:endParaRPr lang="en-US" sz="885" dirty="0"/>
          </a:p>
        </p:txBody>
      </p:sp>
      <p:sp>
        <p:nvSpPr>
          <p:cNvPr id="24" name="Text 13">
            <a:extLst>
              <a:ext uri="{FF2B5EF4-FFF2-40B4-BE49-F238E27FC236}">
                <a16:creationId xmlns:a16="http://schemas.microsoft.com/office/drawing/2014/main" id="{E7A0CC68-14D7-9E76-E46A-39D16FF0E374}"/>
              </a:ext>
            </a:extLst>
          </p:cNvPr>
          <p:cNvSpPr/>
          <p:nvPr/>
        </p:nvSpPr>
        <p:spPr>
          <a:xfrm>
            <a:off x="6191231" y="4325541"/>
            <a:ext cx="2238366" cy="320018"/>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333333"/>
                </a:solidFill>
              </a:rPr>
              <a:t>Capacitação para otimização de CPU, memória e armazenamento.</a:t>
            </a:r>
            <a:endParaRPr lang="en-US" sz="83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2470100" cy="390235"/>
          </a:xfrm>
          <a:prstGeom prst="rect">
            <a:avLst/>
          </a:prstGeom>
          <a:noFill/>
          <a:ln/>
        </p:spPr>
        <p:txBody>
          <a:bodyPr wrap="none" lIns="0" tIns="0" rIns="0" bIns="0" rtlCol="0" anchor="t">
            <a:spAutoFit/>
          </a:bodyPr>
          <a:lstStyle/>
          <a:p>
            <a:pPr marL="0" indent="0" algn="l">
              <a:lnSpc>
                <a:spcPts val="3200"/>
              </a:lnSpc>
              <a:buNone/>
            </a:pPr>
            <a:r>
              <a:rPr lang="pt-BR" sz="2436" b="1" dirty="0">
                <a:solidFill>
                  <a:srgbClr val="971536"/>
                </a:solidFill>
              </a:rPr>
              <a:t>Objetivo Específico</a:t>
            </a:r>
          </a:p>
        </p:txBody>
      </p:sp>
      <p:sp>
        <p:nvSpPr>
          <p:cNvPr id="16" name="Retângulo 15">
            <a:extLst>
              <a:ext uri="{FF2B5EF4-FFF2-40B4-BE49-F238E27FC236}">
                <a16:creationId xmlns:a16="http://schemas.microsoft.com/office/drawing/2014/main" id="{8FD82C73-B0E0-E2EE-E382-7ED9275E04B4}"/>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 name="Shape 3">
            <a:extLst>
              <a:ext uri="{FF2B5EF4-FFF2-40B4-BE49-F238E27FC236}">
                <a16:creationId xmlns:a16="http://schemas.microsoft.com/office/drawing/2014/main" id="{21FE5967-2311-CF0B-0CBC-C411DD473733}"/>
              </a:ext>
            </a:extLst>
          </p:cNvPr>
          <p:cNvSpPr/>
          <p:nvPr/>
        </p:nvSpPr>
        <p:spPr>
          <a:xfrm>
            <a:off x="428625" y="1564481"/>
            <a:ext cx="2619384" cy="3286125"/>
          </a:xfrm>
          <a:prstGeom prst="rect">
            <a:avLst/>
          </a:prstGeom>
          <a:solidFill>
            <a:srgbClr val="FFFFFF"/>
          </a:solidFill>
          <a:ln/>
        </p:spPr>
      </p:sp>
      <p:sp>
        <p:nvSpPr>
          <p:cNvPr id="5" name="Shape 4">
            <a:extLst>
              <a:ext uri="{FF2B5EF4-FFF2-40B4-BE49-F238E27FC236}">
                <a16:creationId xmlns:a16="http://schemas.microsoft.com/office/drawing/2014/main" id="{F77F1BCF-8101-83A1-51D5-D140711AAA0A}"/>
              </a:ext>
            </a:extLst>
          </p:cNvPr>
          <p:cNvSpPr/>
          <p:nvPr/>
        </p:nvSpPr>
        <p:spPr>
          <a:xfrm>
            <a:off x="1452553" y="1850231"/>
            <a:ext cx="571500" cy="571500"/>
          </a:xfrm>
          <a:prstGeom prst="rect">
            <a:avLst/>
          </a:prstGeom>
          <a:solidFill>
            <a:srgbClr val="F0F0F0"/>
          </a:solidFill>
          <a:ln/>
        </p:spPr>
      </p:sp>
      <p:pic>
        <p:nvPicPr>
          <p:cNvPr id="6" name="Image 1" descr="preencoded.png">
            <a:extLst>
              <a:ext uri="{FF2B5EF4-FFF2-40B4-BE49-F238E27FC236}">
                <a16:creationId xmlns:a16="http://schemas.microsoft.com/office/drawing/2014/main" id="{7F4EEC5F-2787-0BA1-3B51-1F8C2DC7B481}"/>
              </a:ext>
            </a:extLst>
          </p:cNvPr>
          <p:cNvPicPr>
            <a:picLocks noChangeAspect="1"/>
          </p:cNvPicPr>
          <p:nvPr/>
        </p:nvPicPr>
        <p:blipFill>
          <a:blip r:embed="rId3"/>
          <a:stretch>
            <a:fillRect/>
          </a:stretch>
        </p:blipFill>
        <p:spPr>
          <a:xfrm>
            <a:off x="1609716" y="2007394"/>
            <a:ext cx="257175" cy="257175"/>
          </a:xfrm>
          <a:prstGeom prst="rect">
            <a:avLst/>
          </a:prstGeom>
        </p:spPr>
      </p:pic>
      <p:sp>
        <p:nvSpPr>
          <p:cNvPr id="7" name="Text 5">
            <a:extLst>
              <a:ext uri="{FF2B5EF4-FFF2-40B4-BE49-F238E27FC236}">
                <a16:creationId xmlns:a16="http://schemas.microsoft.com/office/drawing/2014/main" id="{B3FAC42E-C300-44F3-DBF6-2726F3EE111B}"/>
              </a:ext>
            </a:extLst>
          </p:cNvPr>
          <p:cNvSpPr/>
          <p:nvPr/>
        </p:nvSpPr>
        <p:spPr>
          <a:xfrm>
            <a:off x="971271" y="2600325"/>
            <a:ext cx="1534065"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800020"/>
                </a:solidFill>
              </a:rPr>
              <a:t>Análise Histórica</a:t>
            </a:r>
            <a:endParaRPr lang="en-US" sz="1090" dirty="0"/>
          </a:p>
        </p:txBody>
      </p:sp>
      <p:sp>
        <p:nvSpPr>
          <p:cNvPr id="8" name="Text 6">
            <a:extLst>
              <a:ext uri="{FF2B5EF4-FFF2-40B4-BE49-F238E27FC236}">
                <a16:creationId xmlns:a16="http://schemas.microsoft.com/office/drawing/2014/main" id="{208C5F05-60B7-CBE1-9E4C-586C4FF1F65B}"/>
              </a:ext>
            </a:extLst>
          </p:cNvPr>
          <p:cNvSpPr/>
          <p:nvPr/>
        </p:nvSpPr>
        <p:spPr>
          <a:xfrm>
            <a:off x="642938" y="2957513"/>
            <a:ext cx="2190759" cy="777218"/>
          </a:xfrm>
          <a:prstGeom prst="rect">
            <a:avLst/>
          </a:prstGeom>
          <a:noFill/>
          <a:ln/>
        </p:spPr>
        <p:txBody>
          <a:bodyPr wrap="square" lIns="0" tIns="0" rIns="0" bIns="0" rtlCol="0" anchor="t">
            <a:spAutoFit/>
          </a:bodyPr>
          <a:lstStyle/>
          <a:p>
            <a:pPr marL="0" indent="0" algn="ctr">
              <a:lnSpc>
                <a:spcPts val="1500"/>
              </a:lnSpc>
              <a:buNone/>
            </a:pPr>
            <a:r>
              <a:rPr lang="en-US" sz="888" dirty="0">
                <a:solidFill>
                  <a:srgbClr val="555555"/>
                </a:solidFill>
              </a:rPr>
              <a:t>Compreender a evolução dos sistemas operacionais e como as demandas de hardware moldaram as arquiteturas atuais.</a:t>
            </a:r>
            <a:endParaRPr lang="en-US" sz="888" dirty="0"/>
          </a:p>
        </p:txBody>
      </p:sp>
      <p:sp>
        <p:nvSpPr>
          <p:cNvPr id="9" name="Shape 7">
            <a:extLst>
              <a:ext uri="{FF2B5EF4-FFF2-40B4-BE49-F238E27FC236}">
                <a16:creationId xmlns:a16="http://schemas.microsoft.com/office/drawing/2014/main" id="{EE3A5C06-6E38-4C70-D26B-326F7EAA61F0}"/>
              </a:ext>
            </a:extLst>
          </p:cNvPr>
          <p:cNvSpPr/>
          <p:nvPr/>
        </p:nvSpPr>
        <p:spPr>
          <a:xfrm>
            <a:off x="1184467" y="3806168"/>
            <a:ext cx="1107700" cy="164306"/>
          </a:xfrm>
          <a:prstGeom prst="rect">
            <a:avLst/>
          </a:prstGeom>
          <a:solidFill>
            <a:srgbClr val="FFF0F0"/>
          </a:solidFill>
          <a:ln/>
        </p:spPr>
      </p:sp>
      <p:sp>
        <p:nvSpPr>
          <p:cNvPr id="18" name="Text 8">
            <a:extLst>
              <a:ext uri="{FF2B5EF4-FFF2-40B4-BE49-F238E27FC236}">
                <a16:creationId xmlns:a16="http://schemas.microsoft.com/office/drawing/2014/main" id="{024889F6-1561-0572-7A09-F959AB85B9D0}"/>
              </a:ext>
            </a:extLst>
          </p:cNvPr>
          <p:cNvSpPr/>
          <p:nvPr/>
        </p:nvSpPr>
        <p:spPr>
          <a:xfrm>
            <a:off x="1184467" y="3806168"/>
            <a:ext cx="1107700" cy="164306"/>
          </a:xfrm>
          <a:prstGeom prst="rect">
            <a:avLst/>
          </a:prstGeom>
          <a:noFill/>
          <a:ln/>
        </p:spPr>
        <p:txBody>
          <a:bodyPr wrap="none" lIns="34036" tIns="17018" rIns="34036" bIns="17018" rtlCol="0" anchor="t">
            <a:spAutoFit/>
          </a:bodyPr>
          <a:lstStyle/>
          <a:p>
            <a:pPr marL="0" indent="0" algn="ctr">
              <a:lnSpc>
                <a:spcPts val="900"/>
              </a:lnSpc>
              <a:buNone/>
            </a:pPr>
            <a:r>
              <a:rPr lang="en-US" sz="727" dirty="0">
                <a:solidFill>
                  <a:srgbClr val="800020"/>
                </a:solidFill>
              </a:rPr>
              <a:t>Evolução de Hardware</a:t>
            </a:r>
            <a:endParaRPr lang="en-US" sz="727" dirty="0"/>
          </a:p>
        </p:txBody>
      </p:sp>
      <p:sp>
        <p:nvSpPr>
          <p:cNvPr id="25" name="Shape 9">
            <a:extLst>
              <a:ext uri="{FF2B5EF4-FFF2-40B4-BE49-F238E27FC236}">
                <a16:creationId xmlns:a16="http://schemas.microsoft.com/office/drawing/2014/main" id="{DF14E1FF-B6FA-CE15-D268-1F468BD9D6EB}"/>
              </a:ext>
            </a:extLst>
          </p:cNvPr>
          <p:cNvSpPr/>
          <p:nvPr/>
        </p:nvSpPr>
        <p:spPr>
          <a:xfrm>
            <a:off x="3262322" y="1564481"/>
            <a:ext cx="2619384" cy="3286125"/>
          </a:xfrm>
          <a:prstGeom prst="rect">
            <a:avLst/>
          </a:prstGeom>
          <a:solidFill>
            <a:srgbClr val="FFFFFF"/>
          </a:solidFill>
          <a:ln/>
        </p:spPr>
      </p:sp>
      <p:sp>
        <p:nvSpPr>
          <p:cNvPr id="26" name="Shape 10">
            <a:extLst>
              <a:ext uri="{FF2B5EF4-FFF2-40B4-BE49-F238E27FC236}">
                <a16:creationId xmlns:a16="http://schemas.microsoft.com/office/drawing/2014/main" id="{3FB1DCD5-F858-0BCD-39BB-FCF19E73ABD6}"/>
              </a:ext>
            </a:extLst>
          </p:cNvPr>
          <p:cNvSpPr/>
          <p:nvPr/>
        </p:nvSpPr>
        <p:spPr>
          <a:xfrm>
            <a:off x="4286250" y="1850231"/>
            <a:ext cx="571500" cy="571500"/>
          </a:xfrm>
          <a:prstGeom prst="rect">
            <a:avLst/>
          </a:prstGeom>
          <a:solidFill>
            <a:srgbClr val="F0F0F0"/>
          </a:solidFill>
          <a:ln/>
        </p:spPr>
      </p:sp>
      <p:pic>
        <p:nvPicPr>
          <p:cNvPr id="27" name="Image 2" descr="preencoded.png">
            <a:extLst>
              <a:ext uri="{FF2B5EF4-FFF2-40B4-BE49-F238E27FC236}">
                <a16:creationId xmlns:a16="http://schemas.microsoft.com/office/drawing/2014/main" id="{FA521921-3DBB-0AD6-2F0C-E54F1CBA739B}"/>
              </a:ext>
            </a:extLst>
          </p:cNvPr>
          <p:cNvPicPr>
            <a:picLocks noChangeAspect="1"/>
          </p:cNvPicPr>
          <p:nvPr/>
        </p:nvPicPr>
        <p:blipFill>
          <a:blip r:embed="rId4"/>
          <a:stretch>
            <a:fillRect/>
          </a:stretch>
        </p:blipFill>
        <p:spPr>
          <a:xfrm>
            <a:off x="4411266" y="2007394"/>
            <a:ext cx="321469" cy="257175"/>
          </a:xfrm>
          <a:prstGeom prst="rect">
            <a:avLst/>
          </a:prstGeom>
        </p:spPr>
      </p:pic>
      <p:sp>
        <p:nvSpPr>
          <p:cNvPr id="28" name="Text 11">
            <a:extLst>
              <a:ext uri="{FF2B5EF4-FFF2-40B4-BE49-F238E27FC236}">
                <a16:creationId xmlns:a16="http://schemas.microsoft.com/office/drawing/2014/main" id="{5AFECADC-4557-1B56-F606-45EA85AB081B}"/>
              </a:ext>
            </a:extLst>
          </p:cNvPr>
          <p:cNvSpPr/>
          <p:nvPr/>
        </p:nvSpPr>
        <p:spPr>
          <a:xfrm>
            <a:off x="3685840" y="2600325"/>
            <a:ext cx="1772348"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800020"/>
                </a:solidFill>
              </a:rPr>
              <a:t>Gestão de Processos</a:t>
            </a:r>
            <a:endParaRPr lang="en-US" sz="1090" dirty="0"/>
          </a:p>
        </p:txBody>
      </p:sp>
      <p:sp>
        <p:nvSpPr>
          <p:cNvPr id="29" name="Text 12">
            <a:extLst>
              <a:ext uri="{FF2B5EF4-FFF2-40B4-BE49-F238E27FC236}">
                <a16:creationId xmlns:a16="http://schemas.microsoft.com/office/drawing/2014/main" id="{055307E1-85D1-BE1D-5109-A0BE162C79F2}"/>
              </a:ext>
            </a:extLst>
          </p:cNvPr>
          <p:cNvSpPr/>
          <p:nvPr/>
        </p:nvSpPr>
        <p:spPr>
          <a:xfrm>
            <a:off x="3476634" y="2957513"/>
            <a:ext cx="2190759" cy="582913"/>
          </a:xfrm>
          <a:prstGeom prst="rect">
            <a:avLst/>
          </a:prstGeom>
          <a:noFill/>
          <a:ln/>
        </p:spPr>
        <p:txBody>
          <a:bodyPr wrap="square" lIns="0" tIns="0" rIns="0" bIns="0" rtlCol="0" anchor="t">
            <a:spAutoFit/>
          </a:bodyPr>
          <a:lstStyle/>
          <a:p>
            <a:pPr marL="0" indent="0" algn="ctr">
              <a:lnSpc>
                <a:spcPts val="1500"/>
              </a:lnSpc>
              <a:buNone/>
            </a:pPr>
            <a:r>
              <a:rPr lang="en-US" sz="888" dirty="0">
                <a:solidFill>
                  <a:srgbClr val="555555"/>
                </a:solidFill>
              </a:rPr>
              <a:t>Dominar os conceitos de processos, threads, estados de execução e os algoritmos de escalonamento de CPU.</a:t>
            </a:r>
            <a:endParaRPr lang="en-US" sz="888" dirty="0"/>
          </a:p>
        </p:txBody>
      </p:sp>
      <p:sp>
        <p:nvSpPr>
          <p:cNvPr id="30" name="Shape 13">
            <a:extLst>
              <a:ext uri="{FF2B5EF4-FFF2-40B4-BE49-F238E27FC236}">
                <a16:creationId xmlns:a16="http://schemas.microsoft.com/office/drawing/2014/main" id="{24A3C0CC-39AF-9987-30B3-09531FB1AA0F}"/>
              </a:ext>
            </a:extLst>
          </p:cNvPr>
          <p:cNvSpPr/>
          <p:nvPr/>
        </p:nvSpPr>
        <p:spPr>
          <a:xfrm>
            <a:off x="4172341" y="3611863"/>
            <a:ext cx="799347" cy="164306"/>
          </a:xfrm>
          <a:prstGeom prst="rect">
            <a:avLst/>
          </a:prstGeom>
          <a:solidFill>
            <a:srgbClr val="FFF0F0"/>
          </a:solidFill>
          <a:ln/>
        </p:spPr>
      </p:sp>
      <p:sp>
        <p:nvSpPr>
          <p:cNvPr id="31" name="Text 14">
            <a:extLst>
              <a:ext uri="{FF2B5EF4-FFF2-40B4-BE49-F238E27FC236}">
                <a16:creationId xmlns:a16="http://schemas.microsoft.com/office/drawing/2014/main" id="{01F68E30-65B1-B51A-7DA8-CE39661032F5}"/>
              </a:ext>
            </a:extLst>
          </p:cNvPr>
          <p:cNvSpPr/>
          <p:nvPr/>
        </p:nvSpPr>
        <p:spPr>
          <a:xfrm>
            <a:off x="4172341" y="3611863"/>
            <a:ext cx="799347" cy="164306"/>
          </a:xfrm>
          <a:prstGeom prst="rect">
            <a:avLst/>
          </a:prstGeom>
          <a:noFill/>
          <a:ln/>
        </p:spPr>
        <p:txBody>
          <a:bodyPr wrap="none" lIns="34036" tIns="17018" rIns="34036" bIns="17018" rtlCol="0" anchor="t">
            <a:spAutoFit/>
          </a:bodyPr>
          <a:lstStyle/>
          <a:p>
            <a:pPr marL="0" indent="0" algn="ctr">
              <a:lnSpc>
                <a:spcPts val="900"/>
              </a:lnSpc>
              <a:buNone/>
            </a:pPr>
            <a:r>
              <a:rPr lang="en-US" sz="727" dirty="0">
                <a:solidFill>
                  <a:srgbClr val="800020"/>
                </a:solidFill>
              </a:rPr>
              <a:t>CPU Scheduling</a:t>
            </a:r>
            <a:endParaRPr lang="en-US" sz="727" dirty="0"/>
          </a:p>
        </p:txBody>
      </p:sp>
      <p:sp>
        <p:nvSpPr>
          <p:cNvPr id="32" name="Shape 15">
            <a:extLst>
              <a:ext uri="{FF2B5EF4-FFF2-40B4-BE49-F238E27FC236}">
                <a16:creationId xmlns:a16="http://schemas.microsoft.com/office/drawing/2014/main" id="{F916F113-6EDC-9BE7-69A4-CB641AD79014}"/>
              </a:ext>
            </a:extLst>
          </p:cNvPr>
          <p:cNvSpPr/>
          <p:nvPr/>
        </p:nvSpPr>
        <p:spPr>
          <a:xfrm>
            <a:off x="6096019" y="1564481"/>
            <a:ext cx="2619384" cy="3286125"/>
          </a:xfrm>
          <a:prstGeom prst="rect">
            <a:avLst/>
          </a:prstGeom>
          <a:solidFill>
            <a:srgbClr val="FFFFFF"/>
          </a:solidFill>
          <a:ln/>
        </p:spPr>
      </p:sp>
      <p:sp>
        <p:nvSpPr>
          <p:cNvPr id="33" name="Shape 16">
            <a:extLst>
              <a:ext uri="{FF2B5EF4-FFF2-40B4-BE49-F238E27FC236}">
                <a16:creationId xmlns:a16="http://schemas.microsoft.com/office/drawing/2014/main" id="{FA75CEC4-F44D-8241-8611-B1D4A526A6E8}"/>
              </a:ext>
            </a:extLst>
          </p:cNvPr>
          <p:cNvSpPr/>
          <p:nvPr/>
        </p:nvSpPr>
        <p:spPr>
          <a:xfrm>
            <a:off x="7119947" y="1850231"/>
            <a:ext cx="571500" cy="571500"/>
          </a:xfrm>
          <a:prstGeom prst="rect">
            <a:avLst/>
          </a:prstGeom>
          <a:solidFill>
            <a:srgbClr val="F0F0F0"/>
          </a:solidFill>
          <a:ln/>
        </p:spPr>
      </p:sp>
      <p:pic>
        <p:nvPicPr>
          <p:cNvPr id="34" name="Image 3" descr="preencoded.png">
            <a:extLst>
              <a:ext uri="{FF2B5EF4-FFF2-40B4-BE49-F238E27FC236}">
                <a16:creationId xmlns:a16="http://schemas.microsoft.com/office/drawing/2014/main" id="{F23DC36A-657A-9FEE-0D21-3B23166372E7}"/>
              </a:ext>
            </a:extLst>
          </p:cNvPr>
          <p:cNvPicPr>
            <a:picLocks noChangeAspect="1"/>
          </p:cNvPicPr>
          <p:nvPr/>
        </p:nvPicPr>
        <p:blipFill>
          <a:blip r:embed="rId5"/>
          <a:stretch>
            <a:fillRect/>
          </a:stretch>
        </p:blipFill>
        <p:spPr>
          <a:xfrm>
            <a:off x="7261036" y="2007394"/>
            <a:ext cx="289322" cy="257175"/>
          </a:xfrm>
          <a:prstGeom prst="rect">
            <a:avLst/>
          </a:prstGeom>
        </p:spPr>
      </p:pic>
      <p:sp>
        <p:nvSpPr>
          <p:cNvPr id="35" name="Text 17">
            <a:extLst>
              <a:ext uri="{FF2B5EF4-FFF2-40B4-BE49-F238E27FC236}">
                <a16:creationId xmlns:a16="http://schemas.microsoft.com/office/drawing/2014/main" id="{0ABAF8F7-C3FB-73DA-377B-B083AB74EDFE}"/>
              </a:ext>
            </a:extLst>
          </p:cNvPr>
          <p:cNvSpPr/>
          <p:nvPr/>
        </p:nvSpPr>
        <p:spPr>
          <a:xfrm>
            <a:off x="6310331" y="2600325"/>
            <a:ext cx="2190759" cy="428625"/>
          </a:xfrm>
          <a:prstGeom prst="rect">
            <a:avLst/>
          </a:prstGeom>
          <a:noFill/>
          <a:ln/>
        </p:spPr>
        <p:txBody>
          <a:bodyPr wrap="square" lIns="0" tIns="0" rIns="0" bIns="0" rtlCol="0" anchor="t">
            <a:spAutoFit/>
          </a:bodyPr>
          <a:lstStyle/>
          <a:p>
            <a:pPr marL="0" indent="0" algn="ctr">
              <a:lnSpc>
                <a:spcPts val="1500"/>
              </a:lnSpc>
              <a:buNone/>
            </a:pPr>
            <a:r>
              <a:rPr lang="en-US" sz="1090" b="1" dirty="0">
                <a:solidFill>
                  <a:srgbClr val="800020"/>
                </a:solidFill>
              </a:rPr>
              <a:t>Administração de Memória</a:t>
            </a:r>
            <a:endParaRPr lang="en-US" sz="1090" dirty="0"/>
          </a:p>
        </p:txBody>
      </p:sp>
      <p:sp>
        <p:nvSpPr>
          <p:cNvPr id="36" name="Text 18">
            <a:extLst>
              <a:ext uri="{FF2B5EF4-FFF2-40B4-BE49-F238E27FC236}">
                <a16:creationId xmlns:a16="http://schemas.microsoft.com/office/drawing/2014/main" id="{40F97338-7DC6-CA9B-50DD-4FA8E49BCC22}"/>
              </a:ext>
            </a:extLst>
          </p:cNvPr>
          <p:cNvSpPr/>
          <p:nvPr/>
        </p:nvSpPr>
        <p:spPr>
          <a:xfrm>
            <a:off x="6310331" y="3171825"/>
            <a:ext cx="2190759" cy="777218"/>
          </a:xfrm>
          <a:prstGeom prst="rect">
            <a:avLst/>
          </a:prstGeom>
          <a:noFill/>
          <a:ln/>
        </p:spPr>
        <p:txBody>
          <a:bodyPr wrap="square" lIns="0" tIns="0" rIns="0" bIns="0" rtlCol="0" anchor="t">
            <a:spAutoFit/>
          </a:bodyPr>
          <a:lstStyle/>
          <a:p>
            <a:pPr marL="0" indent="0" algn="ctr">
              <a:lnSpc>
                <a:spcPts val="1500"/>
              </a:lnSpc>
              <a:buNone/>
            </a:pPr>
            <a:r>
              <a:rPr lang="en-US" sz="888" dirty="0">
                <a:solidFill>
                  <a:srgbClr val="555555"/>
                </a:solidFill>
              </a:rPr>
              <a:t>Analisar os mecanismos de alocação de memória, paginação, segmentação e a implementação de memória virtual.</a:t>
            </a:r>
            <a:endParaRPr lang="en-US" sz="888" dirty="0"/>
          </a:p>
        </p:txBody>
      </p:sp>
      <p:sp>
        <p:nvSpPr>
          <p:cNvPr id="37" name="Shape 19">
            <a:extLst>
              <a:ext uri="{FF2B5EF4-FFF2-40B4-BE49-F238E27FC236}">
                <a16:creationId xmlns:a16="http://schemas.microsoft.com/office/drawing/2014/main" id="{46892683-F86D-279D-BA0E-1466378D4CB6}"/>
              </a:ext>
            </a:extLst>
          </p:cNvPr>
          <p:cNvSpPr/>
          <p:nvPr/>
        </p:nvSpPr>
        <p:spPr>
          <a:xfrm>
            <a:off x="7013935" y="4020480"/>
            <a:ext cx="783552" cy="164306"/>
          </a:xfrm>
          <a:prstGeom prst="rect">
            <a:avLst/>
          </a:prstGeom>
          <a:solidFill>
            <a:srgbClr val="FFF0F0"/>
          </a:solidFill>
          <a:ln/>
        </p:spPr>
      </p:sp>
      <p:sp>
        <p:nvSpPr>
          <p:cNvPr id="38" name="Text 20">
            <a:extLst>
              <a:ext uri="{FF2B5EF4-FFF2-40B4-BE49-F238E27FC236}">
                <a16:creationId xmlns:a16="http://schemas.microsoft.com/office/drawing/2014/main" id="{2ABFECF7-3833-320B-F103-CFFF16DB49EB}"/>
              </a:ext>
            </a:extLst>
          </p:cNvPr>
          <p:cNvSpPr/>
          <p:nvPr/>
        </p:nvSpPr>
        <p:spPr>
          <a:xfrm>
            <a:off x="7013935" y="4020480"/>
            <a:ext cx="783552" cy="164306"/>
          </a:xfrm>
          <a:prstGeom prst="rect">
            <a:avLst/>
          </a:prstGeom>
          <a:noFill/>
          <a:ln/>
        </p:spPr>
        <p:txBody>
          <a:bodyPr wrap="none" lIns="34036" tIns="17018" rIns="34036" bIns="17018" rtlCol="0" anchor="t">
            <a:spAutoFit/>
          </a:bodyPr>
          <a:lstStyle/>
          <a:p>
            <a:pPr marL="0" indent="0" algn="ctr">
              <a:lnSpc>
                <a:spcPts val="900"/>
              </a:lnSpc>
              <a:buNone/>
            </a:pPr>
            <a:r>
              <a:rPr lang="en-US" sz="727" dirty="0">
                <a:solidFill>
                  <a:srgbClr val="800020"/>
                </a:solidFill>
              </a:rPr>
              <a:t>Virtual Memory</a:t>
            </a:r>
            <a:endParaRPr lang="en-US" sz="727" dirty="0"/>
          </a:p>
        </p:txBody>
      </p:sp>
    </p:spTree>
    <p:extLst>
      <p:ext uri="{BB962C8B-B14F-4D97-AF65-F5344CB8AC3E}">
        <p14:creationId xmlns:p14="http://schemas.microsoft.com/office/powerpoint/2010/main" val="3260408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2957413" cy="390235"/>
          </a:xfrm>
          <a:prstGeom prst="rect">
            <a:avLst/>
          </a:prstGeom>
          <a:noFill/>
          <a:ln/>
        </p:spPr>
        <p:txBody>
          <a:bodyPr wrap="none" lIns="0" tIns="0" rIns="0" bIns="0" rtlCol="0" anchor="t">
            <a:spAutoFit/>
          </a:bodyPr>
          <a:lstStyle/>
          <a:p>
            <a:pPr marL="0" indent="0" algn="l">
              <a:lnSpc>
                <a:spcPts val="3200"/>
              </a:lnSpc>
              <a:buNone/>
            </a:pPr>
            <a:r>
              <a:rPr lang="pt-BR" sz="2436" b="1" dirty="0">
                <a:solidFill>
                  <a:srgbClr val="971536"/>
                </a:solidFill>
              </a:rPr>
              <a:t>Objetivos Específicos II</a:t>
            </a:r>
          </a:p>
        </p:txBody>
      </p:sp>
      <p:sp>
        <p:nvSpPr>
          <p:cNvPr id="16" name="Retângulo 15">
            <a:extLst>
              <a:ext uri="{FF2B5EF4-FFF2-40B4-BE49-F238E27FC236}">
                <a16:creationId xmlns:a16="http://schemas.microsoft.com/office/drawing/2014/main" id="{8FD82C73-B0E0-E2EE-E382-7ED9275E04B4}"/>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Shape 3">
            <a:extLst>
              <a:ext uri="{FF2B5EF4-FFF2-40B4-BE49-F238E27FC236}">
                <a16:creationId xmlns:a16="http://schemas.microsoft.com/office/drawing/2014/main" id="{04BA0B44-61CF-96AC-DEDB-33A20F62563D}"/>
              </a:ext>
            </a:extLst>
          </p:cNvPr>
          <p:cNvSpPr/>
          <p:nvPr/>
        </p:nvSpPr>
        <p:spPr>
          <a:xfrm>
            <a:off x="428625" y="1564481"/>
            <a:ext cx="2619384" cy="3286125"/>
          </a:xfrm>
          <a:prstGeom prst="rect">
            <a:avLst/>
          </a:prstGeom>
          <a:solidFill>
            <a:srgbClr val="FFFFFF"/>
          </a:solidFill>
          <a:ln/>
        </p:spPr>
      </p:sp>
      <p:sp>
        <p:nvSpPr>
          <p:cNvPr id="4" name="Shape 4">
            <a:extLst>
              <a:ext uri="{FF2B5EF4-FFF2-40B4-BE49-F238E27FC236}">
                <a16:creationId xmlns:a16="http://schemas.microsoft.com/office/drawing/2014/main" id="{8903140F-0396-7659-448D-AECAB0370E61}"/>
              </a:ext>
            </a:extLst>
          </p:cNvPr>
          <p:cNvSpPr/>
          <p:nvPr/>
        </p:nvSpPr>
        <p:spPr>
          <a:xfrm>
            <a:off x="1452553" y="1850231"/>
            <a:ext cx="571500" cy="571500"/>
          </a:xfrm>
          <a:prstGeom prst="rect">
            <a:avLst/>
          </a:prstGeom>
          <a:solidFill>
            <a:srgbClr val="800020"/>
          </a:solidFill>
          <a:ln/>
        </p:spPr>
      </p:sp>
      <p:pic>
        <p:nvPicPr>
          <p:cNvPr id="5" name="Image 1" descr="preencoded.png">
            <a:extLst>
              <a:ext uri="{FF2B5EF4-FFF2-40B4-BE49-F238E27FC236}">
                <a16:creationId xmlns:a16="http://schemas.microsoft.com/office/drawing/2014/main" id="{DDD02A59-2A53-C96D-494C-A47B83052877}"/>
              </a:ext>
            </a:extLst>
          </p:cNvPr>
          <p:cNvPicPr>
            <a:picLocks noChangeAspect="1"/>
          </p:cNvPicPr>
          <p:nvPr/>
        </p:nvPicPr>
        <p:blipFill>
          <a:blip r:embed="rId3"/>
          <a:stretch>
            <a:fillRect/>
          </a:stretch>
        </p:blipFill>
        <p:spPr>
          <a:xfrm>
            <a:off x="1593642" y="2007394"/>
            <a:ext cx="289322" cy="257175"/>
          </a:xfrm>
          <a:prstGeom prst="rect">
            <a:avLst/>
          </a:prstGeom>
        </p:spPr>
      </p:pic>
      <p:sp>
        <p:nvSpPr>
          <p:cNvPr id="6" name="Text 5">
            <a:extLst>
              <a:ext uri="{FF2B5EF4-FFF2-40B4-BE49-F238E27FC236}">
                <a16:creationId xmlns:a16="http://schemas.microsoft.com/office/drawing/2014/main" id="{956FE75D-2F16-8E88-C9ED-6EEBE346519F}"/>
              </a:ext>
            </a:extLst>
          </p:cNvPr>
          <p:cNvSpPr/>
          <p:nvPr/>
        </p:nvSpPr>
        <p:spPr>
          <a:xfrm>
            <a:off x="642938" y="2636044"/>
            <a:ext cx="2190759"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800020"/>
                </a:solidFill>
              </a:rPr>
              <a:t>Sistemas de Arquivos</a:t>
            </a:r>
            <a:endParaRPr lang="en-US" sz="1090" dirty="0"/>
          </a:p>
        </p:txBody>
      </p:sp>
      <p:sp>
        <p:nvSpPr>
          <p:cNvPr id="7" name="Text 6">
            <a:extLst>
              <a:ext uri="{FF2B5EF4-FFF2-40B4-BE49-F238E27FC236}">
                <a16:creationId xmlns:a16="http://schemas.microsoft.com/office/drawing/2014/main" id="{51DD2B04-B741-751F-2867-DBEFE8CF9BFB}"/>
              </a:ext>
            </a:extLst>
          </p:cNvPr>
          <p:cNvSpPr/>
          <p:nvPr/>
        </p:nvSpPr>
        <p:spPr>
          <a:xfrm>
            <a:off x="642938" y="2993231"/>
            <a:ext cx="2190759"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555555"/>
                </a:solidFill>
              </a:rPr>
              <a:t>Entender a organização lógica e física dos dados em dispositivos de armazenamento secundário.</a:t>
            </a:r>
            <a:endParaRPr lang="en-US" sz="942" dirty="0"/>
          </a:p>
        </p:txBody>
      </p:sp>
      <p:sp>
        <p:nvSpPr>
          <p:cNvPr id="8" name="Shape 7">
            <a:extLst>
              <a:ext uri="{FF2B5EF4-FFF2-40B4-BE49-F238E27FC236}">
                <a16:creationId xmlns:a16="http://schemas.microsoft.com/office/drawing/2014/main" id="{C6E5E8CB-42AC-80FB-4408-F372E10BCC6C}"/>
              </a:ext>
            </a:extLst>
          </p:cNvPr>
          <p:cNvSpPr/>
          <p:nvPr/>
        </p:nvSpPr>
        <p:spPr>
          <a:xfrm>
            <a:off x="1278313" y="3846128"/>
            <a:ext cx="920009" cy="192881"/>
          </a:xfrm>
          <a:prstGeom prst="rect">
            <a:avLst/>
          </a:prstGeom>
          <a:solidFill>
            <a:srgbClr val="F0F0F0"/>
          </a:solidFill>
          <a:ln/>
        </p:spPr>
      </p:sp>
      <p:sp>
        <p:nvSpPr>
          <p:cNvPr id="9" name="Text 8">
            <a:extLst>
              <a:ext uri="{FF2B5EF4-FFF2-40B4-BE49-F238E27FC236}">
                <a16:creationId xmlns:a16="http://schemas.microsoft.com/office/drawing/2014/main" id="{BA8E02AB-0B66-A9BD-C0F6-C8B5F8DB77CF}"/>
              </a:ext>
            </a:extLst>
          </p:cNvPr>
          <p:cNvSpPr/>
          <p:nvPr/>
        </p:nvSpPr>
        <p:spPr>
          <a:xfrm>
            <a:off x="1278313" y="3846128"/>
            <a:ext cx="920009" cy="192881"/>
          </a:xfrm>
          <a:prstGeom prst="rect">
            <a:avLst/>
          </a:prstGeom>
          <a:noFill/>
          <a:ln/>
        </p:spPr>
        <p:txBody>
          <a:bodyPr wrap="square" lIns="68072" tIns="34036" rIns="68072" bIns="34036" rtlCol="0" anchor="t">
            <a:spAutoFit/>
          </a:bodyPr>
          <a:lstStyle/>
          <a:p>
            <a:pPr marL="0" indent="0" algn="ctr">
              <a:lnSpc>
                <a:spcPts val="900"/>
              </a:lnSpc>
              <a:buNone/>
            </a:pPr>
            <a:r>
              <a:rPr lang="en-US" sz="727" dirty="0">
                <a:solidFill>
                  <a:srgbClr val="800020"/>
                </a:solidFill>
              </a:rPr>
              <a:t>I/O Management</a:t>
            </a:r>
            <a:endParaRPr lang="en-US" sz="727" dirty="0"/>
          </a:p>
        </p:txBody>
      </p:sp>
      <p:sp>
        <p:nvSpPr>
          <p:cNvPr id="17" name="Shape 9">
            <a:extLst>
              <a:ext uri="{FF2B5EF4-FFF2-40B4-BE49-F238E27FC236}">
                <a16:creationId xmlns:a16="http://schemas.microsoft.com/office/drawing/2014/main" id="{23FAC370-4459-2FFF-3030-6282A467A974}"/>
              </a:ext>
            </a:extLst>
          </p:cNvPr>
          <p:cNvSpPr/>
          <p:nvPr/>
        </p:nvSpPr>
        <p:spPr>
          <a:xfrm>
            <a:off x="3262322" y="1564481"/>
            <a:ext cx="2619384" cy="3286125"/>
          </a:xfrm>
          <a:prstGeom prst="rect">
            <a:avLst/>
          </a:prstGeom>
          <a:solidFill>
            <a:srgbClr val="FFFFFF"/>
          </a:solidFill>
          <a:ln/>
        </p:spPr>
      </p:sp>
      <p:sp>
        <p:nvSpPr>
          <p:cNvPr id="19" name="Shape 10">
            <a:extLst>
              <a:ext uri="{FF2B5EF4-FFF2-40B4-BE49-F238E27FC236}">
                <a16:creationId xmlns:a16="http://schemas.microsoft.com/office/drawing/2014/main" id="{B058EF06-A409-224A-C646-33EC3A04FD1C}"/>
              </a:ext>
            </a:extLst>
          </p:cNvPr>
          <p:cNvSpPr/>
          <p:nvPr/>
        </p:nvSpPr>
        <p:spPr>
          <a:xfrm>
            <a:off x="4286250" y="1850231"/>
            <a:ext cx="571500" cy="571500"/>
          </a:xfrm>
          <a:prstGeom prst="rect">
            <a:avLst/>
          </a:prstGeom>
          <a:solidFill>
            <a:srgbClr val="800020"/>
          </a:solidFill>
          <a:ln/>
        </p:spPr>
      </p:sp>
      <p:pic>
        <p:nvPicPr>
          <p:cNvPr id="20" name="Image 2" descr="preencoded.png">
            <a:extLst>
              <a:ext uri="{FF2B5EF4-FFF2-40B4-BE49-F238E27FC236}">
                <a16:creationId xmlns:a16="http://schemas.microsoft.com/office/drawing/2014/main" id="{A349AFD5-E1A7-01FB-E7EA-C773FEF3246C}"/>
              </a:ext>
            </a:extLst>
          </p:cNvPr>
          <p:cNvPicPr>
            <a:picLocks noChangeAspect="1"/>
          </p:cNvPicPr>
          <p:nvPr/>
        </p:nvPicPr>
        <p:blipFill>
          <a:blip r:embed="rId4"/>
          <a:stretch>
            <a:fillRect/>
          </a:stretch>
        </p:blipFill>
        <p:spPr>
          <a:xfrm>
            <a:off x="4443413" y="2007394"/>
            <a:ext cx="257175" cy="257175"/>
          </a:xfrm>
          <a:prstGeom prst="rect">
            <a:avLst/>
          </a:prstGeom>
        </p:spPr>
      </p:pic>
      <p:sp>
        <p:nvSpPr>
          <p:cNvPr id="21" name="Text 11">
            <a:extLst>
              <a:ext uri="{FF2B5EF4-FFF2-40B4-BE49-F238E27FC236}">
                <a16:creationId xmlns:a16="http://schemas.microsoft.com/office/drawing/2014/main" id="{3A0F6EE9-236E-93B2-F584-7C184C8F6993}"/>
              </a:ext>
            </a:extLst>
          </p:cNvPr>
          <p:cNvSpPr/>
          <p:nvPr/>
        </p:nvSpPr>
        <p:spPr>
          <a:xfrm>
            <a:off x="3476634" y="2636044"/>
            <a:ext cx="2190759"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800020"/>
                </a:solidFill>
              </a:rPr>
              <a:t>Segurança</a:t>
            </a:r>
            <a:endParaRPr lang="en-US" sz="1090" dirty="0"/>
          </a:p>
        </p:txBody>
      </p:sp>
      <p:sp>
        <p:nvSpPr>
          <p:cNvPr id="23" name="Text 12">
            <a:extLst>
              <a:ext uri="{FF2B5EF4-FFF2-40B4-BE49-F238E27FC236}">
                <a16:creationId xmlns:a16="http://schemas.microsoft.com/office/drawing/2014/main" id="{5B25EE58-F9F4-1898-6242-C25B0A207647}"/>
              </a:ext>
            </a:extLst>
          </p:cNvPr>
          <p:cNvSpPr/>
          <p:nvPr/>
        </p:nvSpPr>
        <p:spPr>
          <a:xfrm>
            <a:off x="3476634" y="2993231"/>
            <a:ext cx="2190759"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555555"/>
                </a:solidFill>
              </a:rPr>
              <a:t>Identificar vulnerabilidades básicas e mecanismos de proteção para garantir a integridade do sistema.</a:t>
            </a:r>
            <a:endParaRPr lang="en-US" sz="942" dirty="0"/>
          </a:p>
        </p:txBody>
      </p:sp>
      <p:sp>
        <p:nvSpPr>
          <p:cNvPr id="24" name="Shape 13">
            <a:extLst>
              <a:ext uri="{FF2B5EF4-FFF2-40B4-BE49-F238E27FC236}">
                <a16:creationId xmlns:a16="http://schemas.microsoft.com/office/drawing/2014/main" id="{D1553E64-12F8-5B32-72BD-2B941AB198D8}"/>
              </a:ext>
            </a:extLst>
          </p:cNvPr>
          <p:cNvSpPr/>
          <p:nvPr/>
        </p:nvSpPr>
        <p:spPr>
          <a:xfrm>
            <a:off x="4172145" y="3846128"/>
            <a:ext cx="799709" cy="192881"/>
          </a:xfrm>
          <a:prstGeom prst="rect">
            <a:avLst/>
          </a:prstGeom>
          <a:solidFill>
            <a:srgbClr val="F0F0F0"/>
          </a:solidFill>
          <a:ln/>
        </p:spPr>
      </p:sp>
      <p:sp>
        <p:nvSpPr>
          <p:cNvPr id="25" name="Text 14">
            <a:extLst>
              <a:ext uri="{FF2B5EF4-FFF2-40B4-BE49-F238E27FC236}">
                <a16:creationId xmlns:a16="http://schemas.microsoft.com/office/drawing/2014/main" id="{C8A0095B-4D0F-80DD-5E76-741F1687525E}"/>
              </a:ext>
            </a:extLst>
          </p:cNvPr>
          <p:cNvSpPr/>
          <p:nvPr/>
        </p:nvSpPr>
        <p:spPr>
          <a:xfrm>
            <a:off x="4172145" y="3846128"/>
            <a:ext cx="799709" cy="192881"/>
          </a:xfrm>
          <a:prstGeom prst="rect">
            <a:avLst/>
          </a:prstGeom>
          <a:noFill/>
          <a:ln/>
        </p:spPr>
        <p:txBody>
          <a:bodyPr wrap="square" lIns="68072" tIns="34036" rIns="68072" bIns="34036" rtlCol="0" anchor="t">
            <a:spAutoFit/>
          </a:bodyPr>
          <a:lstStyle/>
          <a:p>
            <a:pPr marL="0" indent="0" algn="ctr">
              <a:lnSpc>
                <a:spcPts val="900"/>
              </a:lnSpc>
              <a:buNone/>
            </a:pPr>
            <a:r>
              <a:rPr lang="en-US" sz="727" dirty="0">
                <a:solidFill>
                  <a:srgbClr val="800020"/>
                </a:solidFill>
              </a:rPr>
              <a:t>Access Control</a:t>
            </a:r>
            <a:endParaRPr lang="en-US" sz="727" dirty="0"/>
          </a:p>
        </p:txBody>
      </p:sp>
      <p:sp>
        <p:nvSpPr>
          <p:cNvPr id="26" name="Shape 15">
            <a:extLst>
              <a:ext uri="{FF2B5EF4-FFF2-40B4-BE49-F238E27FC236}">
                <a16:creationId xmlns:a16="http://schemas.microsoft.com/office/drawing/2014/main" id="{5A4E9B37-4317-77A8-E92B-E99B17A798ED}"/>
              </a:ext>
            </a:extLst>
          </p:cNvPr>
          <p:cNvSpPr/>
          <p:nvPr/>
        </p:nvSpPr>
        <p:spPr>
          <a:xfrm>
            <a:off x="6096019" y="1564481"/>
            <a:ext cx="2619384" cy="3286125"/>
          </a:xfrm>
          <a:prstGeom prst="rect">
            <a:avLst/>
          </a:prstGeom>
          <a:solidFill>
            <a:srgbClr val="FFFFFF"/>
          </a:solidFill>
          <a:ln/>
        </p:spPr>
      </p:sp>
      <p:sp>
        <p:nvSpPr>
          <p:cNvPr id="27" name="Shape 16">
            <a:extLst>
              <a:ext uri="{FF2B5EF4-FFF2-40B4-BE49-F238E27FC236}">
                <a16:creationId xmlns:a16="http://schemas.microsoft.com/office/drawing/2014/main" id="{44B0458A-3665-CD52-1715-3A89258937E3}"/>
              </a:ext>
            </a:extLst>
          </p:cNvPr>
          <p:cNvSpPr/>
          <p:nvPr/>
        </p:nvSpPr>
        <p:spPr>
          <a:xfrm>
            <a:off x="7119947" y="1850231"/>
            <a:ext cx="571500" cy="571500"/>
          </a:xfrm>
          <a:prstGeom prst="rect">
            <a:avLst/>
          </a:prstGeom>
          <a:solidFill>
            <a:srgbClr val="800020"/>
          </a:solidFill>
          <a:ln/>
        </p:spPr>
      </p:sp>
      <p:pic>
        <p:nvPicPr>
          <p:cNvPr id="28" name="Image 3" descr="preencoded.png">
            <a:extLst>
              <a:ext uri="{FF2B5EF4-FFF2-40B4-BE49-F238E27FC236}">
                <a16:creationId xmlns:a16="http://schemas.microsoft.com/office/drawing/2014/main" id="{DB63A0DD-CB7C-9964-1650-A0F0114D6F51}"/>
              </a:ext>
            </a:extLst>
          </p:cNvPr>
          <p:cNvPicPr>
            <a:picLocks noChangeAspect="1"/>
          </p:cNvPicPr>
          <p:nvPr/>
        </p:nvPicPr>
        <p:blipFill>
          <a:blip r:embed="rId5"/>
          <a:stretch>
            <a:fillRect/>
          </a:stretch>
        </p:blipFill>
        <p:spPr>
          <a:xfrm>
            <a:off x="7277109" y="2007394"/>
            <a:ext cx="257175" cy="257175"/>
          </a:xfrm>
          <a:prstGeom prst="rect">
            <a:avLst/>
          </a:prstGeom>
        </p:spPr>
      </p:pic>
      <p:sp>
        <p:nvSpPr>
          <p:cNvPr id="29" name="Text 17">
            <a:extLst>
              <a:ext uri="{FF2B5EF4-FFF2-40B4-BE49-F238E27FC236}">
                <a16:creationId xmlns:a16="http://schemas.microsoft.com/office/drawing/2014/main" id="{C05C13CC-BF8B-52A2-494B-56107162ED05}"/>
              </a:ext>
            </a:extLst>
          </p:cNvPr>
          <p:cNvSpPr/>
          <p:nvPr/>
        </p:nvSpPr>
        <p:spPr>
          <a:xfrm>
            <a:off x="6310331" y="2636044"/>
            <a:ext cx="2190759"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800020"/>
                </a:solidFill>
              </a:rPr>
              <a:t>Inovação</a:t>
            </a:r>
            <a:endParaRPr lang="en-US" sz="1090" dirty="0"/>
          </a:p>
        </p:txBody>
      </p:sp>
      <p:sp>
        <p:nvSpPr>
          <p:cNvPr id="30" name="Text 18">
            <a:extLst>
              <a:ext uri="{FF2B5EF4-FFF2-40B4-BE49-F238E27FC236}">
                <a16:creationId xmlns:a16="http://schemas.microsoft.com/office/drawing/2014/main" id="{ECA90642-AC65-9FD1-AE40-508739410C20}"/>
              </a:ext>
            </a:extLst>
          </p:cNvPr>
          <p:cNvSpPr/>
          <p:nvPr/>
        </p:nvSpPr>
        <p:spPr>
          <a:xfrm>
            <a:off x="6310331" y="2993231"/>
            <a:ext cx="2190759"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555555"/>
                </a:solidFill>
              </a:rPr>
              <a:t>Explorar tendências modernas como virtualização e containers para infraestruturas escaláveis.</a:t>
            </a:r>
            <a:endParaRPr lang="en-US" sz="942" dirty="0"/>
          </a:p>
        </p:txBody>
      </p:sp>
      <p:sp>
        <p:nvSpPr>
          <p:cNvPr id="31" name="Shape 19">
            <a:extLst>
              <a:ext uri="{FF2B5EF4-FFF2-40B4-BE49-F238E27FC236}">
                <a16:creationId xmlns:a16="http://schemas.microsoft.com/office/drawing/2014/main" id="{32E63C23-C388-B588-B692-FF7D5DD60B42}"/>
              </a:ext>
            </a:extLst>
          </p:cNvPr>
          <p:cNvSpPr/>
          <p:nvPr/>
        </p:nvSpPr>
        <p:spPr>
          <a:xfrm>
            <a:off x="6983211" y="3846128"/>
            <a:ext cx="845000" cy="192881"/>
          </a:xfrm>
          <a:prstGeom prst="rect">
            <a:avLst/>
          </a:prstGeom>
          <a:solidFill>
            <a:srgbClr val="F0F0F0"/>
          </a:solidFill>
          <a:ln/>
        </p:spPr>
      </p:sp>
      <p:sp>
        <p:nvSpPr>
          <p:cNvPr id="32" name="Text 20">
            <a:extLst>
              <a:ext uri="{FF2B5EF4-FFF2-40B4-BE49-F238E27FC236}">
                <a16:creationId xmlns:a16="http://schemas.microsoft.com/office/drawing/2014/main" id="{F6CCAA5C-DFD3-D78D-C999-2497B90F1A51}"/>
              </a:ext>
            </a:extLst>
          </p:cNvPr>
          <p:cNvSpPr/>
          <p:nvPr/>
        </p:nvSpPr>
        <p:spPr>
          <a:xfrm>
            <a:off x="6983211" y="3846128"/>
            <a:ext cx="845000" cy="192881"/>
          </a:xfrm>
          <a:prstGeom prst="rect">
            <a:avLst/>
          </a:prstGeom>
          <a:noFill/>
          <a:ln/>
        </p:spPr>
        <p:txBody>
          <a:bodyPr wrap="square" lIns="68072" tIns="34036" rIns="68072" bIns="34036" rtlCol="0" anchor="t">
            <a:spAutoFit/>
          </a:bodyPr>
          <a:lstStyle/>
          <a:p>
            <a:pPr marL="0" indent="0" algn="ctr">
              <a:lnSpc>
                <a:spcPts val="900"/>
              </a:lnSpc>
              <a:buNone/>
            </a:pPr>
            <a:r>
              <a:rPr lang="en-US" sz="727" dirty="0">
                <a:solidFill>
                  <a:srgbClr val="800020"/>
                </a:solidFill>
              </a:rPr>
              <a:t>Docker &amp; Cloud</a:t>
            </a:r>
            <a:endParaRPr lang="en-US" sz="727" dirty="0"/>
          </a:p>
        </p:txBody>
      </p:sp>
    </p:spTree>
    <p:extLst>
      <p:ext uri="{BB962C8B-B14F-4D97-AF65-F5344CB8AC3E}">
        <p14:creationId xmlns:p14="http://schemas.microsoft.com/office/powerpoint/2010/main" val="2994372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4988482" cy="390235"/>
          </a:xfrm>
          <a:prstGeom prst="rect">
            <a:avLst/>
          </a:prstGeom>
          <a:noFill/>
          <a:ln/>
        </p:spPr>
        <p:txBody>
          <a:bodyPr wrap="none" lIns="0" tIns="0" rIns="0" bIns="0" rtlCol="0" anchor="t">
            <a:spAutoFit/>
          </a:bodyPr>
          <a:lstStyle/>
          <a:p>
            <a:pPr marL="0" indent="0" algn="l">
              <a:lnSpc>
                <a:spcPts val="3200"/>
              </a:lnSpc>
              <a:buNone/>
            </a:pPr>
            <a:r>
              <a:rPr lang="pt-BR" sz="2436" b="1" dirty="0">
                <a:solidFill>
                  <a:srgbClr val="971536"/>
                </a:solidFill>
              </a:rPr>
              <a:t>Unidade I: Fundamentos e Arquitetura</a:t>
            </a:r>
          </a:p>
        </p:txBody>
      </p:sp>
      <p:sp>
        <p:nvSpPr>
          <p:cNvPr id="13" name="Retângulo 12">
            <a:extLst>
              <a:ext uri="{FF2B5EF4-FFF2-40B4-BE49-F238E27FC236}">
                <a16:creationId xmlns:a16="http://schemas.microsoft.com/office/drawing/2014/main" id="{ED15BF93-3E21-ADDB-2BBC-5E4F966ED69F}"/>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Shape 3">
            <a:extLst>
              <a:ext uri="{FF2B5EF4-FFF2-40B4-BE49-F238E27FC236}">
                <a16:creationId xmlns:a16="http://schemas.microsoft.com/office/drawing/2014/main" id="{F45DD4F1-9934-7863-A775-E1BDDAE60162}"/>
              </a:ext>
            </a:extLst>
          </p:cNvPr>
          <p:cNvSpPr/>
          <p:nvPr/>
        </p:nvSpPr>
        <p:spPr>
          <a:xfrm>
            <a:off x="428625" y="1493044"/>
            <a:ext cx="2619384" cy="3214688"/>
          </a:xfrm>
          <a:prstGeom prst="rect">
            <a:avLst/>
          </a:prstGeom>
          <a:solidFill>
            <a:srgbClr val="FFFFFF"/>
          </a:solidFill>
          <a:ln/>
        </p:spPr>
      </p:sp>
      <p:pic>
        <p:nvPicPr>
          <p:cNvPr id="14" name="Image 1" descr="preencoded.png">
            <a:extLst>
              <a:ext uri="{FF2B5EF4-FFF2-40B4-BE49-F238E27FC236}">
                <a16:creationId xmlns:a16="http://schemas.microsoft.com/office/drawing/2014/main" id="{EBDA765B-6239-51C7-56A3-4E5257B452C5}"/>
              </a:ext>
            </a:extLst>
          </p:cNvPr>
          <p:cNvPicPr>
            <a:picLocks noChangeAspect="1"/>
          </p:cNvPicPr>
          <p:nvPr/>
        </p:nvPicPr>
        <p:blipFill>
          <a:blip r:embed="rId3"/>
          <a:stretch>
            <a:fillRect/>
          </a:stretch>
        </p:blipFill>
        <p:spPr>
          <a:xfrm>
            <a:off x="607219" y="1707356"/>
            <a:ext cx="228600" cy="228600"/>
          </a:xfrm>
          <a:prstGeom prst="rect">
            <a:avLst/>
          </a:prstGeom>
        </p:spPr>
      </p:pic>
      <p:sp>
        <p:nvSpPr>
          <p:cNvPr id="15" name="Text 4">
            <a:extLst>
              <a:ext uri="{FF2B5EF4-FFF2-40B4-BE49-F238E27FC236}">
                <a16:creationId xmlns:a16="http://schemas.microsoft.com/office/drawing/2014/main" id="{66ED0BA3-4FC1-8FF3-6F91-B2D3AB4575D1}"/>
              </a:ext>
            </a:extLst>
          </p:cNvPr>
          <p:cNvSpPr/>
          <p:nvPr/>
        </p:nvSpPr>
        <p:spPr>
          <a:xfrm>
            <a:off x="607219" y="2078831"/>
            <a:ext cx="2262197"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800020"/>
                </a:solidFill>
              </a:rPr>
              <a:t>Definições e Evolução</a:t>
            </a:r>
            <a:endParaRPr lang="en-US" sz="1090" dirty="0"/>
          </a:p>
        </p:txBody>
      </p:sp>
      <p:sp>
        <p:nvSpPr>
          <p:cNvPr id="16" name="Text 5">
            <a:extLst>
              <a:ext uri="{FF2B5EF4-FFF2-40B4-BE49-F238E27FC236}">
                <a16:creationId xmlns:a16="http://schemas.microsoft.com/office/drawing/2014/main" id="{9801A0CC-1C42-6686-6559-3F1B42F7D5AB}"/>
              </a:ext>
            </a:extLst>
          </p:cNvPr>
          <p:cNvSpPr/>
          <p:nvPr/>
        </p:nvSpPr>
        <p:spPr>
          <a:xfrm>
            <a:off x="892969" y="2436019"/>
            <a:ext cx="45653" cy="182166"/>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800020"/>
                </a:solidFill>
              </a:rPr>
              <a:t>•</a:t>
            </a:r>
            <a:endParaRPr lang="en-US" sz="834" dirty="0"/>
          </a:p>
        </p:txBody>
      </p:sp>
      <p:sp>
        <p:nvSpPr>
          <p:cNvPr id="17" name="Text 6">
            <a:extLst>
              <a:ext uri="{FF2B5EF4-FFF2-40B4-BE49-F238E27FC236}">
                <a16:creationId xmlns:a16="http://schemas.microsoft.com/office/drawing/2014/main" id="{5E390B4C-C1DF-B084-6BE1-41711B360863}"/>
              </a:ext>
            </a:extLst>
          </p:cNvPr>
          <p:cNvSpPr/>
          <p:nvPr/>
        </p:nvSpPr>
        <p:spPr>
          <a:xfrm>
            <a:off x="1035844" y="2443163"/>
            <a:ext cx="1584238" cy="166092"/>
          </a:xfrm>
          <a:prstGeom prst="rect">
            <a:avLst/>
          </a:prstGeom>
          <a:noFill/>
          <a:ln/>
        </p:spPr>
        <p:txBody>
          <a:bodyPr wrap="none" lIns="0" tIns="0" rIns="0" bIns="0" rtlCol="0" anchor="t">
            <a:spAutoFit/>
          </a:bodyPr>
          <a:lstStyle/>
          <a:p>
            <a:pPr marL="0" indent="0" algn="l">
              <a:lnSpc>
                <a:spcPts val="1400"/>
              </a:lnSpc>
              <a:buNone/>
            </a:pPr>
            <a:r>
              <a:rPr lang="en-US" sz="888" dirty="0">
                <a:solidFill>
                  <a:srgbClr val="333333"/>
                </a:solidFill>
              </a:rPr>
              <a:t>Funções primordiais de um</a:t>
            </a:r>
            <a:endParaRPr lang="en-US" sz="888" dirty="0"/>
          </a:p>
        </p:txBody>
      </p:sp>
      <p:sp>
        <p:nvSpPr>
          <p:cNvPr id="18" name="Shape 7">
            <a:extLst>
              <a:ext uri="{FF2B5EF4-FFF2-40B4-BE49-F238E27FC236}">
                <a16:creationId xmlns:a16="http://schemas.microsoft.com/office/drawing/2014/main" id="{AAF3A0D4-1CFD-7171-0764-4B8254D28606}"/>
              </a:ext>
            </a:extLst>
          </p:cNvPr>
          <p:cNvSpPr/>
          <p:nvPr/>
        </p:nvSpPr>
        <p:spPr>
          <a:xfrm>
            <a:off x="2339773" y="2421137"/>
            <a:ext cx="219280" cy="194667"/>
          </a:xfrm>
          <a:prstGeom prst="rect">
            <a:avLst/>
          </a:prstGeom>
          <a:solidFill>
            <a:srgbClr val="800020">
              <a:alpha val="5000"/>
            </a:srgbClr>
          </a:solidFill>
          <a:ln/>
        </p:spPr>
      </p:sp>
      <p:sp>
        <p:nvSpPr>
          <p:cNvPr id="19" name="Text 8">
            <a:extLst>
              <a:ext uri="{FF2B5EF4-FFF2-40B4-BE49-F238E27FC236}">
                <a16:creationId xmlns:a16="http://schemas.microsoft.com/office/drawing/2014/main" id="{1302BABC-D162-7A3E-8367-8A9AB713BAED}"/>
              </a:ext>
            </a:extLst>
          </p:cNvPr>
          <p:cNvSpPr/>
          <p:nvPr/>
        </p:nvSpPr>
        <p:spPr>
          <a:xfrm>
            <a:off x="2339773" y="2421137"/>
            <a:ext cx="219280" cy="194667"/>
          </a:xfrm>
          <a:prstGeom prst="rect">
            <a:avLst/>
          </a:prstGeom>
          <a:noFill/>
          <a:ln/>
        </p:spPr>
        <p:txBody>
          <a:bodyPr wrap="none" lIns="34036" tIns="17018" rIns="34036" bIns="17018" rtlCol="0" anchor="t">
            <a:spAutoFit/>
          </a:bodyPr>
          <a:lstStyle/>
          <a:p>
            <a:pPr marL="0" indent="0" algn="l">
              <a:lnSpc>
                <a:spcPts val="1400"/>
              </a:lnSpc>
              <a:buNone/>
            </a:pPr>
            <a:r>
              <a:rPr lang="en-US" sz="834" b="1" dirty="0">
                <a:solidFill>
                  <a:srgbClr val="800020"/>
                </a:solidFill>
              </a:rPr>
              <a:t>SO</a:t>
            </a:r>
            <a:endParaRPr lang="en-US" sz="834" dirty="0"/>
          </a:p>
        </p:txBody>
      </p:sp>
      <p:sp>
        <p:nvSpPr>
          <p:cNvPr id="20" name="Text 9">
            <a:extLst>
              <a:ext uri="{FF2B5EF4-FFF2-40B4-BE49-F238E27FC236}">
                <a16:creationId xmlns:a16="http://schemas.microsoft.com/office/drawing/2014/main" id="{E2F39505-427A-8D17-62FB-F60546A1BA4E}"/>
              </a:ext>
            </a:extLst>
          </p:cNvPr>
          <p:cNvSpPr/>
          <p:nvPr/>
        </p:nvSpPr>
        <p:spPr>
          <a:xfrm>
            <a:off x="1035844" y="2625328"/>
            <a:ext cx="1525581" cy="166092"/>
          </a:xfrm>
          <a:prstGeom prst="rect">
            <a:avLst/>
          </a:prstGeom>
          <a:noFill/>
          <a:ln/>
        </p:spPr>
        <p:txBody>
          <a:bodyPr wrap="none" lIns="0" tIns="0" rIns="0" bIns="0" rtlCol="0" anchor="t">
            <a:spAutoFit/>
          </a:bodyPr>
          <a:lstStyle/>
          <a:p>
            <a:pPr marL="0" indent="0" algn="l">
              <a:lnSpc>
                <a:spcPts val="1400"/>
              </a:lnSpc>
              <a:buNone/>
            </a:pPr>
            <a:r>
              <a:rPr lang="en-US" sz="888" dirty="0">
                <a:solidFill>
                  <a:srgbClr val="333333"/>
                </a:solidFill>
              </a:rPr>
              <a:t>como gerente de recursos.</a:t>
            </a:r>
            <a:endParaRPr lang="en-US" sz="888" dirty="0"/>
          </a:p>
        </p:txBody>
      </p:sp>
      <p:sp>
        <p:nvSpPr>
          <p:cNvPr id="21" name="Text 10">
            <a:extLst>
              <a:ext uri="{FF2B5EF4-FFF2-40B4-BE49-F238E27FC236}">
                <a16:creationId xmlns:a16="http://schemas.microsoft.com/office/drawing/2014/main" id="{7419F03F-7B3C-2154-B798-8F44EAAF008C}"/>
              </a:ext>
            </a:extLst>
          </p:cNvPr>
          <p:cNvSpPr/>
          <p:nvPr/>
        </p:nvSpPr>
        <p:spPr>
          <a:xfrm>
            <a:off x="892969" y="2907506"/>
            <a:ext cx="45653" cy="182166"/>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800020"/>
                </a:solidFill>
              </a:rPr>
              <a:t>•</a:t>
            </a:r>
            <a:endParaRPr lang="en-US" sz="834" dirty="0"/>
          </a:p>
        </p:txBody>
      </p:sp>
      <p:sp>
        <p:nvSpPr>
          <p:cNvPr id="22" name="Text 11">
            <a:extLst>
              <a:ext uri="{FF2B5EF4-FFF2-40B4-BE49-F238E27FC236}">
                <a16:creationId xmlns:a16="http://schemas.microsoft.com/office/drawing/2014/main" id="{9AAA4368-0FA8-FD23-F578-66DA21FCEF79}"/>
              </a:ext>
            </a:extLst>
          </p:cNvPr>
          <p:cNvSpPr/>
          <p:nvPr/>
        </p:nvSpPr>
        <p:spPr>
          <a:xfrm>
            <a:off x="1035844" y="2914650"/>
            <a:ext cx="1467427" cy="348258"/>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3333"/>
                </a:solidFill>
              </a:rPr>
              <a:t>Evolução tecnológica: dos sistemas de lote (</a:t>
            </a:r>
            <a:endParaRPr lang="en-US" sz="888" dirty="0"/>
          </a:p>
        </p:txBody>
      </p:sp>
      <p:sp>
        <p:nvSpPr>
          <p:cNvPr id="23" name="Shape 12">
            <a:extLst>
              <a:ext uri="{FF2B5EF4-FFF2-40B4-BE49-F238E27FC236}">
                <a16:creationId xmlns:a16="http://schemas.microsoft.com/office/drawing/2014/main" id="{D32FE732-7B3F-4F0E-9F28-F80FE9D47127}"/>
              </a:ext>
            </a:extLst>
          </p:cNvPr>
          <p:cNvSpPr/>
          <p:nvPr/>
        </p:nvSpPr>
        <p:spPr>
          <a:xfrm>
            <a:off x="2027206" y="3082528"/>
            <a:ext cx="384702" cy="194667"/>
          </a:xfrm>
          <a:prstGeom prst="rect">
            <a:avLst/>
          </a:prstGeom>
          <a:solidFill>
            <a:srgbClr val="800020">
              <a:alpha val="5000"/>
            </a:srgbClr>
          </a:solidFill>
          <a:ln/>
        </p:spPr>
      </p:sp>
      <p:sp>
        <p:nvSpPr>
          <p:cNvPr id="24" name="Text 13">
            <a:extLst>
              <a:ext uri="{FF2B5EF4-FFF2-40B4-BE49-F238E27FC236}">
                <a16:creationId xmlns:a16="http://schemas.microsoft.com/office/drawing/2014/main" id="{BB252631-870A-DA97-BE68-776078CD8D8A}"/>
              </a:ext>
            </a:extLst>
          </p:cNvPr>
          <p:cNvSpPr/>
          <p:nvPr/>
        </p:nvSpPr>
        <p:spPr>
          <a:xfrm>
            <a:off x="2027206" y="3082528"/>
            <a:ext cx="384702" cy="194667"/>
          </a:xfrm>
          <a:prstGeom prst="rect">
            <a:avLst/>
          </a:prstGeom>
          <a:noFill/>
          <a:ln/>
        </p:spPr>
        <p:txBody>
          <a:bodyPr wrap="none" lIns="34036" tIns="17018" rIns="34036" bIns="17018" rtlCol="0" anchor="t">
            <a:spAutoFit/>
          </a:bodyPr>
          <a:lstStyle/>
          <a:p>
            <a:pPr marL="0" indent="0" algn="l">
              <a:lnSpc>
                <a:spcPts val="1400"/>
              </a:lnSpc>
              <a:buNone/>
            </a:pPr>
            <a:r>
              <a:rPr lang="en-US" sz="834" b="1" dirty="0">
                <a:solidFill>
                  <a:srgbClr val="800020"/>
                </a:solidFill>
              </a:rPr>
              <a:t>batch</a:t>
            </a:r>
            <a:endParaRPr lang="en-US" sz="834" dirty="0"/>
          </a:p>
        </p:txBody>
      </p:sp>
      <p:sp>
        <p:nvSpPr>
          <p:cNvPr id="25" name="Text 14">
            <a:extLst>
              <a:ext uri="{FF2B5EF4-FFF2-40B4-BE49-F238E27FC236}">
                <a16:creationId xmlns:a16="http://schemas.microsoft.com/office/drawing/2014/main" id="{1A1A2D1A-4FDB-27AD-7718-FEA617D53AF5}"/>
              </a:ext>
            </a:extLst>
          </p:cNvPr>
          <p:cNvSpPr/>
          <p:nvPr/>
        </p:nvSpPr>
        <p:spPr>
          <a:xfrm>
            <a:off x="1028686" y="3324522"/>
            <a:ext cx="1643872" cy="348258"/>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3333"/>
                </a:solidFill>
              </a:rPr>
              <a:t>) aos sistemas distribuídos.</a:t>
            </a:r>
            <a:endParaRPr lang="en-US" sz="888" dirty="0"/>
          </a:p>
        </p:txBody>
      </p:sp>
      <p:sp>
        <p:nvSpPr>
          <p:cNvPr id="26" name="Text 15">
            <a:extLst>
              <a:ext uri="{FF2B5EF4-FFF2-40B4-BE49-F238E27FC236}">
                <a16:creationId xmlns:a16="http://schemas.microsoft.com/office/drawing/2014/main" id="{808E6ADB-5F36-2312-220E-DA69100536AB}"/>
              </a:ext>
            </a:extLst>
          </p:cNvPr>
          <p:cNvSpPr/>
          <p:nvPr/>
        </p:nvSpPr>
        <p:spPr>
          <a:xfrm>
            <a:off x="892969" y="3561159"/>
            <a:ext cx="45653" cy="182166"/>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800020"/>
                </a:solidFill>
              </a:rPr>
              <a:t>•</a:t>
            </a:r>
            <a:endParaRPr lang="en-US" sz="834" dirty="0"/>
          </a:p>
        </p:txBody>
      </p:sp>
      <p:sp>
        <p:nvSpPr>
          <p:cNvPr id="27" name="Text 16">
            <a:extLst>
              <a:ext uri="{FF2B5EF4-FFF2-40B4-BE49-F238E27FC236}">
                <a16:creationId xmlns:a16="http://schemas.microsoft.com/office/drawing/2014/main" id="{E67D5CAE-A466-91F9-2514-5AA677ED306E}"/>
              </a:ext>
            </a:extLst>
          </p:cNvPr>
          <p:cNvSpPr/>
          <p:nvPr/>
        </p:nvSpPr>
        <p:spPr>
          <a:xfrm>
            <a:off x="1035844" y="3568303"/>
            <a:ext cx="1717095" cy="348258"/>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3333"/>
                </a:solidFill>
              </a:rPr>
              <a:t>Abstração de hardware para o usuário final.</a:t>
            </a:r>
            <a:endParaRPr lang="en-US" sz="888" dirty="0"/>
          </a:p>
        </p:txBody>
      </p:sp>
      <p:sp>
        <p:nvSpPr>
          <p:cNvPr id="28" name="Shape 17">
            <a:extLst>
              <a:ext uri="{FF2B5EF4-FFF2-40B4-BE49-F238E27FC236}">
                <a16:creationId xmlns:a16="http://schemas.microsoft.com/office/drawing/2014/main" id="{D614D141-BA80-8BDF-2F18-7F6013071EDA}"/>
              </a:ext>
            </a:extLst>
          </p:cNvPr>
          <p:cNvSpPr/>
          <p:nvPr/>
        </p:nvSpPr>
        <p:spPr>
          <a:xfrm>
            <a:off x="3262322" y="1493044"/>
            <a:ext cx="2619384" cy="3214688"/>
          </a:xfrm>
          <a:prstGeom prst="rect">
            <a:avLst/>
          </a:prstGeom>
          <a:solidFill>
            <a:srgbClr val="FFFFFF"/>
          </a:solidFill>
          <a:ln/>
        </p:spPr>
      </p:sp>
      <p:pic>
        <p:nvPicPr>
          <p:cNvPr id="29" name="Image 2" descr="preencoded.png">
            <a:extLst>
              <a:ext uri="{FF2B5EF4-FFF2-40B4-BE49-F238E27FC236}">
                <a16:creationId xmlns:a16="http://schemas.microsoft.com/office/drawing/2014/main" id="{1C633F4D-515D-CEB8-3014-207EB82E2000}"/>
              </a:ext>
            </a:extLst>
          </p:cNvPr>
          <p:cNvPicPr>
            <a:picLocks noChangeAspect="1"/>
          </p:cNvPicPr>
          <p:nvPr/>
        </p:nvPicPr>
        <p:blipFill>
          <a:blip r:embed="rId4"/>
          <a:stretch>
            <a:fillRect/>
          </a:stretch>
        </p:blipFill>
        <p:spPr>
          <a:xfrm>
            <a:off x="3440916" y="1707356"/>
            <a:ext cx="257175" cy="228600"/>
          </a:xfrm>
          <a:prstGeom prst="rect">
            <a:avLst/>
          </a:prstGeom>
        </p:spPr>
      </p:pic>
      <p:sp>
        <p:nvSpPr>
          <p:cNvPr id="30" name="Text 18">
            <a:extLst>
              <a:ext uri="{FF2B5EF4-FFF2-40B4-BE49-F238E27FC236}">
                <a16:creationId xmlns:a16="http://schemas.microsoft.com/office/drawing/2014/main" id="{A72EE0C1-8F57-46E8-3CE5-6F2BF0FEF646}"/>
              </a:ext>
            </a:extLst>
          </p:cNvPr>
          <p:cNvSpPr/>
          <p:nvPr/>
        </p:nvSpPr>
        <p:spPr>
          <a:xfrm>
            <a:off x="3440916" y="2078831"/>
            <a:ext cx="2262197"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800020"/>
                </a:solidFill>
              </a:rPr>
              <a:t>Interface do Sistema</a:t>
            </a:r>
            <a:endParaRPr lang="en-US" sz="1090" dirty="0"/>
          </a:p>
        </p:txBody>
      </p:sp>
      <p:sp>
        <p:nvSpPr>
          <p:cNvPr id="31" name="Text 19">
            <a:extLst>
              <a:ext uri="{FF2B5EF4-FFF2-40B4-BE49-F238E27FC236}">
                <a16:creationId xmlns:a16="http://schemas.microsoft.com/office/drawing/2014/main" id="{B3B9D269-C570-2121-8394-B6EBF0A3199B}"/>
              </a:ext>
            </a:extLst>
          </p:cNvPr>
          <p:cNvSpPr/>
          <p:nvPr/>
        </p:nvSpPr>
        <p:spPr>
          <a:xfrm>
            <a:off x="3726666" y="2436019"/>
            <a:ext cx="45653" cy="182166"/>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800020"/>
                </a:solidFill>
              </a:rPr>
              <a:t>•</a:t>
            </a:r>
            <a:endParaRPr lang="en-US" sz="834" dirty="0"/>
          </a:p>
        </p:txBody>
      </p:sp>
      <p:sp>
        <p:nvSpPr>
          <p:cNvPr id="32" name="Text 20">
            <a:extLst>
              <a:ext uri="{FF2B5EF4-FFF2-40B4-BE49-F238E27FC236}">
                <a16:creationId xmlns:a16="http://schemas.microsoft.com/office/drawing/2014/main" id="{FAF0CF91-879A-F2B4-E41F-15234FC09139}"/>
              </a:ext>
            </a:extLst>
          </p:cNvPr>
          <p:cNvSpPr/>
          <p:nvPr/>
        </p:nvSpPr>
        <p:spPr>
          <a:xfrm>
            <a:off x="3869541" y="2443163"/>
            <a:ext cx="656890" cy="166092"/>
          </a:xfrm>
          <a:prstGeom prst="rect">
            <a:avLst/>
          </a:prstGeom>
          <a:noFill/>
          <a:ln/>
        </p:spPr>
        <p:txBody>
          <a:bodyPr wrap="none" lIns="0" tIns="0" rIns="0" bIns="0" rtlCol="0" anchor="t">
            <a:spAutoFit/>
          </a:bodyPr>
          <a:lstStyle/>
          <a:p>
            <a:pPr marL="0" indent="0" algn="l">
              <a:lnSpc>
                <a:spcPts val="1400"/>
              </a:lnSpc>
              <a:buNone/>
            </a:pPr>
            <a:r>
              <a:rPr lang="en-US" sz="888" dirty="0">
                <a:solidFill>
                  <a:srgbClr val="333333"/>
                </a:solidFill>
              </a:rPr>
              <a:t>Estudo das</a:t>
            </a:r>
            <a:endParaRPr lang="en-US" sz="888" dirty="0"/>
          </a:p>
        </p:txBody>
      </p:sp>
      <p:sp>
        <p:nvSpPr>
          <p:cNvPr id="33" name="Shape 21">
            <a:extLst>
              <a:ext uri="{FF2B5EF4-FFF2-40B4-BE49-F238E27FC236}">
                <a16:creationId xmlns:a16="http://schemas.microsoft.com/office/drawing/2014/main" id="{C8E0C7EF-BF7D-E95D-B3A4-6350C888C8FD}"/>
              </a:ext>
            </a:extLst>
          </p:cNvPr>
          <p:cNvSpPr/>
          <p:nvPr/>
        </p:nvSpPr>
        <p:spPr>
          <a:xfrm>
            <a:off x="4526431" y="2428875"/>
            <a:ext cx="780957" cy="194667"/>
          </a:xfrm>
          <a:prstGeom prst="rect">
            <a:avLst/>
          </a:prstGeom>
          <a:solidFill>
            <a:srgbClr val="800020">
              <a:alpha val="5000"/>
            </a:srgbClr>
          </a:solidFill>
          <a:ln/>
        </p:spPr>
      </p:sp>
      <p:sp>
        <p:nvSpPr>
          <p:cNvPr id="34" name="Text 22">
            <a:extLst>
              <a:ext uri="{FF2B5EF4-FFF2-40B4-BE49-F238E27FC236}">
                <a16:creationId xmlns:a16="http://schemas.microsoft.com/office/drawing/2014/main" id="{A91D31D8-3F15-F87D-64E7-3D2EEB522425}"/>
              </a:ext>
            </a:extLst>
          </p:cNvPr>
          <p:cNvSpPr/>
          <p:nvPr/>
        </p:nvSpPr>
        <p:spPr>
          <a:xfrm>
            <a:off x="4526431" y="2428875"/>
            <a:ext cx="780957" cy="194667"/>
          </a:xfrm>
          <a:prstGeom prst="rect">
            <a:avLst/>
          </a:prstGeom>
          <a:noFill/>
          <a:ln/>
        </p:spPr>
        <p:txBody>
          <a:bodyPr wrap="none" lIns="34036" tIns="17018" rIns="34036" bIns="17018" rtlCol="0" anchor="t">
            <a:spAutoFit/>
          </a:bodyPr>
          <a:lstStyle/>
          <a:p>
            <a:pPr marL="0" indent="0" algn="l">
              <a:lnSpc>
                <a:spcPts val="1400"/>
              </a:lnSpc>
              <a:buNone/>
            </a:pPr>
            <a:r>
              <a:rPr lang="en-US" sz="834" b="1" dirty="0">
                <a:solidFill>
                  <a:srgbClr val="800020"/>
                </a:solidFill>
              </a:rPr>
              <a:t>System Calls</a:t>
            </a:r>
            <a:endParaRPr lang="en-US" sz="834" dirty="0"/>
          </a:p>
        </p:txBody>
      </p:sp>
      <p:sp>
        <p:nvSpPr>
          <p:cNvPr id="35" name="Text 23">
            <a:extLst>
              <a:ext uri="{FF2B5EF4-FFF2-40B4-BE49-F238E27FC236}">
                <a16:creationId xmlns:a16="http://schemas.microsoft.com/office/drawing/2014/main" id="{98F37E80-D8A1-D459-8484-14EB43310B5F}"/>
              </a:ext>
            </a:extLst>
          </p:cNvPr>
          <p:cNvSpPr/>
          <p:nvPr/>
        </p:nvSpPr>
        <p:spPr>
          <a:xfrm>
            <a:off x="3869541" y="2625328"/>
            <a:ext cx="1364568" cy="166092"/>
          </a:xfrm>
          <a:prstGeom prst="rect">
            <a:avLst/>
          </a:prstGeom>
          <a:noFill/>
          <a:ln/>
        </p:spPr>
        <p:txBody>
          <a:bodyPr wrap="none" lIns="0" tIns="0" rIns="0" bIns="0" rtlCol="0" anchor="t">
            <a:spAutoFit/>
          </a:bodyPr>
          <a:lstStyle/>
          <a:p>
            <a:pPr marL="0" indent="0" algn="l">
              <a:lnSpc>
                <a:spcPts val="1400"/>
              </a:lnSpc>
              <a:buNone/>
            </a:pPr>
            <a:r>
              <a:rPr lang="en-US" sz="888" dirty="0">
                <a:solidFill>
                  <a:srgbClr val="333333"/>
                </a:solidFill>
              </a:rPr>
              <a:t>(Chamadas de Sistema).</a:t>
            </a:r>
            <a:endParaRPr lang="en-US" sz="888" dirty="0"/>
          </a:p>
        </p:txBody>
      </p:sp>
      <p:sp>
        <p:nvSpPr>
          <p:cNvPr id="36" name="Text 24">
            <a:extLst>
              <a:ext uri="{FF2B5EF4-FFF2-40B4-BE49-F238E27FC236}">
                <a16:creationId xmlns:a16="http://schemas.microsoft.com/office/drawing/2014/main" id="{EAC6C348-01F7-FCBE-74C0-27525169B4D8}"/>
              </a:ext>
            </a:extLst>
          </p:cNvPr>
          <p:cNvSpPr/>
          <p:nvPr/>
        </p:nvSpPr>
        <p:spPr>
          <a:xfrm>
            <a:off x="3726666" y="2907506"/>
            <a:ext cx="45653" cy="182166"/>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800020"/>
                </a:solidFill>
              </a:rPr>
              <a:t>•</a:t>
            </a:r>
            <a:endParaRPr lang="en-US" sz="834" dirty="0"/>
          </a:p>
        </p:txBody>
      </p:sp>
      <p:sp>
        <p:nvSpPr>
          <p:cNvPr id="37" name="Text 25">
            <a:extLst>
              <a:ext uri="{FF2B5EF4-FFF2-40B4-BE49-F238E27FC236}">
                <a16:creationId xmlns:a16="http://schemas.microsoft.com/office/drawing/2014/main" id="{08F5B94B-7989-474E-122A-EFF787CA8BD4}"/>
              </a:ext>
            </a:extLst>
          </p:cNvPr>
          <p:cNvSpPr/>
          <p:nvPr/>
        </p:nvSpPr>
        <p:spPr>
          <a:xfrm>
            <a:off x="3869541" y="2914650"/>
            <a:ext cx="1716621" cy="53042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3333"/>
                </a:solidFill>
              </a:rPr>
              <a:t>A interface fundamental entre processos e o núcleo do sistema.</a:t>
            </a:r>
            <a:endParaRPr lang="en-US" sz="888" dirty="0"/>
          </a:p>
        </p:txBody>
      </p:sp>
      <p:sp>
        <p:nvSpPr>
          <p:cNvPr id="38" name="Text 26">
            <a:extLst>
              <a:ext uri="{FF2B5EF4-FFF2-40B4-BE49-F238E27FC236}">
                <a16:creationId xmlns:a16="http://schemas.microsoft.com/office/drawing/2014/main" id="{21D8565F-D481-4CA0-52F6-A528D72CB8C4}"/>
              </a:ext>
            </a:extLst>
          </p:cNvPr>
          <p:cNvSpPr/>
          <p:nvPr/>
        </p:nvSpPr>
        <p:spPr>
          <a:xfrm>
            <a:off x="3726666" y="3561159"/>
            <a:ext cx="45653" cy="182166"/>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800020"/>
                </a:solidFill>
              </a:rPr>
              <a:t>•</a:t>
            </a:r>
            <a:endParaRPr lang="en-US" sz="834" dirty="0"/>
          </a:p>
        </p:txBody>
      </p:sp>
      <p:sp>
        <p:nvSpPr>
          <p:cNvPr id="39" name="Text 27">
            <a:extLst>
              <a:ext uri="{FF2B5EF4-FFF2-40B4-BE49-F238E27FC236}">
                <a16:creationId xmlns:a16="http://schemas.microsoft.com/office/drawing/2014/main" id="{3063C457-68B2-A1FF-1A9C-3A2D9E7C6203}"/>
              </a:ext>
            </a:extLst>
          </p:cNvPr>
          <p:cNvSpPr/>
          <p:nvPr/>
        </p:nvSpPr>
        <p:spPr>
          <a:xfrm>
            <a:off x="3869541" y="3568303"/>
            <a:ext cx="1821907" cy="348258"/>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3333"/>
                </a:solidFill>
              </a:rPr>
              <a:t>Modos de operação: Usuário vs. Núcleo (</a:t>
            </a:r>
            <a:endParaRPr lang="en-US" sz="888" dirty="0"/>
          </a:p>
        </p:txBody>
      </p:sp>
      <p:sp>
        <p:nvSpPr>
          <p:cNvPr id="40" name="Shape 28">
            <a:extLst>
              <a:ext uri="{FF2B5EF4-FFF2-40B4-BE49-F238E27FC236}">
                <a16:creationId xmlns:a16="http://schemas.microsoft.com/office/drawing/2014/main" id="{EA511293-F0A8-B0A1-EE50-4F0D1D80A0D6}"/>
              </a:ext>
            </a:extLst>
          </p:cNvPr>
          <p:cNvSpPr/>
          <p:nvPr/>
        </p:nvSpPr>
        <p:spPr>
          <a:xfrm>
            <a:off x="3902496" y="3736181"/>
            <a:ext cx="434011" cy="194667"/>
          </a:xfrm>
          <a:prstGeom prst="rect">
            <a:avLst/>
          </a:prstGeom>
          <a:solidFill>
            <a:srgbClr val="800020">
              <a:alpha val="5000"/>
            </a:srgbClr>
          </a:solidFill>
          <a:ln/>
        </p:spPr>
      </p:sp>
      <p:sp>
        <p:nvSpPr>
          <p:cNvPr id="41" name="Text 29">
            <a:extLst>
              <a:ext uri="{FF2B5EF4-FFF2-40B4-BE49-F238E27FC236}">
                <a16:creationId xmlns:a16="http://schemas.microsoft.com/office/drawing/2014/main" id="{729968D7-ACB4-9868-0516-D1C94B2685E0}"/>
              </a:ext>
            </a:extLst>
          </p:cNvPr>
          <p:cNvSpPr/>
          <p:nvPr/>
        </p:nvSpPr>
        <p:spPr>
          <a:xfrm>
            <a:off x="3902496" y="3736181"/>
            <a:ext cx="434011" cy="194667"/>
          </a:xfrm>
          <a:prstGeom prst="rect">
            <a:avLst/>
          </a:prstGeom>
          <a:noFill/>
          <a:ln/>
        </p:spPr>
        <p:txBody>
          <a:bodyPr wrap="none" lIns="34036" tIns="17018" rIns="34036" bIns="17018" rtlCol="0" anchor="t">
            <a:spAutoFit/>
          </a:bodyPr>
          <a:lstStyle/>
          <a:p>
            <a:pPr marL="0" indent="0" algn="l">
              <a:lnSpc>
                <a:spcPts val="1400"/>
              </a:lnSpc>
              <a:buNone/>
            </a:pPr>
            <a:r>
              <a:rPr lang="en-US" sz="834" b="1" dirty="0">
                <a:solidFill>
                  <a:srgbClr val="800020"/>
                </a:solidFill>
              </a:rPr>
              <a:t>Kernel</a:t>
            </a:r>
            <a:endParaRPr lang="en-US" sz="834" dirty="0"/>
          </a:p>
        </p:txBody>
      </p:sp>
      <p:sp>
        <p:nvSpPr>
          <p:cNvPr id="42" name="Text 30">
            <a:extLst>
              <a:ext uri="{FF2B5EF4-FFF2-40B4-BE49-F238E27FC236}">
                <a16:creationId xmlns:a16="http://schemas.microsoft.com/office/drawing/2014/main" id="{D4066613-7529-DBC8-7DA3-CD88163A8DE2}"/>
              </a:ext>
            </a:extLst>
          </p:cNvPr>
          <p:cNvSpPr/>
          <p:nvPr/>
        </p:nvSpPr>
        <p:spPr>
          <a:xfrm>
            <a:off x="4336507" y="3750469"/>
            <a:ext cx="68982" cy="166092"/>
          </a:xfrm>
          <a:prstGeom prst="rect">
            <a:avLst/>
          </a:prstGeom>
          <a:noFill/>
          <a:ln/>
        </p:spPr>
        <p:txBody>
          <a:bodyPr wrap="none" lIns="0" tIns="0" rIns="0" bIns="0" rtlCol="0" anchor="t">
            <a:spAutoFit/>
          </a:bodyPr>
          <a:lstStyle/>
          <a:p>
            <a:pPr marL="0" indent="0" algn="l">
              <a:lnSpc>
                <a:spcPts val="1400"/>
              </a:lnSpc>
              <a:buNone/>
            </a:pPr>
            <a:r>
              <a:rPr lang="en-US" sz="888" dirty="0">
                <a:solidFill>
                  <a:srgbClr val="333333"/>
                </a:solidFill>
              </a:rPr>
              <a:t>).</a:t>
            </a:r>
            <a:endParaRPr lang="en-US" sz="888" dirty="0"/>
          </a:p>
        </p:txBody>
      </p:sp>
      <p:sp>
        <p:nvSpPr>
          <p:cNvPr id="43" name="Shape 31">
            <a:extLst>
              <a:ext uri="{FF2B5EF4-FFF2-40B4-BE49-F238E27FC236}">
                <a16:creationId xmlns:a16="http://schemas.microsoft.com/office/drawing/2014/main" id="{FDE88BD4-0D26-2B5F-663E-42928A67C1D1}"/>
              </a:ext>
            </a:extLst>
          </p:cNvPr>
          <p:cNvSpPr/>
          <p:nvPr/>
        </p:nvSpPr>
        <p:spPr>
          <a:xfrm>
            <a:off x="6096019" y="1493044"/>
            <a:ext cx="2619384" cy="3214688"/>
          </a:xfrm>
          <a:prstGeom prst="rect">
            <a:avLst/>
          </a:prstGeom>
          <a:solidFill>
            <a:srgbClr val="FFFFFF"/>
          </a:solidFill>
          <a:ln/>
        </p:spPr>
      </p:sp>
      <p:pic>
        <p:nvPicPr>
          <p:cNvPr id="44" name="Image 3" descr="preencoded.png">
            <a:extLst>
              <a:ext uri="{FF2B5EF4-FFF2-40B4-BE49-F238E27FC236}">
                <a16:creationId xmlns:a16="http://schemas.microsoft.com/office/drawing/2014/main" id="{7DFB8D64-2082-58BF-AF14-99A82AB5DD96}"/>
              </a:ext>
            </a:extLst>
          </p:cNvPr>
          <p:cNvPicPr>
            <a:picLocks noChangeAspect="1"/>
          </p:cNvPicPr>
          <p:nvPr/>
        </p:nvPicPr>
        <p:blipFill>
          <a:blip r:embed="rId5"/>
          <a:stretch>
            <a:fillRect/>
          </a:stretch>
        </p:blipFill>
        <p:spPr>
          <a:xfrm>
            <a:off x="6274612" y="1707356"/>
            <a:ext cx="285750" cy="228600"/>
          </a:xfrm>
          <a:prstGeom prst="rect">
            <a:avLst/>
          </a:prstGeom>
        </p:spPr>
      </p:pic>
      <p:sp>
        <p:nvSpPr>
          <p:cNvPr id="45" name="Text 32">
            <a:extLst>
              <a:ext uri="{FF2B5EF4-FFF2-40B4-BE49-F238E27FC236}">
                <a16:creationId xmlns:a16="http://schemas.microsoft.com/office/drawing/2014/main" id="{CBD8DE90-C1FF-AD3A-97C3-E6CFA27A3BC0}"/>
              </a:ext>
            </a:extLst>
          </p:cNvPr>
          <p:cNvSpPr/>
          <p:nvPr/>
        </p:nvSpPr>
        <p:spPr>
          <a:xfrm>
            <a:off x="6274612" y="2078831"/>
            <a:ext cx="2262197"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800020"/>
                </a:solidFill>
              </a:rPr>
              <a:t>Estrutura do Kernel</a:t>
            </a:r>
            <a:endParaRPr lang="en-US" sz="1090" dirty="0"/>
          </a:p>
        </p:txBody>
      </p:sp>
      <p:sp>
        <p:nvSpPr>
          <p:cNvPr id="46" name="Text 33">
            <a:extLst>
              <a:ext uri="{FF2B5EF4-FFF2-40B4-BE49-F238E27FC236}">
                <a16:creationId xmlns:a16="http://schemas.microsoft.com/office/drawing/2014/main" id="{967A260C-AA17-D53D-CE08-9CCA04F01144}"/>
              </a:ext>
            </a:extLst>
          </p:cNvPr>
          <p:cNvSpPr/>
          <p:nvPr/>
        </p:nvSpPr>
        <p:spPr>
          <a:xfrm>
            <a:off x="6560362" y="2436019"/>
            <a:ext cx="45653" cy="182166"/>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800020"/>
                </a:solidFill>
              </a:rPr>
              <a:t>•</a:t>
            </a:r>
            <a:endParaRPr lang="en-US" sz="834" dirty="0"/>
          </a:p>
        </p:txBody>
      </p:sp>
      <p:sp>
        <p:nvSpPr>
          <p:cNvPr id="47" name="Text 34">
            <a:extLst>
              <a:ext uri="{FF2B5EF4-FFF2-40B4-BE49-F238E27FC236}">
                <a16:creationId xmlns:a16="http://schemas.microsoft.com/office/drawing/2014/main" id="{B80569C8-04CC-B34D-C32D-45FC86812C4F}"/>
              </a:ext>
            </a:extLst>
          </p:cNvPr>
          <p:cNvSpPr/>
          <p:nvPr/>
        </p:nvSpPr>
        <p:spPr>
          <a:xfrm>
            <a:off x="6703237" y="2443163"/>
            <a:ext cx="743257" cy="166092"/>
          </a:xfrm>
          <a:prstGeom prst="rect">
            <a:avLst/>
          </a:prstGeom>
          <a:noFill/>
          <a:ln/>
        </p:spPr>
        <p:txBody>
          <a:bodyPr wrap="none" lIns="0" tIns="0" rIns="0" bIns="0" rtlCol="0" anchor="t">
            <a:spAutoFit/>
          </a:bodyPr>
          <a:lstStyle/>
          <a:p>
            <a:pPr marL="0" indent="0" algn="l">
              <a:lnSpc>
                <a:spcPts val="1400"/>
              </a:lnSpc>
              <a:buNone/>
            </a:pPr>
            <a:r>
              <a:rPr lang="en-US" sz="888" dirty="0">
                <a:solidFill>
                  <a:srgbClr val="333333"/>
                </a:solidFill>
              </a:rPr>
              <a:t>Arquiteturas</a:t>
            </a:r>
            <a:endParaRPr lang="en-US" sz="888" dirty="0"/>
          </a:p>
        </p:txBody>
      </p:sp>
      <p:sp>
        <p:nvSpPr>
          <p:cNvPr id="48" name="Shape 35">
            <a:extLst>
              <a:ext uri="{FF2B5EF4-FFF2-40B4-BE49-F238E27FC236}">
                <a16:creationId xmlns:a16="http://schemas.microsoft.com/office/drawing/2014/main" id="{06C1A8E9-015D-5125-BBEB-47BFC29617C5}"/>
              </a:ext>
            </a:extLst>
          </p:cNvPr>
          <p:cNvSpPr/>
          <p:nvPr/>
        </p:nvSpPr>
        <p:spPr>
          <a:xfrm>
            <a:off x="7315325" y="2421137"/>
            <a:ext cx="726681" cy="194667"/>
          </a:xfrm>
          <a:prstGeom prst="rect">
            <a:avLst/>
          </a:prstGeom>
          <a:solidFill>
            <a:srgbClr val="800020">
              <a:alpha val="5000"/>
            </a:srgbClr>
          </a:solidFill>
          <a:ln/>
        </p:spPr>
      </p:sp>
      <p:sp>
        <p:nvSpPr>
          <p:cNvPr id="49" name="Text 36">
            <a:extLst>
              <a:ext uri="{FF2B5EF4-FFF2-40B4-BE49-F238E27FC236}">
                <a16:creationId xmlns:a16="http://schemas.microsoft.com/office/drawing/2014/main" id="{7A69A1DD-91EF-46B2-F1D5-E8CE056C84F5}"/>
              </a:ext>
            </a:extLst>
          </p:cNvPr>
          <p:cNvSpPr/>
          <p:nvPr/>
        </p:nvSpPr>
        <p:spPr>
          <a:xfrm>
            <a:off x="7315325" y="2421137"/>
            <a:ext cx="726681" cy="194667"/>
          </a:xfrm>
          <a:prstGeom prst="rect">
            <a:avLst/>
          </a:prstGeom>
          <a:noFill/>
          <a:ln/>
        </p:spPr>
        <p:txBody>
          <a:bodyPr wrap="none" lIns="34036" tIns="17018" rIns="34036" bIns="17018" rtlCol="0" anchor="t">
            <a:spAutoFit/>
          </a:bodyPr>
          <a:lstStyle/>
          <a:p>
            <a:pPr marL="0" indent="0" algn="l">
              <a:lnSpc>
                <a:spcPts val="1400"/>
              </a:lnSpc>
              <a:buNone/>
            </a:pPr>
            <a:r>
              <a:rPr lang="en-US" sz="834" b="1" dirty="0">
                <a:solidFill>
                  <a:srgbClr val="800020"/>
                </a:solidFill>
              </a:rPr>
              <a:t>Monolíticas</a:t>
            </a:r>
            <a:endParaRPr lang="en-US" sz="834" dirty="0"/>
          </a:p>
        </p:txBody>
      </p:sp>
      <p:sp>
        <p:nvSpPr>
          <p:cNvPr id="50" name="Text 37">
            <a:extLst>
              <a:ext uri="{FF2B5EF4-FFF2-40B4-BE49-F238E27FC236}">
                <a16:creationId xmlns:a16="http://schemas.microsoft.com/office/drawing/2014/main" id="{A4D8DB42-9A49-AACE-D843-F9099DF4514C}"/>
              </a:ext>
            </a:extLst>
          </p:cNvPr>
          <p:cNvSpPr/>
          <p:nvPr/>
        </p:nvSpPr>
        <p:spPr>
          <a:xfrm>
            <a:off x="6642686" y="2634019"/>
            <a:ext cx="1727309" cy="348258"/>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3333"/>
                </a:solidFill>
              </a:rPr>
              <a:t>: Desempenho e complexidade.</a:t>
            </a:r>
            <a:endParaRPr lang="en-US" sz="888" dirty="0"/>
          </a:p>
        </p:txBody>
      </p:sp>
      <p:sp>
        <p:nvSpPr>
          <p:cNvPr id="51" name="Text 38">
            <a:extLst>
              <a:ext uri="{FF2B5EF4-FFF2-40B4-BE49-F238E27FC236}">
                <a16:creationId xmlns:a16="http://schemas.microsoft.com/office/drawing/2014/main" id="{949FB7B7-88C6-D60E-F428-62C80CE6F0D9}"/>
              </a:ext>
            </a:extLst>
          </p:cNvPr>
          <p:cNvSpPr/>
          <p:nvPr/>
        </p:nvSpPr>
        <p:spPr>
          <a:xfrm>
            <a:off x="6560362" y="2907506"/>
            <a:ext cx="45653" cy="182166"/>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800020"/>
                </a:solidFill>
              </a:rPr>
              <a:t>•</a:t>
            </a:r>
            <a:endParaRPr lang="en-US" sz="834" dirty="0"/>
          </a:p>
        </p:txBody>
      </p:sp>
      <p:sp>
        <p:nvSpPr>
          <p:cNvPr id="52" name="Shape 39">
            <a:extLst>
              <a:ext uri="{FF2B5EF4-FFF2-40B4-BE49-F238E27FC236}">
                <a16:creationId xmlns:a16="http://schemas.microsoft.com/office/drawing/2014/main" id="{C2996CC1-135E-0115-3BBA-019416F65B3E}"/>
              </a:ext>
            </a:extLst>
          </p:cNvPr>
          <p:cNvSpPr/>
          <p:nvPr/>
        </p:nvSpPr>
        <p:spPr>
          <a:xfrm>
            <a:off x="6703237" y="2900363"/>
            <a:ext cx="811095" cy="194667"/>
          </a:xfrm>
          <a:prstGeom prst="rect">
            <a:avLst/>
          </a:prstGeom>
          <a:solidFill>
            <a:srgbClr val="800020">
              <a:alpha val="5000"/>
            </a:srgbClr>
          </a:solidFill>
          <a:ln/>
        </p:spPr>
      </p:sp>
      <p:sp>
        <p:nvSpPr>
          <p:cNvPr id="53" name="Text 40">
            <a:extLst>
              <a:ext uri="{FF2B5EF4-FFF2-40B4-BE49-F238E27FC236}">
                <a16:creationId xmlns:a16="http://schemas.microsoft.com/office/drawing/2014/main" id="{8A62C4C7-CCA5-280C-4C4D-621AE56E6378}"/>
              </a:ext>
            </a:extLst>
          </p:cNvPr>
          <p:cNvSpPr/>
          <p:nvPr/>
        </p:nvSpPr>
        <p:spPr>
          <a:xfrm>
            <a:off x="6703237" y="2900363"/>
            <a:ext cx="811095" cy="194667"/>
          </a:xfrm>
          <a:prstGeom prst="rect">
            <a:avLst/>
          </a:prstGeom>
          <a:noFill/>
          <a:ln/>
        </p:spPr>
        <p:txBody>
          <a:bodyPr wrap="none" lIns="34036" tIns="17018" rIns="34036" bIns="17018" rtlCol="0" anchor="t">
            <a:spAutoFit/>
          </a:bodyPr>
          <a:lstStyle/>
          <a:p>
            <a:pPr marL="0" indent="0" algn="l">
              <a:lnSpc>
                <a:spcPts val="1400"/>
              </a:lnSpc>
              <a:buNone/>
            </a:pPr>
            <a:r>
              <a:rPr lang="en-US" sz="834" b="1" dirty="0">
                <a:solidFill>
                  <a:srgbClr val="800020"/>
                </a:solidFill>
              </a:rPr>
              <a:t>Microkernels</a:t>
            </a:r>
            <a:endParaRPr lang="en-US" sz="834" dirty="0"/>
          </a:p>
        </p:txBody>
      </p:sp>
      <p:sp>
        <p:nvSpPr>
          <p:cNvPr id="54" name="Text 41">
            <a:extLst>
              <a:ext uri="{FF2B5EF4-FFF2-40B4-BE49-F238E27FC236}">
                <a16:creationId xmlns:a16="http://schemas.microsoft.com/office/drawing/2014/main" id="{0139335A-AEA2-703A-DD31-FB34A4E64404}"/>
              </a:ext>
            </a:extLst>
          </p:cNvPr>
          <p:cNvSpPr/>
          <p:nvPr/>
        </p:nvSpPr>
        <p:spPr>
          <a:xfrm>
            <a:off x="7404133" y="2928937"/>
            <a:ext cx="1775613" cy="348258"/>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3333"/>
                </a:solidFill>
              </a:rPr>
              <a:t>: Modularidade e segurança.</a:t>
            </a:r>
            <a:endParaRPr lang="en-US" sz="888" dirty="0"/>
          </a:p>
        </p:txBody>
      </p:sp>
      <p:sp>
        <p:nvSpPr>
          <p:cNvPr id="55" name="Text 42">
            <a:extLst>
              <a:ext uri="{FF2B5EF4-FFF2-40B4-BE49-F238E27FC236}">
                <a16:creationId xmlns:a16="http://schemas.microsoft.com/office/drawing/2014/main" id="{0B0292F8-9B4F-32FC-74E4-65EB679BD090}"/>
              </a:ext>
            </a:extLst>
          </p:cNvPr>
          <p:cNvSpPr/>
          <p:nvPr/>
        </p:nvSpPr>
        <p:spPr>
          <a:xfrm>
            <a:off x="6560362" y="3378994"/>
            <a:ext cx="45653" cy="182166"/>
          </a:xfrm>
          <a:prstGeom prst="rect">
            <a:avLst/>
          </a:prstGeom>
          <a:noFill/>
          <a:ln/>
        </p:spPr>
        <p:txBody>
          <a:bodyPr wrap="none" lIns="0" tIns="0" rIns="0" bIns="0" rtlCol="0" anchor="t">
            <a:spAutoFit/>
          </a:bodyPr>
          <a:lstStyle/>
          <a:p>
            <a:pPr marL="0" indent="0" algn="l">
              <a:lnSpc>
                <a:spcPts val="1400"/>
              </a:lnSpc>
              <a:buNone/>
            </a:pPr>
            <a:r>
              <a:rPr lang="en-US" sz="834" b="1" dirty="0">
                <a:solidFill>
                  <a:srgbClr val="800020"/>
                </a:solidFill>
              </a:rPr>
              <a:t>•</a:t>
            </a:r>
            <a:endParaRPr lang="en-US" sz="834" dirty="0"/>
          </a:p>
        </p:txBody>
      </p:sp>
      <p:sp>
        <p:nvSpPr>
          <p:cNvPr id="56" name="Text 43">
            <a:extLst>
              <a:ext uri="{FF2B5EF4-FFF2-40B4-BE49-F238E27FC236}">
                <a16:creationId xmlns:a16="http://schemas.microsoft.com/office/drawing/2014/main" id="{5FC9EB12-B5B7-97E7-11BB-D1B20DED98B5}"/>
              </a:ext>
            </a:extLst>
          </p:cNvPr>
          <p:cNvSpPr/>
          <p:nvPr/>
        </p:nvSpPr>
        <p:spPr>
          <a:xfrm>
            <a:off x="6703237" y="3386138"/>
            <a:ext cx="1406091" cy="348258"/>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3333"/>
                </a:solidFill>
              </a:rPr>
              <a:t>Abordagens modernas e sistemas híbridos.</a:t>
            </a:r>
            <a:endParaRPr lang="en-US" sz="88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4768100" cy="390235"/>
          </a:xfrm>
          <a:prstGeom prst="rect">
            <a:avLst/>
          </a:prstGeom>
          <a:noFill/>
          <a:ln/>
        </p:spPr>
        <p:txBody>
          <a:bodyPr wrap="none" lIns="0" tIns="0" rIns="0" bIns="0" rtlCol="0" anchor="t">
            <a:spAutoFit/>
          </a:bodyPr>
          <a:lstStyle/>
          <a:p>
            <a:pPr marL="0" indent="0" algn="l">
              <a:lnSpc>
                <a:spcPts val="3200"/>
              </a:lnSpc>
              <a:buNone/>
            </a:pPr>
            <a:r>
              <a:rPr lang="pt-BR" sz="2436" b="1" dirty="0">
                <a:solidFill>
                  <a:srgbClr val="971536"/>
                </a:solidFill>
              </a:rPr>
              <a:t>Unidade II: Processos e Concorrência</a:t>
            </a:r>
          </a:p>
        </p:txBody>
      </p:sp>
      <p:sp>
        <p:nvSpPr>
          <p:cNvPr id="13" name="Retângulo 12">
            <a:extLst>
              <a:ext uri="{FF2B5EF4-FFF2-40B4-BE49-F238E27FC236}">
                <a16:creationId xmlns:a16="http://schemas.microsoft.com/office/drawing/2014/main" id="{ED15BF93-3E21-ADDB-2BBC-5E4F966ED69F}"/>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Shape 3">
            <a:extLst>
              <a:ext uri="{FF2B5EF4-FFF2-40B4-BE49-F238E27FC236}">
                <a16:creationId xmlns:a16="http://schemas.microsoft.com/office/drawing/2014/main" id="{F45DD4F1-9934-7863-A775-E1BDDAE60162}"/>
              </a:ext>
            </a:extLst>
          </p:cNvPr>
          <p:cNvSpPr/>
          <p:nvPr/>
        </p:nvSpPr>
        <p:spPr>
          <a:xfrm>
            <a:off x="428625" y="1493044"/>
            <a:ext cx="2619384" cy="3214688"/>
          </a:xfrm>
          <a:prstGeom prst="rect">
            <a:avLst/>
          </a:prstGeom>
          <a:solidFill>
            <a:srgbClr val="FFFFFF"/>
          </a:solidFill>
          <a:ln/>
        </p:spPr>
      </p:sp>
      <p:sp>
        <p:nvSpPr>
          <p:cNvPr id="28" name="Shape 17">
            <a:extLst>
              <a:ext uri="{FF2B5EF4-FFF2-40B4-BE49-F238E27FC236}">
                <a16:creationId xmlns:a16="http://schemas.microsoft.com/office/drawing/2014/main" id="{D614D141-BA80-8BDF-2F18-7F6013071EDA}"/>
              </a:ext>
            </a:extLst>
          </p:cNvPr>
          <p:cNvSpPr/>
          <p:nvPr/>
        </p:nvSpPr>
        <p:spPr>
          <a:xfrm>
            <a:off x="3262322" y="1493044"/>
            <a:ext cx="2619384" cy="3214688"/>
          </a:xfrm>
          <a:prstGeom prst="rect">
            <a:avLst/>
          </a:prstGeom>
          <a:solidFill>
            <a:srgbClr val="FFFFFF"/>
          </a:solidFill>
          <a:ln/>
        </p:spPr>
      </p:sp>
      <p:sp>
        <p:nvSpPr>
          <p:cNvPr id="43" name="Shape 31">
            <a:extLst>
              <a:ext uri="{FF2B5EF4-FFF2-40B4-BE49-F238E27FC236}">
                <a16:creationId xmlns:a16="http://schemas.microsoft.com/office/drawing/2014/main" id="{FDE88BD4-0D26-2B5F-663E-42928A67C1D1}"/>
              </a:ext>
            </a:extLst>
          </p:cNvPr>
          <p:cNvSpPr/>
          <p:nvPr/>
        </p:nvSpPr>
        <p:spPr>
          <a:xfrm>
            <a:off x="6096019" y="1493044"/>
            <a:ext cx="2619384" cy="3214688"/>
          </a:xfrm>
          <a:prstGeom prst="rect">
            <a:avLst/>
          </a:prstGeom>
          <a:solidFill>
            <a:srgbClr val="FFFFFF"/>
          </a:solidFill>
          <a:ln/>
        </p:spPr>
      </p:sp>
      <p:sp>
        <p:nvSpPr>
          <p:cNvPr id="4" name="Shape 3">
            <a:extLst>
              <a:ext uri="{FF2B5EF4-FFF2-40B4-BE49-F238E27FC236}">
                <a16:creationId xmlns:a16="http://schemas.microsoft.com/office/drawing/2014/main" id="{52F261BA-24E2-9FC8-C2D7-7583397AC9A1}"/>
              </a:ext>
            </a:extLst>
          </p:cNvPr>
          <p:cNvSpPr/>
          <p:nvPr/>
        </p:nvSpPr>
        <p:spPr>
          <a:xfrm>
            <a:off x="428625" y="1493044"/>
            <a:ext cx="2619384" cy="3429000"/>
          </a:xfrm>
          <a:prstGeom prst="rect">
            <a:avLst/>
          </a:prstGeom>
          <a:solidFill>
            <a:srgbClr val="FFFFFF"/>
          </a:solidFill>
          <a:ln/>
        </p:spPr>
      </p:sp>
      <p:pic>
        <p:nvPicPr>
          <p:cNvPr id="5" name="Image 1" descr="preencoded.png">
            <a:extLst>
              <a:ext uri="{FF2B5EF4-FFF2-40B4-BE49-F238E27FC236}">
                <a16:creationId xmlns:a16="http://schemas.microsoft.com/office/drawing/2014/main" id="{A8633A2D-62E6-DBA9-8B20-B53F6A9B4839}"/>
              </a:ext>
            </a:extLst>
          </p:cNvPr>
          <p:cNvPicPr>
            <a:picLocks noChangeAspect="1"/>
          </p:cNvPicPr>
          <p:nvPr/>
        </p:nvPicPr>
        <p:blipFill>
          <a:blip r:embed="rId3"/>
          <a:stretch>
            <a:fillRect/>
          </a:stretch>
        </p:blipFill>
        <p:spPr>
          <a:xfrm>
            <a:off x="607219" y="1752005"/>
            <a:ext cx="228600" cy="228600"/>
          </a:xfrm>
          <a:prstGeom prst="rect">
            <a:avLst/>
          </a:prstGeom>
        </p:spPr>
      </p:pic>
      <p:sp>
        <p:nvSpPr>
          <p:cNvPr id="6" name="Text 4">
            <a:extLst>
              <a:ext uri="{FF2B5EF4-FFF2-40B4-BE49-F238E27FC236}">
                <a16:creationId xmlns:a16="http://schemas.microsoft.com/office/drawing/2014/main" id="{38180B28-096D-E8F8-C657-850E113198E4}"/>
              </a:ext>
            </a:extLst>
          </p:cNvPr>
          <p:cNvSpPr/>
          <p:nvPr/>
        </p:nvSpPr>
        <p:spPr>
          <a:xfrm>
            <a:off x="607219" y="2162770"/>
            <a:ext cx="2262197" cy="300038"/>
          </a:xfrm>
          <a:prstGeom prst="rect">
            <a:avLst/>
          </a:prstGeom>
          <a:noFill/>
          <a:ln/>
        </p:spPr>
        <p:txBody>
          <a:bodyPr wrap="square" lIns="0" tIns="0" rIns="0" bIns="85090" rtlCol="0" anchor="t">
            <a:spAutoFit/>
          </a:bodyPr>
          <a:lstStyle/>
          <a:p>
            <a:pPr marL="0" indent="0" algn="l">
              <a:lnSpc>
                <a:spcPts val="1500"/>
              </a:lnSpc>
              <a:buNone/>
            </a:pPr>
            <a:r>
              <a:rPr lang="en-US" sz="1090" b="1" dirty="0">
                <a:solidFill>
                  <a:srgbClr val="800020"/>
                </a:solidFill>
              </a:rPr>
              <a:t>Processos e Threads</a:t>
            </a:r>
            <a:endParaRPr lang="en-US" sz="1090" dirty="0"/>
          </a:p>
        </p:txBody>
      </p:sp>
      <p:sp>
        <p:nvSpPr>
          <p:cNvPr id="7" name="Text 5">
            <a:extLst>
              <a:ext uri="{FF2B5EF4-FFF2-40B4-BE49-F238E27FC236}">
                <a16:creationId xmlns:a16="http://schemas.microsoft.com/office/drawing/2014/main" id="{CAF74ED2-0495-C4DB-8D5C-B8612C355268}"/>
              </a:ext>
            </a:extLst>
          </p:cNvPr>
          <p:cNvSpPr/>
          <p:nvPr/>
        </p:nvSpPr>
        <p:spPr>
          <a:xfrm>
            <a:off x="892969" y="2719983"/>
            <a:ext cx="1976447" cy="339998"/>
          </a:xfrm>
          <a:prstGeom prst="rect">
            <a:avLst/>
          </a:prstGeom>
          <a:noFill/>
          <a:ln/>
        </p:spPr>
        <p:txBody>
          <a:bodyPr wrap="square" lIns="0" tIns="0" rIns="0" bIns="0" rtlCol="0" anchor="t">
            <a:spAutoFit/>
          </a:bodyPr>
          <a:lstStyle/>
          <a:p>
            <a:pPr marL="0" indent="0" algn="l">
              <a:lnSpc>
                <a:spcPts val="1300"/>
              </a:lnSpc>
              <a:buNone/>
            </a:pPr>
            <a:r>
              <a:rPr lang="en-US" sz="888" dirty="0">
                <a:solidFill>
                  <a:srgbClr val="333333"/>
                </a:solidFill>
              </a:rPr>
              <a:t>Conceito de processo e estados de execução.</a:t>
            </a:r>
            <a:endParaRPr lang="en-US" sz="888" dirty="0"/>
          </a:p>
        </p:txBody>
      </p:sp>
      <p:sp>
        <p:nvSpPr>
          <p:cNvPr id="8" name="Text 6">
            <a:extLst>
              <a:ext uri="{FF2B5EF4-FFF2-40B4-BE49-F238E27FC236}">
                <a16:creationId xmlns:a16="http://schemas.microsoft.com/office/drawing/2014/main" id="{3285076C-A021-04F8-8E1C-57DCDAD1F25C}"/>
              </a:ext>
            </a:extLst>
          </p:cNvPr>
          <p:cNvSpPr/>
          <p:nvPr/>
        </p:nvSpPr>
        <p:spPr>
          <a:xfrm>
            <a:off x="1010087" y="3167137"/>
            <a:ext cx="529503" cy="339998"/>
          </a:xfrm>
          <a:prstGeom prst="rect">
            <a:avLst/>
          </a:prstGeom>
          <a:noFill/>
          <a:ln/>
        </p:spPr>
        <p:txBody>
          <a:bodyPr wrap="square" lIns="0" tIns="0" rIns="0" bIns="0" rtlCol="0" anchor="t">
            <a:spAutoFit/>
          </a:bodyPr>
          <a:lstStyle/>
          <a:p>
            <a:pPr marL="0" indent="0" algn="l">
              <a:lnSpc>
                <a:spcPts val="1300"/>
              </a:lnSpc>
              <a:buNone/>
            </a:pPr>
            <a:r>
              <a:rPr lang="en-US" sz="888" dirty="0">
                <a:solidFill>
                  <a:srgbClr val="333333"/>
                </a:solidFill>
              </a:rPr>
              <a:t>Estrutura do</a:t>
            </a:r>
            <a:endParaRPr lang="en-US" sz="888" dirty="0"/>
          </a:p>
        </p:txBody>
      </p:sp>
      <p:sp>
        <p:nvSpPr>
          <p:cNvPr id="9" name="Shape 7">
            <a:extLst>
              <a:ext uri="{FF2B5EF4-FFF2-40B4-BE49-F238E27FC236}">
                <a16:creationId xmlns:a16="http://schemas.microsoft.com/office/drawing/2014/main" id="{51DABEEF-ACD5-FEE3-0048-C0E56C96A0EE}"/>
              </a:ext>
            </a:extLst>
          </p:cNvPr>
          <p:cNvSpPr/>
          <p:nvPr/>
        </p:nvSpPr>
        <p:spPr>
          <a:xfrm>
            <a:off x="1539590" y="3167137"/>
            <a:ext cx="263370" cy="167292"/>
          </a:xfrm>
          <a:prstGeom prst="rect">
            <a:avLst/>
          </a:prstGeom>
          <a:solidFill>
            <a:srgbClr val="F8F8F8"/>
          </a:solidFill>
          <a:ln/>
        </p:spPr>
      </p:sp>
      <p:sp>
        <p:nvSpPr>
          <p:cNvPr id="10" name="Text 8">
            <a:extLst>
              <a:ext uri="{FF2B5EF4-FFF2-40B4-BE49-F238E27FC236}">
                <a16:creationId xmlns:a16="http://schemas.microsoft.com/office/drawing/2014/main" id="{AA5898D2-99AE-28EA-9ADC-02A489CC8819}"/>
              </a:ext>
            </a:extLst>
          </p:cNvPr>
          <p:cNvSpPr/>
          <p:nvPr/>
        </p:nvSpPr>
        <p:spPr>
          <a:xfrm>
            <a:off x="1539590" y="3167137"/>
            <a:ext cx="263370" cy="167292"/>
          </a:xfrm>
          <a:prstGeom prst="rect">
            <a:avLst/>
          </a:prstGeom>
          <a:noFill/>
          <a:ln/>
        </p:spPr>
        <p:txBody>
          <a:bodyPr wrap="none" lIns="34036" tIns="8509" rIns="34036" bIns="8509" rtlCol="0" anchor="t">
            <a:spAutoFit/>
          </a:bodyPr>
          <a:lstStyle/>
          <a:p>
            <a:pPr marL="0" indent="0" algn="l">
              <a:lnSpc>
                <a:spcPts val="1200"/>
              </a:lnSpc>
              <a:buNone/>
            </a:pPr>
            <a:r>
              <a:rPr lang="en-US" sz="797" dirty="0">
                <a:solidFill>
                  <a:srgbClr val="800020"/>
                </a:solidFill>
              </a:rPr>
              <a:t>PCB</a:t>
            </a:r>
            <a:endParaRPr lang="en-US" sz="797" dirty="0"/>
          </a:p>
        </p:txBody>
      </p:sp>
      <p:sp>
        <p:nvSpPr>
          <p:cNvPr id="11" name="Text 9">
            <a:extLst>
              <a:ext uri="{FF2B5EF4-FFF2-40B4-BE49-F238E27FC236}">
                <a16:creationId xmlns:a16="http://schemas.microsoft.com/office/drawing/2014/main" id="{06846F3C-D08C-0230-B51F-D75F27E75894}"/>
              </a:ext>
            </a:extLst>
          </p:cNvPr>
          <p:cNvSpPr/>
          <p:nvPr/>
        </p:nvSpPr>
        <p:spPr>
          <a:xfrm>
            <a:off x="1802960" y="3167137"/>
            <a:ext cx="1066456" cy="339998"/>
          </a:xfrm>
          <a:prstGeom prst="rect">
            <a:avLst/>
          </a:prstGeom>
          <a:noFill/>
          <a:ln/>
        </p:spPr>
        <p:txBody>
          <a:bodyPr wrap="square" lIns="0" tIns="0" rIns="0" bIns="0" rtlCol="0" anchor="t">
            <a:spAutoFit/>
          </a:bodyPr>
          <a:lstStyle/>
          <a:p>
            <a:pPr marL="0" indent="0" algn="l">
              <a:lnSpc>
                <a:spcPts val="1300"/>
              </a:lnSpc>
              <a:buNone/>
            </a:pPr>
            <a:r>
              <a:rPr lang="en-US" sz="888" dirty="0">
                <a:solidFill>
                  <a:srgbClr val="333333"/>
                </a:solidFill>
              </a:rPr>
              <a:t>(Bloco de Controle de Processo).</a:t>
            </a:r>
            <a:endParaRPr lang="en-US" sz="888" dirty="0"/>
          </a:p>
        </p:txBody>
      </p:sp>
      <p:sp>
        <p:nvSpPr>
          <p:cNvPr id="12" name="Text 10">
            <a:extLst>
              <a:ext uri="{FF2B5EF4-FFF2-40B4-BE49-F238E27FC236}">
                <a16:creationId xmlns:a16="http://schemas.microsoft.com/office/drawing/2014/main" id="{A74A0066-7526-827F-673C-E8F85B1DDED6}"/>
              </a:ext>
            </a:extLst>
          </p:cNvPr>
          <p:cNvSpPr/>
          <p:nvPr/>
        </p:nvSpPr>
        <p:spPr>
          <a:xfrm>
            <a:off x="1010087" y="3614291"/>
            <a:ext cx="220424" cy="339998"/>
          </a:xfrm>
          <a:prstGeom prst="rect">
            <a:avLst/>
          </a:prstGeom>
          <a:noFill/>
          <a:ln/>
        </p:spPr>
        <p:txBody>
          <a:bodyPr wrap="square" lIns="0" tIns="0" rIns="0" bIns="0" rtlCol="0" anchor="t">
            <a:spAutoFit/>
          </a:bodyPr>
          <a:lstStyle/>
          <a:p>
            <a:pPr marL="0" indent="0" algn="l">
              <a:lnSpc>
                <a:spcPts val="1300"/>
              </a:lnSpc>
              <a:buNone/>
            </a:pPr>
            <a:r>
              <a:rPr lang="en-US" sz="888" dirty="0">
                <a:solidFill>
                  <a:srgbClr val="333333"/>
                </a:solidFill>
              </a:rPr>
              <a:t>Uso de</a:t>
            </a:r>
            <a:endParaRPr lang="en-US" sz="888" dirty="0"/>
          </a:p>
        </p:txBody>
      </p:sp>
      <p:sp>
        <p:nvSpPr>
          <p:cNvPr id="57" name="Shape 11">
            <a:extLst>
              <a:ext uri="{FF2B5EF4-FFF2-40B4-BE49-F238E27FC236}">
                <a16:creationId xmlns:a16="http://schemas.microsoft.com/office/drawing/2014/main" id="{689475A9-DB47-BDC4-FE09-8942337E0AA5}"/>
              </a:ext>
            </a:extLst>
          </p:cNvPr>
          <p:cNvSpPr/>
          <p:nvPr/>
        </p:nvSpPr>
        <p:spPr>
          <a:xfrm>
            <a:off x="1230511" y="3614291"/>
            <a:ext cx="470874" cy="167292"/>
          </a:xfrm>
          <a:prstGeom prst="rect">
            <a:avLst/>
          </a:prstGeom>
          <a:solidFill>
            <a:srgbClr val="F8F8F8"/>
          </a:solidFill>
          <a:ln/>
        </p:spPr>
      </p:sp>
      <p:sp>
        <p:nvSpPr>
          <p:cNvPr id="58" name="Text 12">
            <a:extLst>
              <a:ext uri="{FF2B5EF4-FFF2-40B4-BE49-F238E27FC236}">
                <a16:creationId xmlns:a16="http://schemas.microsoft.com/office/drawing/2014/main" id="{74485CAB-898E-7C1E-9F39-BC30920BBEB2}"/>
              </a:ext>
            </a:extLst>
          </p:cNvPr>
          <p:cNvSpPr/>
          <p:nvPr/>
        </p:nvSpPr>
        <p:spPr>
          <a:xfrm>
            <a:off x="1230511" y="3614291"/>
            <a:ext cx="470874" cy="167292"/>
          </a:xfrm>
          <a:prstGeom prst="rect">
            <a:avLst/>
          </a:prstGeom>
          <a:noFill/>
          <a:ln/>
        </p:spPr>
        <p:txBody>
          <a:bodyPr wrap="none" lIns="34036" tIns="8509" rIns="34036" bIns="8509" rtlCol="0" anchor="t">
            <a:spAutoFit/>
          </a:bodyPr>
          <a:lstStyle/>
          <a:p>
            <a:pPr marL="0" indent="0" algn="l">
              <a:lnSpc>
                <a:spcPts val="1200"/>
              </a:lnSpc>
              <a:buNone/>
            </a:pPr>
            <a:r>
              <a:rPr lang="en-US" sz="797" dirty="0">
                <a:solidFill>
                  <a:srgbClr val="800020"/>
                </a:solidFill>
              </a:rPr>
              <a:t>Threads</a:t>
            </a:r>
            <a:endParaRPr lang="en-US" sz="797" dirty="0"/>
          </a:p>
        </p:txBody>
      </p:sp>
      <p:sp>
        <p:nvSpPr>
          <p:cNvPr id="59" name="Text 13">
            <a:extLst>
              <a:ext uri="{FF2B5EF4-FFF2-40B4-BE49-F238E27FC236}">
                <a16:creationId xmlns:a16="http://schemas.microsoft.com/office/drawing/2014/main" id="{FCFEC786-1832-8488-B60F-D0D5C01A5D86}"/>
              </a:ext>
            </a:extLst>
          </p:cNvPr>
          <p:cNvSpPr/>
          <p:nvPr/>
        </p:nvSpPr>
        <p:spPr>
          <a:xfrm>
            <a:off x="1701385" y="3614291"/>
            <a:ext cx="1168031" cy="679996"/>
          </a:xfrm>
          <a:prstGeom prst="rect">
            <a:avLst/>
          </a:prstGeom>
          <a:noFill/>
          <a:ln/>
        </p:spPr>
        <p:txBody>
          <a:bodyPr wrap="square" lIns="0" tIns="0" rIns="0" bIns="0" rtlCol="0" anchor="t">
            <a:spAutoFit/>
          </a:bodyPr>
          <a:lstStyle/>
          <a:p>
            <a:pPr marL="0" indent="0" algn="l">
              <a:lnSpc>
                <a:spcPts val="1300"/>
              </a:lnSpc>
              <a:buNone/>
            </a:pPr>
            <a:r>
              <a:rPr lang="en-US" sz="888" dirty="0">
                <a:solidFill>
                  <a:srgbClr val="333333"/>
                </a:solidFill>
              </a:rPr>
              <a:t>para ganho de desempenho em aplicações modernas.</a:t>
            </a:r>
            <a:endParaRPr lang="en-US" sz="888" dirty="0"/>
          </a:p>
        </p:txBody>
      </p:sp>
      <p:sp>
        <p:nvSpPr>
          <p:cNvPr id="60" name="Shape 14">
            <a:extLst>
              <a:ext uri="{FF2B5EF4-FFF2-40B4-BE49-F238E27FC236}">
                <a16:creationId xmlns:a16="http://schemas.microsoft.com/office/drawing/2014/main" id="{13F1C7F3-B5DA-0F84-0115-A8DF736A50CD}"/>
              </a:ext>
            </a:extLst>
          </p:cNvPr>
          <p:cNvSpPr/>
          <p:nvPr/>
        </p:nvSpPr>
        <p:spPr>
          <a:xfrm>
            <a:off x="3262322" y="1493044"/>
            <a:ext cx="2619384" cy="3429000"/>
          </a:xfrm>
          <a:prstGeom prst="rect">
            <a:avLst/>
          </a:prstGeom>
          <a:solidFill>
            <a:srgbClr val="FFFFFF"/>
          </a:solidFill>
          <a:ln/>
        </p:spPr>
      </p:sp>
      <p:pic>
        <p:nvPicPr>
          <p:cNvPr id="61" name="Image 2" descr="preencoded.png">
            <a:extLst>
              <a:ext uri="{FF2B5EF4-FFF2-40B4-BE49-F238E27FC236}">
                <a16:creationId xmlns:a16="http://schemas.microsoft.com/office/drawing/2014/main" id="{19C9BCA5-86D2-5438-1B57-12B2194584C4}"/>
              </a:ext>
            </a:extLst>
          </p:cNvPr>
          <p:cNvPicPr>
            <a:picLocks noChangeAspect="1"/>
          </p:cNvPicPr>
          <p:nvPr/>
        </p:nvPicPr>
        <p:blipFill>
          <a:blip r:embed="rId4"/>
          <a:stretch>
            <a:fillRect/>
          </a:stretch>
        </p:blipFill>
        <p:spPr>
          <a:xfrm>
            <a:off x="3440916" y="1752005"/>
            <a:ext cx="228600" cy="228600"/>
          </a:xfrm>
          <a:prstGeom prst="rect">
            <a:avLst/>
          </a:prstGeom>
        </p:spPr>
      </p:pic>
      <p:sp>
        <p:nvSpPr>
          <p:cNvPr id="62" name="Text 15">
            <a:extLst>
              <a:ext uri="{FF2B5EF4-FFF2-40B4-BE49-F238E27FC236}">
                <a16:creationId xmlns:a16="http://schemas.microsoft.com/office/drawing/2014/main" id="{8B49FBA3-A6C7-32BB-93AF-E735EF0E95C5}"/>
              </a:ext>
            </a:extLst>
          </p:cNvPr>
          <p:cNvSpPr/>
          <p:nvPr/>
        </p:nvSpPr>
        <p:spPr>
          <a:xfrm>
            <a:off x="3440916" y="2162770"/>
            <a:ext cx="2262197" cy="300038"/>
          </a:xfrm>
          <a:prstGeom prst="rect">
            <a:avLst/>
          </a:prstGeom>
          <a:noFill/>
          <a:ln/>
        </p:spPr>
        <p:txBody>
          <a:bodyPr wrap="square" lIns="0" tIns="0" rIns="0" bIns="85090" rtlCol="0" anchor="t">
            <a:spAutoFit/>
          </a:bodyPr>
          <a:lstStyle/>
          <a:p>
            <a:pPr marL="0" indent="0" algn="l">
              <a:lnSpc>
                <a:spcPts val="1500"/>
              </a:lnSpc>
              <a:buNone/>
            </a:pPr>
            <a:r>
              <a:rPr lang="en-US" sz="1090" b="1" dirty="0">
                <a:solidFill>
                  <a:srgbClr val="800020"/>
                </a:solidFill>
              </a:rPr>
              <a:t>Escalonamento</a:t>
            </a:r>
            <a:endParaRPr lang="en-US" sz="1090" dirty="0"/>
          </a:p>
        </p:txBody>
      </p:sp>
      <p:sp>
        <p:nvSpPr>
          <p:cNvPr id="63" name="Text 16">
            <a:extLst>
              <a:ext uri="{FF2B5EF4-FFF2-40B4-BE49-F238E27FC236}">
                <a16:creationId xmlns:a16="http://schemas.microsoft.com/office/drawing/2014/main" id="{03DC5E71-43ED-0794-0801-BA07458BCE78}"/>
              </a:ext>
            </a:extLst>
          </p:cNvPr>
          <p:cNvSpPr/>
          <p:nvPr/>
        </p:nvSpPr>
        <p:spPr>
          <a:xfrm>
            <a:off x="3726666" y="2719983"/>
            <a:ext cx="1976447" cy="339998"/>
          </a:xfrm>
          <a:prstGeom prst="rect">
            <a:avLst/>
          </a:prstGeom>
          <a:noFill/>
          <a:ln/>
        </p:spPr>
        <p:txBody>
          <a:bodyPr wrap="square" lIns="0" tIns="0" rIns="0" bIns="0" rtlCol="0" anchor="t">
            <a:spAutoFit/>
          </a:bodyPr>
          <a:lstStyle/>
          <a:p>
            <a:pPr marL="0" indent="0" algn="l">
              <a:lnSpc>
                <a:spcPts val="1300"/>
              </a:lnSpc>
              <a:buNone/>
            </a:pPr>
            <a:r>
              <a:rPr lang="en-US" sz="888" dirty="0">
                <a:solidFill>
                  <a:srgbClr val="333333"/>
                </a:solidFill>
              </a:rPr>
              <a:t>Critérios de escalonamento de CPU.</a:t>
            </a:r>
            <a:endParaRPr lang="en-US" sz="888" dirty="0"/>
          </a:p>
        </p:txBody>
      </p:sp>
      <p:sp>
        <p:nvSpPr>
          <p:cNvPr id="64" name="Text 17">
            <a:extLst>
              <a:ext uri="{FF2B5EF4-FFF2-40B4-BE49-F238E27FC236}">
                <a16:creationId xmlns:a16="http://schemas.microsoft.com/office/drawing/2014/main" id="{FDF7CEE6-D87E-2175-8CA4-EAFD77240424}"/>
              </a:ext>
            </a:extLst>
          </p:cNvPr>
          <p:cNvSpPr/>
          <p:nvPr/>
        </p:nvSpPr>
        <p:spPr>
          <a:xfrm>
            <a:off x="3843784" y="3167137"/>
            <a:ext cx="569463"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333333"/>
                </a:solidFill>
              </a:rPr>
              <a:t>Algoritmo</a:t>
            </a:r>
            <a:endParaRPr lang="en-US" sz="888" dirty="0"/>
          </a:p>
        </p:txBody>
      </p:sp>
      <p:sp>
        <p:nvSpPr>
          <p:cNvPr id="65" name="Shape 18">
            <a:extLst>
              <a:ext uri="{FF2B5EF4-FFF2-40B4-BE49-F238E27FC236}">
                <a16:creationId xmlns:a16="http://schemas.microsoft.com/office/drawing/2014/main" id="{76598754-3D6C-9932-6126-D19F72ECCA5C}"/>
              </a:ext>
            </a:extLst>
          </p:cNvPr>
          <p:cNvSpPr/>
          <p:nvPr/>
        </p:nvSpPr>
        <p:spPr>
          <a:xfrm>
            <a:off x="4413247" y="3167137"/>
            <a:ext cx="718951" cy="167292"/>
          </a:xfrm>
          <a:prstGeom prst="rect">
            <a:avLst/>
          </a:prstGeom>
          <a:solidFill>
            <a:srgbClr val="F8F8F8"/>
          </a:solidFill>
          <a:ln/>
        </p:spPr>
      </p:sp>
      <p:sp>
        <p:nvSpPr>
          <p:cNvPr id="66" name="Text 19">
            <a:extLst>
              <a:ext uri="{FF2B5EF4-FFF2-40B4-BE49-F238E27FC236}">
                <a16:creationId xmlns:a16="http://schemas.microsoft.com/office/drawing/2014/main" id="{C80C4BC5-9D0B-7C93-8AC2-0BDCC3287DC2}"/>
              </a:ext>
            </a:extLst>
          </p:cNvPr>
          <p:cNvSpPr/>
          <p:nvPr/>
        </p:nvSpPr>
        <p:spPr>
          <a:xfrm>
            <a:off x="4413247" y="3167137"/>
            <a:ext cx="718951" cy="167292"/>
          </a:xfrm>
          <a:prstGeom prst="rect">
            <a:avLst/>
          </a:prstGeom>
          <a:noFill/>
          <a:ln/>
        </p:spPr>
        <p:txBody>
          <a:bodyPr wrap="none" lIns="34036" tIns="8509" rIns="34036" bIns="8509" rtlCol="0" anchor="t">
            <a:spAutoFit/>
          </a:bodyPr>
          <a:lstStyle/>
          <a:p>
            <a:pPr marL="0" indent="0" algn="l">
              <a:lnSpc>
                <a:spcPts val="1200"/>
              </a:lnSpc>
              <a:buNone/>
            </a:pPr>
            <a:r>
              <a:rPr lang="en-US" sz="797" dirty="0">
                <a:solidFill>
                  <a:srgbClr val="800020"/>
                </a:solidFill>
              </a:rPr>
              <a:t>Round Robin</a:t>
            </a:r>
            <a:endParaRPr lang="en-US" sz="797" dirty="0"/>
          </a:p>
        </p:txBody>
      </p:sp>
      <p:sp>
        <p:nvSpPr>
          <p:cNvPr id="67" name="Text 20">
            <a:extLst>
              <a:ext uri="{FF2B5EF4-FFF2-40B4-BE49-F238E27FC236}">
                <a16:creationId xmlns:a16="http://schemas.microsoft.com/office/drawing/2014/main" id="{D7A81013-46E0-B23A-1907-E5EA29908B25}"/>
              </a:ext>
            </a:extLst>
          </p:cNvPr>
          <p:cNvSpPr/>
          <p:nvPr/>
        </p:nvSpPr>
        <p:spPr>
          <a:xfrm>
            <a:off x="5132198" y="3167137"/>
            <a:ext cx="544209"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333333"/>
                </a:solidFill>
              </a:rPr>
              <a:t>(Circular).</a:t>
            </a:r>
            <a:endParaRPr lang="en-US" sz="888" dirty="0"/>
          </a:p>
        </p:txBody>
      </p:sp>
      <p:sp>
        <p:nvSpPr>
          <p:cNvPr id="68" name="Text 21">
            <a:extLst>
              <a:ext uri="{FF2B5EF4-FFF2-40B4-BE49-F238E27FC236}">
                <a16:creationId xmlns:a16="http://schemas.microsoft.com/office/drawing/2014/main" id="{1F34751E-339F-3A00-EED4-E3A694AB4C36}"/>
              </a:ext>
            </a:extLst>
          </p:cNvPr>
          <p:cNvSpPr/>
          <p:nvPr/>
        </p:nvSpPr>
        <p:spPr>
          <a:xfrm>
            <a:off x="3843784" y="3444292"/>
            <a:ext cx="1181035" cy="339998"/>
          </a:xfrm>
          <a:prstGeom prst="rect">
            <a:avLst/>
          </a:prstGeom>
          <a:noFill/>
          <a:ln/>
        </p:spPr>
        <p:txBody>
          <a:bodyPr wrap="square" lIns="0" tIns="0" rIns="0" bIns="0" rtlCol="0" anchor="t">
            <a:spAutoFit/>
          </a:bodyPr>
          <a:lstStyle/>
          <a:p>
            <a:pPr marL="0" indent="0" algn="l">
              <a:lnSpc>
                <a:spcPts val="1300"/>
              </a:lnSpc>
              <a:buNone/>
            </a:pPr>
            <a:r>
              <a:rPr lang="en-US" sz="888" dirty="0">
                <a:solidFill>
                  <a:srgbClr val="333333"/>
                </a:solidFill>
              </a:rPr>
              <a:t>Escalonamento baseado em</a:t>
            </a:r>
            <a:endParaRPr lang="en-US" sz="888" dirty="0"/>
          </a:p>
        </p:txBody>
      </p:sp>
      <p:sp>
        <p:nvSpPr>
          <p:cNvPr id="69" name="Shape 22">
            <a:extLst>
              <a:ext uri="{FF2B5EF4-FFF2-40B4-BE49-F238E27FC236}">
                <a16:creationId xmlns:a16="http://schemas.microsoft.com/office/drawing/2014/main" id="{A5F99730-90C8-EAD3-29A4-2B4F7D659F96}"/>
              </a:ext>
            </a:extLst>
          </p:cNvPr>
          <p:cNvSpPr/>
          <p:nvPr/>
        </p:nvSpPr>
        <p:spPr>
          <a:xfrm>
            <a:off x="5024819" y="3444292"/>
            <a:ext cx="645728" cy="167292"/>
          </a:xfrm>
          <a:prstGeom prst="rect">
            <a:avLst/>
          </a:prstGeom>
          <a:solidFill>
            <a:srgbClr val="F8F8F8"/>
          </a:solidFill>
          <a:ln/>
        </p:spPr>
      </p:sp>
      <p:sp>
        <p:nvSpPr>
          <p:cNvPr id="70" name="Text 23">
            <a:extLst>
              <a:ext uri="{FF2B5EF4-FFF2-40B4-BE49-F238E27FC236}">
                <a16:creationId xmlns:a16="http://schemas.microsoft.com/office/drawing/2014/main" id="{E5E0408E-F2A3-8F8C-8EA0-6A604EC00E31}"/>
              </a:ext>
            </a:extLst>
          </p:cNvPr>
          <p:cNvSpPr/>
          <p:nvPr/>
        </p:nvSpPr>
        <p:spPr>
          <a:xfrm>
            <a:off x="5024819" y="3444292"/>
            <a:ext cx="645728" cy="167292"/>
          </a:xfrm>
          <a:prstGeom prst="rect">
            <a:avLst/>
          </a:prstGeom>
          <a:noFill/>
          <a:ln/>
        </p:spPr>
        <p:txBody>
          <a:bodyPr wrap="none" lIns="34036" tIns="8509" rIns="34036" bIns="8509" rtlCol="0" anchor="t">
            <a:spAutoFit/>
          </a:bodyPr>
          <a:lstStyle/>
          <a:p>
            <a:pPr marL="0" indent="0" algn="l">
              <a:lnSpc>
                <a:spcPts val="1200"/>
              </a:lnSpc>
              <a:buNone/>
            </a:pPr>
            <a:r>
              <a:rPr lang="en-US" sz="797" dirty="0">
                <a:solidFill>
                  <a:srgbClr val="800020"/>
                </a:solidFill>
              </a:rPr>
              <a:t>Prioridades</a:t>
            </a:r>
            <a:endParaRPr lang="en-US" sz="797" dirty="0"/>
          </a:p>
        </p:txBody>
      </p:sp>
      <p:sp>
        <p:nvSpPr>
          <p:cNvPr id="71" name="Text 24">
            <a:extLst>
              <a:ext uri="{FF2B5EF4-FFF2-40B4-BE49-F238E27FC236}">
                <a16:creationId xmlns:a16="http://schemas.microsoft.com/office/drawing/2014/main" id="{BBF7097A-D646-B2A4-E387-14694377353C}"/>
              </a:ext>
            </a:extLst>
          </p:cNvPr>
          <p:cNvSpPr/>
          <p:nvPr/>
        </p:nvSpPr>
        <p:spPr>
          <a:xfrm>
            <a:off x="5670547" y="3444292"/>
            <a:ext cx="32565"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333333"/>
                </a:solidFill>
              </a:rPr>
              <a:t>.</a:t>
            </a:r>
            <a:endParaRPr lang="en-US" sz="888" dirty="0"/>
          </a:p>
        </p:txBody>
      </p:sp>
      <p:sp>
        <p:nvSpPr>
          <p:cNvPr id="72" name="Shape 25">
            <a:extLst>
              <a:ext uri="{FF2B5EF4-FFF2-40B4-BE49-F238E27FC236}">
                <a16:creationId xmlns:a16="http://schemas.microsoft.com/office/drawing/2014/main" id="{D84E0737-3EAA-45D1-DD5B-23F17C144686}"/>
              </a:ext>
            </a:extLst>
          </p:cNvPr>
          <p:cNvSpPr/>
          <p:nvPr/>
        </p:nvSpPr>
        <p:spPr>
          <a:xfrm>
            <a:off x="6096019" y="1493044"/>
            <a:ext cx="2619384" cy="3429000"/>
          </a:xfrm>
          <a:prstGeom prst="rect">
            <a:avLst/>
          </a:prstGeom>
          <a:solidFill>
            <a:srgbClr val="FFFFFF"/>
          </a:solidFill>
          <a:ln/>
        </p:spPr>
      </p:sp>
      <p:pic>
        <p:nvPicPr>
          <p:cNvPr id="73" name="Image 3" descr="preencoded.png">
            <a:extLst>
              <a:ext uri="{FF2B5EF4-FFF2-40B4-BE49-F238E27FC236}">
                <a16:creationId xmlns:a16="http://schemas.microsoft.com/office/drawing/2014/main" id="{E6562041-29B4-3F1A-E4EA-1331FB638447}"/>
              </a:ext>
            </a:extLst>
          </p:cNvPr>
          <p:cNvPicPr>
            <a:picLocks noChangeAspect="1"/>
          </p:cNvPicPr>
          <p:nvPr/>
        </p:nvPicPr>
        <p:blipFill>
          <a:blip r:embed="rId5"/>
          <a:stretch>
            <a:fillRect/>
          </a:stretch>
        </p:blipFill>
        <p:spPr>
          <a:xfrm>
            <a:off x="6274612" y="1752005"/>
            <a:ext cx="228600" cy="228600"/>
          </a:xfrm>
          <a:prstGeom prst="rect">
            <a:avLst/>
          </a:prstGeom>
        </p:spPr>
      </p:pic>
      <p:sp>
        <p:nvSpPr>
          <p:cNvPr id="74" name="Text 26">
            <a:extLst>
              <a:ext uri="{FF2B5EF4-FFF2-40B4-BE49-F238E27FC236}">
                <a16:creationId xmlns:a16="http://schemas.microsoft.com/office/drawing/2014/main" id="{3175CD7C-7569-A4FA-C70B-56532415ECDF}"/>
              </a:ext>
            </a:extLst>
          </p:cNvPr>
          <p:cNvSpPr/>
          <p:nvPr/>
        </p:nvSpPr>
        <p:spPr>
          <a:xfrm>
            <a:off x="6274612" y="2162770"/>
            <a:ext cx="2262197" cy="300038"/>
          </a:xfrm>
          <a:prstGeom prst="rect">
            <a:avLst/>
          </a:prstGeom>
          <a:noFill/>
          <a:ln/>
        </p:spPr>
        <p:txBody>
          <a:bodyPr wrap="square" lIns="0" tIns="0" rIns="0" bIns="85090" rtlCol="0" anchor="t">
            <a:spAutoFit/>
          </a:bodyPr>
          <a:lstStyle/>
          <a:p>
            <a:pPr marL="0" indent="0" algn="l">
              <a:lnSpc>
                <a:spcPts val="1500"/>
              </a:lnSpc>
              <a:buNone/>
            </a:pPr>
            <a:r>
              <a:rPr lang="en-US" sz="1090" b="1" dirty="0">
                <a:solidFill>
                  <a:srgbClr val="800020"/>
                </a:solidFill>
              </a:rPr>
              <a:t>Sincronização</a:t>
            </a:r>
            <a:endParaRPr lang="en-US" sz="1090" dirty="0"/>
          </a:p>
        </p:txBody>
      </p:sp>
      <p:sp>
        <p:nvSpPr>
          <p:cNvPr id="75" name="Text 27">
            <a:extLst>
              <a:ext uri="{FF2B5EF4-FFF2-40B4-BE49-F238E27FC236}">
                <a16:creationId xmlns:a16="http://schemas.microsoft.com/office/drawing/2014/main" id="{5E5CEB25-C1E9-FE1E-56F3-DFB2EEEEE73D}"/>
              </a:ext>
            </a:extLst>
          </p:cNvPr>
          <p:cNvSpPr/>
          <p:nvPr/>
        </p:nvSpPr>
        <p:spPr>
          <a:xfrm>
            <a:off x="6560362" y="2719983"/>
            <a:ext cx="1976447" cy="339998"/>
          </a:xfrm>
          <a:prstGeom prst="rect">
            <a:avLst/>
          </a:prstGeom>
          <a:noFill/>
          <a:ln/>
        </p:spPr>
        <p:txBody>
          <a:bodyPr wrap="square" lIns="0" tIns="0" rIns="0" bIns="0" rtlCol="0" anchor="t">
            <a:spAutoFit/>
          </a:bodyPr>
          <a:lstStyle/>
          <a:p>
            <a:pPr marL="0" indent="0" algn="l">
              <a:lnSpc>
                <a:spcPts val="1300"/>
              </a:lnSpc>
              <a:buNone/>
            </a:pPr>
            <a:r>
              <a:rPr lang="en-US" sz="888" dirty="0">
                <a:solidFill>
                  <a:srgbClr val="333333"/>
                </a:solidFill>
              </a:rPr>
              <a:t>Problemas de concorrência e exclusão mútua.</a:t>
            </a:r>
            <a:endParaRPr lang="en-US" sz="888" dirty="0"/>
          </a:p>
        </p:txBody>
      </p:sp>
      <p:sp>
        <p:nvSpPr>
          <p:cNvPr id="76" name="Text 28">
            <a:extLst>
              <a:ext uri="{FF2B5EF4-FFF2-40B4-BE49-F238E27FC236}">
                <a16:creationId xmlns:a16="http://schemas.microsoft.com/office/drawing/2014/main" id="{A1E71B2C-26F9-E48B-8711-EFB51A209FD4}"/>
              </a:ext>
            </a:extLst>
          </p:cNvPr>
          <p:cNvSpPr/>
          <p:nvPr/>
        </p:nvSpPr>
        <p:spPr>
          <a:xfrm>
            <a:off x="6677481" y="3167137"/>
            <a:ext cx="1072958"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333333"/>
                </a:solidFill>
              </a:rPr>
              <a:t>Implementação de</a:t>
            </a:r>
            <a:endParaRPr lang="en-US" sz="888" dirty="0"/>
          </a:p>
        </p:txBody>
      </p:sp>
      <p:sp>
        <p:nvSpPr>
          <p:cNvPr id="77" name="Shape 29">
            <a:extLst>
              <a:ext uri="{FF2B5EF4-FFF2-40B4-BE49-F238E27FC236}">
                <a16:creationId xmlns:a16="http://schemas.microsoft.com/office/drawing/2014/main" id="{995FF0A5-E31B-1A02-31C2-387DF1C57193}"/>
              </a:ext>
            </a:extLst>
          </p:cNvPr>
          <p:cNvSpPr/>
          <p:nvPr/>
        </p:nvSpPr>
        <p:spPr>
          <a:xfrm>
            <a:off x="7750439" y="3167137"/>
            <a:ext cx="607386" cy="167292"/>
          </a:xfrm>
          <a:prstGeom prst="rect">
            <a:avLst/>
          </a:prstGeom>
          <a:solidFill>
            <a:srgbClr val="F8F8F8"/>
          </a:solidFill>
          <a:ln/>
        </p:spPr>
      </p:sp>
      <p:sp>
        <p:nvSpPr>
          <p:cNvPr id="78" name="Text 30">
            <a:extLst>
              <a:ext uri="{FF2B5EF4-FFF2-40B4-BE49-F238E27FC236}">
                <a16:creationId xmlns:a16="http://schemas.microsoft.com/office/drawing/2014/main" id="{5DA631BD-2154-92FB-61FC-7187AE45E5CB}"/>
              </a:ext>
            </a:extLst>
          </p:cNvPr>
          <p:cNvSpPr/>
          <p:nvPr/>
        </p:nvSpPr>
        <p:spPr>
          <a:xfrm>
            <a:off x="7750439" y="3167137"/>
            <a:ext cx="607386" cy="167292"/>
          </a:xfrm>
          <a:prstGeom prst="rect">
            <a:avLst/>
          </a:prstGeom>
          <a:noFill/>
          <a:ln/>
        </p:spPr>
        <p:txBody>
          <a:bodyPr wrap="none" lIns="34036" tIns="8509" rIns="34036" bIns="8509" rtlCol="0" anchor="t">
            <a:spAutoFit/>
          </a:bodyPr>
          <a:lstStyle/>
          <a:p>
            <a:pPr marL="0" indent="0" algn="l">
              <a:lnSpc>
                <a:spcPts val="1200"/>
              </a:lnSpc>
              <a:buNone/>
            </a:pPr>
            <a:r>
              <a:rPr lang="en-US" sz="797" dirty="0">
                <a:solidFill>
                  <a:srgbClr val="800020"/>
                </a:solidFill>
              </a:rPr>
              <a:t>Semáforos</a:t>
            </a:r>
            <a:endParaRPr lang="en-US" sz="797" dirty="0"/>
          </a:p>
        </p:txBody>
      </p:sp>
      <p:sp>
        <p:nvSpPr>
          <p:cNvPr id="79" name="Text 31">
            <a:extLst>
              <a:ext uri="{FF2B5EF4-FFF2-40B4-BE49-F238E27FC236}">
                <a16:creationId xmlns:a16="http://schemas.microsoft.com/office/drawing/2014/main" id="{84D0024E-A009-FD15-A52B-13223FA7E3D3}"/>
              </a:ext>
            </a:extLst>
          </p:cNvPr>
          <p:cNvSpPr/>
          <p:nvPr/>
        </p:nvSpPr>
        <p:spPr>
          <a:xfrm>
            <a:off x="8357825" y="3167137"/>
            <a:ext cx="32565"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333333"/>
                </a:solidFill>
              </a:rPr>
              <a:t>.</a:t>
            </a:r>
            <a:endParaRPr lang="en-US" sz="888" dirty="0"/>
          </a:p>
        </p:txBody>
      </p:sp>
      <p:sp>
        <p:nvSpPr>
          <p:cNvPr id="80" name="Text 32">
            <a:extLst>
              <a:ext uri="{FF2B5EF4-FFF2-40B4-BE49-F238E27FC236}">
                <a16:creationId xmlns:a16="http://schemas.microsoft.com/office/drawing/2014/main" id="{BC7CA950-986E-E481-01C0-443B1833AF19}"/>
              </a:ext>
            </a:extLst>
          </p:cNvPr>
          <p:cNvSpPr/>
          <p:nvPr/>
        </p:nvSpPr>
        <p:spPr>
          <a:xfrm>
            <a:off x="6677481" y="3444292"/>
            <a:ext cx="1294581" cy="509997"/>
          </a:xfrm>
          <a:prstGeom prst="rect">
            <a:avLst/>
          </a:prstGeom>
          <a:noFill/>
          <a:ln/>
        </p:spPr>
        <p:txBody>
          <a:bodyPr wrap="square" lIns="0" tIns="0" rIns="0" bIns="0" rtlCol="0" anchor="t">
            <a:spAutoFit/>
          </a:bodyPr>
          <a:lstStyle/>
          <a:p>
            <a:pPr marL="0" indent="0" algn="l">
              <a:lnSpc>
                <a:spcPts val="1300"/>
              </a:lnSpc>
              <a:buNone/>
            </a:pPr>
            <a:r>
              <a:rPr lang="en-US" sz="888" dirty="0">
                <a:solidFill>
                  <a:srgbClr val="333333"/>
                </a:solidFill>
              </a:rPr>
              <a:t>Estratégias para evitar ou resolver situações de</a:t>
            </a:r>
            <a:endParaRPr lang="en-US" sz="888" dirty="0"/>
          </a:p>
        </p:txBody>
      </p:sp>
      <p:sp>
        <p:nvSpPr>
          <p:cNvPr id="81" name="Shape 33">
            <a:extLst>
              <a:ext uri="{FF2B5EF4-FFF2-40B4-BE49-F238E27FC236}">
                <a16:creationId xmlns:a16="http://schemas.microsoft.com/office/drawing/2014/main" id="{2A27AF9B-8F2A-30D7-AD78-B36CD162F2AF}"/>
              </a:ext>
            </a:extLst>
          </p:cNvPr>
          <p:cNvSpPr/>
          <p:nvPr/>
        </p:nvSpPr>
        <p:spPr>
          <a:xfrm>
            <a:off x="7972062" y="3444292"/>
            <a:ext cx="532181" cy="167292"/>
          </a:xfrm>
          <a:prstGeom prst="rect">
            <a:avLst/>
          </a:prstGeom>
          <a:solidFill>
            <a:srgbClr val="F8F8F8"/>
          </a:solidFill>
          <a:ln/>
        </p:spPr>
      </p:sp>
      <p:sp>
        <p:nvSpPr>
          <p:cNvPr id="82" name="Text 34">
            <a:extLst>
              <a:ext uri="{FF2B5EF4-FFF2-40B4-BE49-F238E27FC236}">
                <a16:creationId xmlns:a16="http://schemas.microsoft.com/office/drawing/2014/main" id="{39275C85-1FF3-7EDA-B10A-F5C606BA9CAB}"/>
              </a:ext>
            </a:extLst>
          </p:cNvPr>
          <p:cNvSpPr/>
          <p:nvPr/>
        </p:nvSpPr>
        <p:spPr>
          <a:xfrm>
            <a:off x="7972062" y="3444292"/>
            <a:ext cx="532181" cy="167292"/>
          </a:xfrm>
          <a:prstGeom prst="rect">
            <a:avLst/>
          </a:prstGeom>
          <a:noFill/>
          <a:ln/>
        </p:spPr>
        <p:txBody>
          <a:bodyPr wrap="none" lIns="34036" tIns="8509" rIns="34036" bIns="8509" rtlCol="0" anchor="t">
            <a:spAutoFit/>
          </a:bodyPr>
          <a:lstStyle/>
          <a:p>
            <a:pPr marL="0" indent="0" algn="l">
              <a:lnSpc>
                <a:spcPts val="1200"/>
              </a:lnSpc>
              <a:buNone/>
            </a:pPr>
            <a:r>
              <a:rPr lang="en-US" sz="797" dirty="0">
                <a:solidFill>
                  <a:srgbClr val="800020"/>
                </a:solidFill>
              </a:rPr>
              <a:t>Deadlock</a:t>
            </a:r>
            <a:endParaRPr lang="en-US" sz="797" dirty="0"/>
          </a:p>
        </p:txBody>
      </p:sp>
      <p:sp>
        <p:nvSpPr>
          <p:cNvPr id="83" name="Text 35">
            <a:extLst>
              <a:ext uri="{FF2B5EF4-FFF2-40B4-BE49-F238E27FC236}">
                <a16:creationId xmlns:a16="http://schemas.microsoft.com/office/drawing/2014/main" id="{3BF1687D-F11E-1F22-44FD-572D466B50E9}"/>
              </a:ext>
            </a:extLst>
          </p:cNvPr>
          <p:cNvSpPr/>
          <p:nvPr/>
        </p:nvSpPr>
        <p:spPr>
          <a:xfrm>
            <a:off x="8504244" y="3444292"/>
            <a:ext cx="32565" cy="169999"/>
          </a:xfrm>
          <a:prstGeom prst="rect">
            <a:avLst/>
          </a:prstGeom>
          <a:noFill/>
          <a:ln/>
        </p:spPr>
        <p:txBody>
          <a:bodyPr wrap="none" lIns="0" tIns="0" rIns="0" bIns="0" rtlCol="0" anchor="t">
            <a:spAutoFit/>
          </a:bodyPr>
          <a:lstStyle/>
          <a:p>
            <a:pPr marL="0" indent="0" algn="l">
              <a:lnSpc>
                <a:spcPts val="1300"/>
              </a:lnSpc>
              <a:buNone/>
            </a:pPr>
            <a:r>
              <a:rPr lang="en-US" sz="888" dirty="0">
                <a:solidFill>
                  <a:srgbClr val="333333"/>
                </a:solidFill>
              </a:rPr>
              <a:t>.</a:t>
            </a:r>
            <a:endParaRPr lang="en-US" sz="888" dirty="0"/>
          </a:p>
        </p:txBody>
      </p:sp>
    </p:spTree>
    <p:extLst>
      <p:ext uri="{BB962C8B-B14F-4D97-AF65-F5344CB8AC3E}">
        <p14:creationId xmlns:p14="http://schemas.microsoft.com/office/powerpoint/2010/main" val="4175369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5223674" cy="390235"/>
          </a:xfrm>
          <a:prstGeom prst="rect">
            <a:avLst/>
          </a:prstGeom>
          <a:noFill/>
          <a:ln/>
        </p:spPr>
        <p:txBody>
          <a:bodyPr wrap="none" lIns="0" tIns="0" rIns="0" bIns="0" rtlCol="0" anchor="t">
            <a:spAutoFit/>
          </a:bodyPr>
          <a:lstStyle/>
          <a:p>
            <a:pPr marL="0" indent="0" algn="l">
              <a:lnSpc>
                <a:spcPts val="3200"/>
              </a:lnSpc>
              <a:buNone/>
            </a:pPr>
            <a:r>
              <a:rPr lang="pt-BR" sz="2436" b="1" dirty="0">
                <a:solidFill>
                  <a:srgbClr val="971536"/>
                </a:solidFill>
              </a:rPr>
              <a:t>Unidade III: Memória e Armazenamento</a:t>
            </a:r>
          </a:p>
        </p:txBody>
      </p:sp>
      <p:sp>
        <p:nvSpPr>
          <p:cNvPr id="13" name="Retângulo 12">
            <a:extLst>
              <a:ext uri="{FF2B5EF4-FFF2-40B4-BE49-F238E27FC236}">
                <a16:creationId xmlns:a16="http://schemas.microsoft.com/office/drawing/2014/main" id="{ED15BF93-3E21-ADDB-2BBC-5E4F966ED69F}"/>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Shape 3">
            <a:extLst>
              <a:ext uri="{FF2B5EF4-FFF2-40B4-BE49-F238E27FC236}">
                <a16:creationId xmlns:a16="http://schemas.microsoft.com/office/drawing/2014/main" id="{B3DAF0B9-528C-0E38-883C-C4771264E01B}"/>
              </a:ext>
            </a:extLst>
          </p:cNvPr>
          <p:cNvSpPr/>
          <p:nvPr/>
        </p:nvSpPr>
        <p:spPr>
          <a:xfrm>
            <a:off x="428625" y="1493044"/>
            <a:ext cx="2543426" cy="3429000"/>
          </a:xfrm>
          <a:prstGeom prst="rect">
            <a:avLst/>
          </a:prstGeom>
          <a:solidFill>
            <a:srgbClr val="FFFFFF"/>
          </a:solidFill>
          <a:ln/>
        </p:spPr>
      </p:sp>
      <p:pic>
        <p:nvPicPr>
          <p:cNvPr id="15" name="Image 1" descr="preencoded.png">
            <a:extLst>
              <a:ext uri="{FF2B5EF4-FFF2-40B4-BE49-F238E27FC236}">
                <a16:creationId xmlns:a16="http://schemas.microsoft.com/office/drawing/2014/main" id="{7C1E183A-BE09-C5AB-AF87-6CDC47538ED9}"/>
              </a:ext>
            </a:extLst>
          </p:cNvPr>
          <p:cNvPicPr>
            <a:picLocks noChangeAspect="1"/>
          </p:cNvPicPr>
          <p:nvPr/>
        </p:nvPicPr>
        <p:blipFill>
          <a:blip r:embed="rId3"/>
          <a:stretch>
            <a:fillRect/>
          </a:stretch>
        </p:blipFill>
        <p:spPr>
          <a:xfrm>
            <a:off x="1539590" y="1707356"/>
            <a:ext cx="321469" cy="285750"/>
          </a:xfrm>
          <a:prstGeom prst="rect">
            <a:avLst/>
          </a:prstGeom>
        </p:spPr>
      </p:pic>
      <p:sp>
        <p:nvSpPr>
          <p:cNvPr id="16" name="Text 4">
            <a:extLst>
              <a:ext uri="{FF2B5EF4-FFF2-40B4-BE49-F238E27FC236}">
                <a16:creationId xmlns:a16="http://schemas.microsoft.com/office/drawing/2014/main" id="{AEC670AB-490C-2189-73B8-65313B0FAF99}"/>
              </a:ext>
            </a:extLst>
          </p:cNvPr>
          <p:cNvSpPr/>
          <p:nvPr/>
        </p:nvSpPr>
        <p:spPr>
          <a:xfrm>
            <a:off x="951514" y="2135981"/>
            <a:ext cx="1497620"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800020"/>
                </a:solidFill>
              </a:rPr>
              <a:t>Gestão de Memória</a:t>
            </a:r>
            <a:endParaRPr lang="en-US" sz="987" dirty="0"/>
          </a:p>
        </p:txBody>
      </p:sp>
      <p:sp>
        <p:nvSpPr>
          <p:cNvPr id="17" name="Text 5">
            <a:extLst>
              <a:ext uri="{FF2B5EF4-FFF2-40B4-BE49-F238E27FC236}">
                <a16:creationId xmlns:a16="http://schemas.microsoft.com/office/drawing/2014/main" id="{512A2B71-325A-987F-C655-4BCFF5BBAE97}"/>
              </a:ext>
            </a:extLst>
          </p:cNvPr>
          <p:cNvSpPr/>
          <p:nvPr/>
        </p:nvSpPr>
        <p:spPr>
          <a:xfrm>
            <a:off x="754470" y="2615419"/>
            <a:ext cx="613246"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Técnicas de</a:t>
            </a:r>
            <a:endParaRPr lang="en-US" sz="834" dirty="0"/>
          </a:p>
        </p:txBody>
      </p:sp>
      <p:sp>
        <p:nvSpPr>
          <p:cNvPr id="18" name="Shape 6">
            <a:extLst>
              <a:ext uri="{FF2B5EF4-FFF2-40B4-BE49-F238E27FC236}">
                <a16:creationId xmlns:a16="http://schemas.microsoft.com/office/drawing/2014/main" id="{AACFAAE6-3FC1-9094-6B4F-CB8F893C376F}"/>
              </a:ext>
            </a:extLst>
          </p:cNvPr>
          <p:cNvSpPr/>
          <p:nvPr/>
        </p:nvSpPr>
        <p:spPr>
          <a:xfrm>
            <a:off x="1367717" y="2615419"/>
            <a:ext cx="543623" cy="154288"/>
          </a:xfrm>
          <a:prstGeom prst="rect">
            <a:avLst/>
          </a:prstGeom>
          <a:solidFill>
            <a:srgbClr val="F8F8F8"/>
          </a:solidFill>
          <a:ln/>
        </p:spPr>
      </p:sp>
      <p:sp>
        <p:nvSpPr>
          <p:cNvPr id="19" name="Text 7">
            <a:extLst>
              <a:ext uri="{FF2B5EF4-FFF2-40B4-BE49-F238E27FC236}">
                <a16:creationId xmlns:a16="http://schemas.microsoft.com/office/drawing/2014/main" id="{A6F0709D-679D-DB16-4F74-0C990F5B0147}"/>
              </a:ext>
            </a:extLst>
          </p:cNvPr>
          <p:cNvSpPr/>
          <p:nvPr/>
        </p:nvSpPr>
        <p:spPr>
          <a:xfrm>
            <a:off x="1367717" y="2615419"/>
            <a:ext cx="543623"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Paginação</a:t>
            </a:r>
            <a:endParaRPr lang="en-US" sz="727" dirty="0"/>
          </a:p>
        </p:txBody>
      </p:sp>
      <p:sp>
        <p:nvSpPr>
          <p:cNvPr id="20" name="Text 8">
            <a:extLst>
              <a:ext uri="{FF2B5EF4-FFF2-40B4-BE49-F238E27FC236}">
                <a16:creationId xmlns:a16="http://schemas.microsoft.com/office/drawing/2014/main" id="{9B16752D-D3B2-F6F0-8F6F-686676356FD3}"/>
              </a:ext>
            </a:extLst>
          </p:cNvPr>
          <p:cNvSpPr/>
          <p:nvPr/>
        </p:nvSpPr>
        <p:spPr>
          <a:xfrm>
            <a:off x="1911339" y="2615419"/>
            <a:ext cx="64489"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e</a:t>
            </a:r>
            <a:endParaRPr lang="en-US" sz="834" dirty="0"/>
          </a:p>
        </p:txBody>
      </p:sp>
      <p:sp>
        <p:nvSpPr>
          <p:cNvPr id="21" name="Shape 9">
            <a:extLst>
              <a:ext uri="{FF2B5EF4-FFF2-40B4-BE49-F238E27FC236}">
                <a16:creationId xmlns:a16="http://schemas.microsoft.com/office/drawing/2014/main" id="{8A3FABED-8C68-AE04-2890-543E7E871E83}"/>
              </a:ext>
            </a:extLst>
          </p:cNvPr>
          <p:cNvSpPr/>
          <p:nvPr/>
        </p:nvSpPr>
        <p:spPr>
          <a:xfrm>
            <a:off x="1975828" y="2615419"/>
            <a:ext cx="698553" cy="154288"/>
          </a:xfrm>
          <a:prstGeom prst="rect">
            <a:avLst/>
          </a:prstGeom>
          <a:solidFill>
            <a:srgbClr val="F8F8F8"/>
          </a:solidFill>
          <a:ln/>
        </p:spPr>
      </p:sp>
      <p:sp>
        <p:nvSpPr>
          <p:cNvPr id="22" name="Text 10">
            <a:extLst>
              <a:ext uri="{FF2B5EF4-FFF2-40B4-BE49-F238E27FC236}">
                <a16:creationId xmlns:a16="http://schemas.microsoft.com/office/drawing/2014/main" id="{1CEE7AA7-946E-52FE-5F96-24ED344DCA92}"/>
              </a:ext>
            </a:extLst>
          </p:cNvPr>
          <p:cNvSpPr/>
          <p:nvPr/>
        </p:nvSpPr>
        <p:spPr>
          <a:xfrm>
            <a:off x="1975828" y="2615419"/>
            <a:ext cx="698553"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Segmentação</a:t>
            </a:r>
            <a:endParaRPr lang="en-US" sz="727" dirty="0"/>
          </a:p>
        </p:txBody>
      </p:sp>
      <p:sp>
        <p:nvSpPr>
          <p:cNvPr id="23" name="Text 11">
            <a:extLst>
              <a:ext uri="{FF2B5EF4-FFF2-40B4-BE49-F238E27FC236}">
                <a16:creationId xmlns:a16="http://schemas.microsoft.com/office/drawing/2014/main" id="{A3780727-A971-01F5-F50B-60A450795AAF}"/>
              </a:ext>
            </a:extLst>
          </p:cNvPr>
          <p:cNvSpPr/>
          <p:nvPr/>
        </p:nvSpPr>
        <p:spPr>
          <a:xfrm>
            <a:off x="2674381" y="2615419"/>
            <a:ext cx="30640"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a:t>
            </a:r>
            <a:endParaRPr lang="en-US" sz="834" dirty="0"/>
          </a:p>
        </p:txBody>
      </p:sp>
      <p:sp>
        <p:nvSpPr>
          <p:cNvPr id="24" name="Text 12">
            <a:extLst>
              <a:ext uri="{FF2B5EF4-FFF2-40B4-BE49-F238E27FC236}">
                <a16:creationId xmlns:a16="http://schemas.microsoft.com/office/drawing/2014/main" id="{00AB2AD6-0206-7BE5-A4D2-72C765BC8E8B}"/>
              </a:ext>
            </a:extLst>
          </p:cNvPr>
          <p:cNvSpPr/>
          <p:nvPr/>
        </p:nvSpPr>
        <p:spPr>
          <a:xfrm>
            <a:off x="754470" y="2882585"/>
            <a:ext cx="1009864"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Implementação de</a:t>
            </a:r>
            <a:endParaRPr lang="en-US" sz="834" dirty="0"/>
          </a:p>
        </p:txBody>
      </p:sp>
      <p:sp>
        <p:nvSpPr>
          <p:cNvPr id="25" name="Shape 13">
            <a:extLst>
              <a:ext uri="{FF2B5EF4-FFF2-40B4-BE49-F238E27FC236}">
                <a16:creationId xmlns:a16="http://schemas.microsoft.com/office/drawing/2014/main" id="{9A0AEAD5-6CA3-F88D-453D-7804E06F3403}"/>
              </a:ext>
            </a:extLst>
          </p:cNvPr>
          <p:cNvSpPr/>
          <p:nvPr/>
        </p:nvSpPr>
        <p:spPr>
          <a:xfrm>
            <a:off x="1764334" y="2882585"/>
            <a:ext cx="814471" cy="154288"/>
          </a:xfrm>
          <a:prstGeom prst="rect">
            <a:avLst/>
          </a:prstGeom>
          <a:solidFill>
            <a:srgbClr val="F8F8F8"/>
          </a:solidFill>
          <a:ln/>
        </p:spPr>
      </p:sp>
      <p:sp>
        <p:nvSpPr>
          <p:cNvPr id="26" name="Text 14">
            <a:extLst>
              <a:ext uri="{FF2B5EF4-FFF2-40B4-BE49-F238E27FC236}">
                <a16:creationId xmlns:a16="http://schemas.microsoft.com/office/drawing/2014/main" id="{7B228FCA-9336-855B-575F-A3F5768A2E9A}"/>
              </a:ext>
            </a:extLst>
          </p:cNvPr>
          <p:cNvSpPr/>
          <p:nvPr/>
        </p:nvSpPr>
        <p:spPr>
          <a:xfrm>
            <a:off x="1764334" y="2882585"/>
            <a:ext cx="814471"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Memória Virtual</a:t>
            </a:r>
            <a:endParaRPr lang="en-US" sz="727" dirty="0"/>
          </a:p>
        </p:txBody>
      </p:sp>
      <p:sp>
        <p:nvSpPr>
          <p:cNvPr id="27" name="Text 15">
            <a:extLst>
              <a:ext uri="{FF2B5EF4-FFF2-40B4-BE49-F238E27FC236}">
                <a16:creationId xmlns:a16="http://schemas.microsoft.com/office/drawing/2014/main" id="{245609D2-4C54-6780-7332-159FBD25071C}"/>
              </a:ext>
            </a:extLst>
          </p:cNvPr>
          <p:cNvSpPr/>
          <p:nvPr/>
        </p:nvSpPr>
        <p:spPr>
          <a:xfrm>
            <a:off x="2578805" y="2882585"/>
            <a:ext cx="30640"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a:t>
            </a:r>
            <a:endParaRPr lang="en-US" sz="834" dirty="0"/>
          </a:p>
        </p:txBody>
      </p:sp>
      <p:sp>
        <p:nvSpPr>
          <p:cNvPr id="29" name="Text 16">
            <a:extLst>
              <a:ext uri="{FF2B5EF4-FFF2-40B4-BE49-F238E27FC236}">
                <a16:creationId xmlns:a16="http://schemas.microsoft.com/office/drawing/2014/main" id="{CAB37567-17EA-4BA1-D13C-94BA4B06A8CB}"/>
              </a:ext>
            </a:extLst>
          </p:cNvPr>
          <p:cNvSpPr/>
          <p:nvPr/>
        </p:nvSpPr>
        <p:spPr>
          <a:xfrm>
            <a:off x="750094" y="3122154"/>
            <a:ext cx="2186239"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Algoritmos de substituição de páginas.</a:t>
            </a:r>
            <a:endParaRPr lang="en-US" sz="834" dirty="0"/>
          </a:p>
        </p:txBody>
      </p:sp>
      <p:sp>
        <p:nvSpPr>
          <p:cNvPr id="30" name="Text 17">
            <a:extLst>
              <a:ext uri="{FF2B5EF4-FFF2-40B4-BE49-F238E27FC236}">
                <a16:creationId xmlns:a16="http://schemas.microsoft.com/office/drawing/2014/main" id="{63B11730-5D75-5405-EF64-D08FB6F084FC}"/>
              </a:ext>
            </a:extLst>
          </p:cNvPr>
          <p:cNvSpPr/>
          <p:nvPr/>
        </p:nvSpPr>
        <p:spPr>
          <a:xfrm>
            <a:off x="750094" y="3389319"/>
            <a:ext cx="2186239"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Fragmentação interna e externa.</a:t>
            </a:r>
            <a:endParaRPr lang="en-US" sz="834" dirty="0"/>
          </a:p>
        </p:txBody>
      </p:sp>
      <p:sp>
        <p:nvSpPr>
          <p:cNvPr id="31" name="Shape 18">
            <a:extLst>
              <a:ext uri="{FF2B5EF4-FFF2-40B4-BE49-F238E27FC236}">
                <a16:creationId xmlns:a16="http://schemas.microsoft.com/office/drawing/2014/main" id="{95A8592E-B233-F9FE-304E-3F7EF4DA06B4}"/>
              </a:ext>
            </a:extLst>
          </p:cNvPr>
          <p:cNvSpPr/>
          <p:nvPr/>
        </p:nvSpPr>
        <p:spPr>
          <a:xfrm>
            <a:off x="3186364" y="1493044"/>
            <a:ext cx="2507986" cy="3429000"/>
          </a:xfrm>
          <a:prstGeom prst="rect">
            <a:avLst/>
          </a:prstGeom>
          <a:solidFill>
            <a:srgbClr val="FFFFFF"/>
          </a:solidFill>
          <a:ln/>
        </p:spPr>
      </p:sp>
      <p:pic>
        <p:nvPicPr>
          <p:cNvPr id="32" name="Image 2" descr="preencoded.png">
            <a:extLst>
              <a:ext uri="{FF2B5EF4-FFF2-40B4-BE49-F238E27FC236}">
                <a16:creationId xmlns:a16="http://schemas.microsoft.com/office/drawing/2014/main" id="{2CEC0068-1647-2C23-11D1-B8073411C355}"/>
              </a:ext>
            </a:extLst>
          </p:cNvPr>
          <p:cNvPicPr>
            <a:picLocks noChangeAspect="1"/>
          </p:cNvPicPr>
          <p:nvPr/>
        </p:nvPicPr>
        <p:blipFill>
          <a:blip r:embed="rId4"/>
          <a:stretch>
            <a:fillRect/>
          </a:stretch>
        </p:blipFill>
        <p:spPr>
          <a:xfrm>
            <a:off x="4297468" y="1707356"/>
            <a:ext cx="285750" cy="285750"/>
          </a:xfrm>
          <a:prstGeom prst="rect">
            <a:avLst/>
          </a:prstGeom>
        </p:spPr>
      </p:pic>
      <p:sp>
        <p:nvSpPr>
          <p:cNvPr id="33" name="Text 19">
            <a:extLst>
              <a:ext uri="{FF2B5EF4-FFF2-40B4-BE49-F238E27FC236}">
                <a16:creationId xmlns:a16="http://schemas.microsoft.com/office/drawing/2014/main" id="{EB500159-F246-8A6D-87BB-41630FEA758A}"/>
              </a:ext>
            </a:extLst>
          </p:cNvPr>
          <p:cNvSpPr/>
          <p:nvPr/>
        </p:nvSpPr>
        <p:spPr>
          <a:xfrm>
            <a:off x="3787750" y="2135981"/>
            <a:ext cx="1305185"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800020"/>
                </a:solidFill>
              </a:rPr>
              <a:t>Armazenamento</a:t>
            </a:r>
            <a:endParaRPr lang="en-US" sz="987" dirty="0"/>
          </a:p>
        </p:txBody>
      </p:sp>
      <p:sp>
        <p:nvSpPr>
          <p:cNvPr id="34" name="Text 20">
            <a:extLst>
              <a:ext uri="{FF2B5EF4-FFF2-40B4-BE49-F238E27FC236}">
                <a16:creationId xmlns:a16="http://schemas.microsoft.com/office/drawing/2014/main" id="{A0DE4BA8-737E-0FF2-43EB-5FBE5CF3EA9A}"/>
              </a:ext>
            </a:extLst>
          </p:cNvPr>
          <p:cNvSpPr/>
          <p:nvPr/>
        </p:nvSpPr>
        <p:spPr>
          <a:xfrm>
            <a:off x="3507832" y="2609698"/>
            <a:ext cx="1138591"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Estrutura lógica e física de</a:t>
            </a:r>
            <a:endParaRPr lang="en-US" sz="834" dirty="0"/>
          </a:p>
        </p:txBody>
      </p:sp>
      <p:sp>
        <p:nvSpPr>
          <p:cNvPr id="35" name="Shape 21">
            <a:extLst>
              <a:ext uri="{FF2B5EF4-FFF2-40B4-BE49-F238E27FC236}">
                <a16:creationId xmlns:a16="http://schemas.microsoft.com/office/drawing/2014/main" id="{EA083C13-1CE1-8F37-FE54-4C25AB455A84}"/>
              </a:ext>
            </a:extLst>
          </p:cNvPr>
          <p:cNvSpPr/>
          <p:nvPr/>
        </p:nvSpPr>
        <p:spPr>
          <a:xfrm>
            <a:off x="4646423" y="2609698"/>
            <a:ext cx="867128" cy="294289"/>
          </a:xfrm>
          <a:prstGeom prst="rect">
            <a:avLst/>
          </a:prstGeom>
          <a:solidFill>
            <a:srgbClr val="F8F8F8"/>
          </a:solidFill>
          <a:ln/>
        </p:spPr>
      </p:sp>
      <p:sp>
        <p:nvSpPr>
          <p:cNvPr id="36" name="Text 22">
            <a:extLst>
              <a:ext uri="{FF2B5EF4-FFF2-40B4-BE49-F238E27FC236}">
                <a16:creationId xmlns:a16="http://schemas.microsoft.com/office/drawing/2014/main" id="{CD17322B-0643-D260-945E-4B5D1ED33B3C}"/>
              </a:ext>
            </a:extLst>
          </p:cNvPr>
          <p:cNvSpPr/>
          <p:nvPr/>
        </p:nvSpPr>
        <p:spPr>
          <a:xfrm>
            <a:off x="4646423" y="2609698"/>
            <a:ext cx="867128" cy="294289"/>
          </a:xfrm>
          <a:prstGeom prst="rect">
            <a:avLst/>
          </a:prstGeom>
          <a:noFill/>
          <a:ln/>
        </p:spPr>
        <p:txBody>
          <a:bodyPr wrap="square" lIns="34036" tIns="8509" rIns="34036" bIns="8509" rtlCol="0" anchor="t">
            <a:spAutoFit/>
          </a:bodyPr>
          <a:lstStyle/>
          <a:p>
            <a:pPr marL="0" indent="0" algn="l">
              <a:lnSpc>
                <a:spcPts val="1100"/>
              </a:lnSpc>
              <a:buNone/>
            </a:pPr>
            <a:r>
              <a:rPr lang="en-US" sz="727" dirty="0">
                <a:solidFill>
                  <a:srgbClr val="800020"/>
                </a:solidFill>
              </a:rPr>
              <a:t>Sistemas de Arquivos</a:t>
            </a:r>
            <a:endParaRPr lang="en-US" sz="727" dirty="0"/>
          </a:p>
        </p:txBody>
      </p:sp>
      <p:sp>
        <p:nvSpPr>
          <p:cNvPr id="37" name="Text 23">
            <a:extLst>
              <a:ext uri="{FF2B5EF4-FFF2-40B4-BE49-F238E27FC236}">
                <a16:creationId xmlns:a16="http://schemas.microsoft.com/office/drawing/2014/main" id="{8333FA3C-73F3-3E7E-F2E0-16226C713D6F}"/>
              </a:ext>
            </a:extLst>
          </p:cNvPr>
          <p:cNvSpPr/>
          <p:nvPr/>
        </p:nvSpPr>
        <p:spPr>
          <a:xfrm>
            <a:off x="5513551" y="2609698"/>
            <a:ext cx="30640"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a:t>
            </a:r>
            <a:endParaRPr lang="en-US" sz="834" dirty="0"/>
          </a:p>
        </p:txBody>
      </p:sp>
      <p:sp>
        <p:nvSpPr>
          <p:cNvPr id="38" name="Text 24">
            <a:extLst>
              <a:ext uri="{FF2B5EF4-FFF2-40B4-BE49-F238E27FC236}">
                <a16:creationId xmlns:a16="http://schemas.microsoft.com/office/drawing/2014/main" id="{EC80B672-A2E3-87F5-8E32-BC7A13CFB787}"/>
              </a:ext>
            </a:extLst>
          </p:cNvPr>
          <p:cNvSpPr/>
          <p:nvPr/>
        </p:nvSpPr>
        <p:spPr>
          <a:xfrm>
            <a:off x="3507832" y="2823392"/>
            <a:ext cx="2150799"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Métodos de alocação e acesso a dados.</a:t>
            </a:r>
            <a:endParaRPr lang="en-US" sz="834" dirty="0"/>
          </a:p>
        </p:txBody>
      </p:sp>
      <p:sp>
        <p:nvSpPr>
          <p:cNvPr id="39" name="Text 25">
            <a:extLst>
              <a:ext uri="{FF2B5EF4-FFF2-40B4-BE49-F238E27FC236}">
                <a16:creationId xmlns:a16="http://schemas.microsoft.com/office/drawing/2014/main" id="{1E930DEC-4011-AC94-2894-F1F07287C9B4}"/>
              </a:ext>
            </a:extLst>
          </p:cNvPr>
          <p:cNvSpPr/>
          <p:nvPr/>
        </p:nvSpPr>
        <p:spPr>
          <a:xfrm>
            <a:off x="3507832" y="3115810"/>
            <a:ext cx="2150799"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Gerenciamento de espaço livre.</a:t>
            </a:r>
            <a:endParaRPr lang="en-US" sz="834" dirty="0"/>
          </a:p>
        </p:txBody>
      </p:sp>
      <p:sp>
        <p:nvSpPr>
          <p:cNvPr id="40" name="Text 26">
            <a:extLst>
              <a:ext uri="{FF2B5EF4-FFF2-40B4-BE49-F238E27FC236}">
                <a16:creationId xmlns:a16="http://schemas.microsoft.com/office/drawing/2014/main" id="{72025E5A-571A-0566-6DF9-7A2EFD47CE5D}"/>
              </a:ext>
            </a:extLst>
          </p:cNvPr>
          <p:cNvSpPr/>
          <p:nvPr/>
        </p:nvSpPr>
        <p:spPr>
          <a:xfrm>
            <a:off x="3507832" y="3355233"/>
            <a:ext cx="2150799"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Confiabilidade e consistência de dados.</a:t>
            </a:r>
            <a:endParaRPr lang="en-US" sz="834" dirty="0"/>
          </a:p>
        </p:txBody>
      </p:sp>
      <p:sp>
        <p:nvSpPr>
          <p:cNvPr id="41" name="Shape 27">
            <a:extLst>
              <a:ext uri="{FF2B5EF4-FFF2-40B4-BE49-F238E27FC236}">
                <a16:creationId xmlns:a16="http://schemas.microsoft.com/office/drawing/2014/main" id="{851AA58C-240F-D5A7-496F-EE33E2694784}"/>
              </a:ext>
            </a:extLst>
          </p:cNvPr>
          <p:cNvSpPr/>
          <p:nvPr/>
        </p:nvSpPr>
        <p:spPr>
          <a:xfrm>
            <a:off x="5908663" y="1493044"/>
            <a:ext cx="2806712" cy="3429000"/>
          </a:xfrm>
          <a:prstGeom prst="rect">
            <a:avLst/>
          </a:prstGeom>
          <a:solidFill>
            <a:srgbClr val="FFFFFF"/>
          </a:solidFill>
          <a:ln/>
        </p:spPr>
      </p:sp>
      <p:pic>
        <p:nvPicPr>
          <p:cNvPr id="42" name="Image 3" descr="preencoded.png">
            <a:extLst>
              <a:ext uri="{FF2B5EF4-FFF2-40B4-BE49-F238E27FC236}">
                <a16:creationId xmlns:a16="http://schemas.microsoft.com/office/drawing/2014/main" id="{A3918D2B-FB52-D7C3-DFF5-FC23B6BD9F31}"/>
              </a:ext>
            </a:extLst>
          </p:cNvPr>
          <p:cNvPicPr>
            <a:picLocks noChangeAspect="1"/>
          </p:cNvPicPr>
          <p:nvPr/>
        </p:nvPicPr>
        <p:blipFill>
          <a:blip r:embed="rId5"/>
          <a:stretch>
            <a:fillRect/>
          </a:stretch>
        </p:blipFill>
        <p:spPr>
          <a:xfrm>
            <a:off x="7169144" y="1707356"/>
            <a:ext cx="285750" cy="285750"/>
          </a:xfrm>
          <a:prstGeom prst="rect">
            <a:avLst/>
          </a:prstGeom>
        </p:spPr>
      </p:pic>
      <p:sp>
        <p:nvSpPr>
          <p:cNvPr id="44" name="Text 28">
            <a:extLst>
              <a:ext uri="{FF2B5EF4-FFF2-40B4-BE49-F238E27FC236}">
                <a16:creationId xmlns:a16="http://schemas.microsoft.com/office/drawing/2014/main" id="{F478006C-9859-CBF0-70EF-5445F51D6775}"/>
              </a:ext>
            </a:extLst>
          </p:cNvPr>
          <p:cNvSpPr/>
          <p:nvPr/>
        </p:nvSpPr>
        <p:spPr>
          <a:xfrm>
            <a:off x="6691852" y="2135981"/>
            <a:ext cx="1240306"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800020"/>
                </a:solidFill>
              </a:rPr>
              <a:t>Entrada e Saída</a:t>
            </a:r>
            <a:endParaRPr lang="en-US" sz="987" dirty="0"/>
          </a:p>
        </p:txBody>
      </p:sp>
      <p:sp>
        <p:nvSpPr>
          <p:cNvPr id="45" name="Text 29">
            <a:extLst>
              <a:ext uri="{FF2B5EF4-FFF2-40B4-BE49-F238E27FC236}">
                <a16:creationId xmlns:a16="http://schemas.microsoft.com/office/drawing/2014/main" id="{E769051B-BB01-241F-42F8-10FBAD5BF4B4}"/>
              </a:ext>
            </a:extLst>
          </p:cNvPr>
          <p:cNvSpPr/>
          <p:nvPr/>
        </p:nvSpPr>
        <p:spPr>
          <a:xfrm>
            <a:off x="6230131" y="2639711"/>
            <a:ext cx="980368"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Funcionamento de</a:t>
            </a:r>
            <a:endParaRPr lang="en-US" sz="834" dirty="0"/>
          </a:p>
        </p:txBody>
      </p:sp>
      <p:sp>
        <p:nvSpPr>
          <p:cNvPr id="46" name="Shape 30">
            <a:extLst>
              <a:ext uri="{FF2B5EF4-FFF2-40B4-BE49-F238E27FC236}">
                <a16:creationId xmlns:a16="http://schemas.microsoft.com/office/drawing/2014/main" id="{C2B51A78-AD2C-E7F1-BD6C-E402E2D3EA91}"/>
              </a:ext>
            </a:extLst>
          </p:cNvPr>
          <p:cNvSpPr/>
          <p:nvPr/>
        </p:nvSpPr>
        <p:spPr>
          <a:xfrm>
            <a:off x="7210499" y="2639711"/>
            <a:ext cx="664146" cy="154288"/>
          </a:xfrm>
          <a:prstGeom prst="rect">
            <a:avLst/>
          </a:prstGeom>
          <a:solidFill>
            <a:srgbClr val="F8F8F8"/>
          </a:solidFill>
          <a:ln/>
        </p:spPr>
      </p:sp>
      <p:sp>
        <p:nvSpPr>
          <p:cNvPr id="47" name="Text 31">
            <a:extLst>
              <a:ext uri="{FF2B5EF4-FFF2-40B4-BE49-F238E27FC236}">
                <a16:creationId xmlns:a16="http://schemas.microsoft.com/office/drawing/2014/main" id="{08E99503-0236-09C5-288C-FC8D7611D131}"/>
              </a:ext>
            </a:extLst>
          </p:cNvPr>
          <p:cNvSpPr/>
          <p:nvPr/>
        </p:nvSpPr>
        <p:spPr>
          <a:xfrm>
            <a:off x="7210499" y="2639711"/>
            <a:ext cx="664146"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Interrupções</a:t>
            </a:r>
            <a:endParaRPr lang="en-US" sz="727" dirty="0"/>
          </a:p>
        </p:txBody>
      </p:sp>
      <p:sp>
        <p:nvSpPr>
          <p:cNvPr id="48" name="Text 32">
            <a:extLst>
              <a:ext uri="{FF2B5EF4-FFF2-40B4-BE49-F238E27FC236}">
                <a16:creationId xmlns:a16="http://schemas.microsoft.com/office/drawing/2014/main" id="{95F3B1CF-E283-0871-412B-CD7117281F5B}"/>
              </a:ext>
            </a:extLst>
          </p:cNvPr>
          <p:cNvSpPr/>
          <p:nvPr/>
        </p:nvSpPr>
        <p:spPr>
          <a:xfrm>
            <a:off x="7874644" y="2639711"/>
            <a:ext cx="690572"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de hardware.</a:t>
            </a:r>
            <a:endParaRPr lang="en-US" sz="834" dirty="0"/>
          </a:p>
        </p:txBody>
      </p:sp>
      <p:sp>
        <p:nvSpPr>
          <p:cNvPr id="49" name="Text 33">
            <a:extLst>
              <a:ext uri="{FF2B5EF4-FFF2-40B4-BE49-F238E27FC236}">
                <a16:creationId xmlns:a16="http://schemas.microsoft.com/office/drawing/2014/main" id="{1F56B9CF-C9B2-830B-672F-787460A91B46}"/>
              </a:ext>
            </a:extLst>
          </p:cNvPr>
          <p:cNvSpPr/>
          <p:nvPr/>
        </p:nvSpPr>
        <p:spPr>
          <a:xfrm>
            <a:off x="6230131" y="2849711"/>
            <a:ext cx="1406007"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Acesso Direto à Memória (</a:t>
            </a:r>
            <a:endParaRPr lang="en-US" sz="834" dirty="0"/>
          </a:p>
        </p:txBody>
      </p:sp>
      <p:sp>
        <p:nvSpPr>
          <p:cNvPr id="50" name="Shape 34">
            <a:extLst>
              <a:ext uri="{FF2B5EF4-FFF2-40B4-BE49-F238E27FC236}">
                <a16:creationId xmlns:a16="http://schemas.microsoft.com/office/drawing/2014/main" id="{72DD53EC-4783-FC46-E728-81CDAF1CE25B}"/>
              </a:ext>
            </a:extLst>
          </p:cNvPr>
          <p:cNvSpPr/>
          <p:nvPr/>
        </p:nvSpPr>
        <p:spPr>
          <a:xfrm>
            <a:off x="7636138" y="2849711"/>
            <a:ext cx="284801" cy="154288"/>
          </a:xfrm>
          <a:prstGeom prst="rect">
            <a:avLst/>
          </a:prstGeom>
          <a:solidFill>
            <a:srgbClr val="F8F8F8"/>
          </a:solidFill>
          <a:ln/>
        </p:spPr>
      </p:sp>
      <p:sp>
        <p:nvSpPr>
          <p:cNvPr id="51" name="Text 35">
            <a:extLst>
              <a:ext uri="{FF2B5EF4-FFF2-40B4-BE49-F238E27FC236}">
                <a16:creationId xmlns:a16="http://schemas.microsoft.com/office/drawing/2014/main" id="{56C32619-2EFB-240F-DCB1-FCC8A0BE3DE0}"/>
              </a:ext>
            </a:extLst>
          </p:cNvPr>
          <p:cNvSpPr/>
          <p:nvPr/>
        </p:nvSpPr>
        <p:spPr>
          <a:xfrm>
            <a:off x="7636138" y="2849711"/>
            <a:ext cx="284801"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DMA</a:t>
            </a:r>
            <a:endParaRPr lang="en-US" sz="727" dirty="0"/>
          </a:p>
        </p:txBody>
      </p:sp>
      <p:sp>
        <p:nvSpPr>
          <p:cNvPr id="52" name="Text 36">
            <a:extLst>
              <a:ext uri="{FF2B5EF4-FFF2-40B4-BE49-F238E27FC236}">
                <a16:creationId xmlns:a16="http://schemas.microsoft.com/office/drawing/2014/main" id="{80A4AB2F-A390-1898-15FE-117401C56563}"/>
              </a:ext>
            </a:extLst>
          </p:cNvPr>
          <p:cNvSpPr/>
          <p:nvPr/>
        </p:nvSpPr>
        <p:spPr>
          <a:xfrm>
            <a:off x="7920939" y="2849711"/>
            <a:ext cx="64936"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a:t>
            </a:r>
            <a:endParaRPr lang="en-US" sz="834" dirty="0"/>
          </a:p>
        </p:txBody>
      </p:sp>
      <p:sp>
        <p:nvSpPr>
          <p:cNvPr id="53" name="Text 37">
            <a:extLst>
              <a:ext uri="{FF2B5EF4-FFF2-40B4-BE49-F238E27FC236}">
                <a16:creationId xmlns:a16="http://schemas.microsoft.com/office/drawing/2014/main" id="{E5722E98-0A75-F1E2-C054-BCE56B6E42E4}"/>
              </a:ext>
            </a:extLst>
          </p:cNvPr>
          <p:cNvSpPr/>
          <p:nvPr/>
        </p:nvSpPr>
        <p:spPr>
          <a:xfrm>
            <a:off x="6230131" y="3064988"/>
            <a:ext cx="2449525"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Buffering, Spooling e Caching.</a:t>
            </a:r>
            <a:endParaRPr lang="en-US" sz="834" dirty="0"/>
          </a:p>
        </p:txBody>
      </p:sp>
      <p:sp>
        <p:nvSpPr>
          <p:cNvPr id="54" name="Text 38">
            <a:extLst>
              <a:ext uri="{FF2B5EF4-FFF2-40B4-BE49-F238E27FC236}">
                <a16:creationId xmlns:a16="http://schemas.microsoft.com/office/drawing/2014/main" id="{DE2650C0-F16C-207A-AEF9-1FBFC1EC2C0F}"/>
              </a:ext>
            </a:extLst>
          </p:cNvPr>
          <p:cNvSpPr/>
          <p:nvPr/>
        </p:nvSpPr>
        <p:spPr>
          <a:xfrm>
            <a:off x="6230131" y="3332154"/>
            <a:ext cx="2449525"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Drivers e independência de dispositivo.</a:t>
            </a:r>
            <a:endParaRPr lang="en-US" sz="834" dirty="0"/>
          </a:p>
        </p:txBody>
      </p:sp>
    </p:spTree>
    <p:extLst>
      <p:ext uri="{BB962C8B-B14F-4D97-AF65-F5344CB8AC3E}">
        <p14:creationId xmlns:p14="http://schemas.microsoft.com/office/powerpoint/2010/main" val="2983695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4980274" cy="390235"/>
          </a:xfrm>
          <a:prstGeom prst="rect">
            <a:avLst/>
          </a:prstGeom>
          <a:noFill/>
          <a:ln/>
        </p:spPr>
        <p:txBody>
          <a:bodyPr wrap="none" lIns="0" tIns="0" rIns="0" bIns="0" rtlCol="0" anchor="t">
            <a:spAutoFit/>
          </a:bodyPr>
          <a:lstStyle/>
          <a:p>
            <a:pPr marL="0" indent="0" algn="l">
              <a:lnSpc>
                <a:spcPts val="3200"/>
              </a:lnSpc>
              <a:buNone/>
            </a:pPr>
            <a:r>
              <a:rPr lang="pt-BR" sz="2436" b="1" dirty="0">
                <a:solidFill>
                  <a:srgbClr val="971536"/>
                </a:solidFill>
              </a:rPr>
              <a:t>Unidade IV: Segurança e Modernidade</a:t>
            </a:r>
          </a:p>
        </p:txBody>
      </p:sp>
      <p:sp>
        <p:nvSpPr>
          <p:cNvPr id="13" name="Retângulo 12">
            <a:extLst>
              <a:ext uri="{FF2B5EF4-FFF2-40B4-BE49-F238E27FC236}">
                <a16:creationId xmlns:a16="http://schemas.microsoft.com/office/drawing/2014/main" id="{ED15BF93-3E21-ADDB-2BBC-5E4F966ED69F}"/>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Shape 3">
            <a:extLst>
              <a:ext uri="{FF2B5EF4-FFF2-40B4-BE49-F238E27FC236}">
                <a16:creationId xmlns:a16="http://schemas.microsoft.com/office/drawing/2014/main" id="{B3DAF0B9-528C-0E38-883C-C4771264E01B}"/>
              </a:ext>
            </a:extLst>
          </p:cNvPr>
          <p:cNvSpPr/>
          <p:nvPr/>
        </p:nvSpPr>
        <p:spPr>
          <a:xfrm>
            <a:off x="428625" y="1493044"/>
            <a:ext cx="2543426" cy="3429000"/>
          </a:xfrm>
          <a:prstGeom prst="rect">
            <a:avLst/>
          </a:prstGeom>
          <a:solidFill>
            <a:srgbClr val="FFFFFF"/>
          </a:solidFill>
          <a:ln/>
        </p:spPr>
      </p:sp>
      <p:pic>
        <p:nvPicPr>
          <p:cNvPr id="4" name="Image 1" descr="preencoded.png">
            <a:extLst>
              <a:ext uri="{FF2B5EF4-FFF2-40B4-BE49-F238E27FC236}">
                <a16:creationId xmlns:a16="http://schemas.microsoft.com/office/drawing/2014/main" id="{708AC32E-B9F0-67B5-D765-FBAC895C53E3}"/>
              </a:ext>
            </a:extLst>
          </p:cNvPr>
          <p:cNvPicPr>
            <a:picLocks noChangeAspect="1"/>
          </p:cNvPicPr>
          <p:nvPr/>
        </p:nvPicPr>
        <p:blipFill>
          <a:blip r:embed="rId3"/>
          <a:stretch>
            <a:fillRect/>
          </a:stretch>
        </p:blipFill>
        <p:spPr>
          <a:xfrm>
            <a:off x="1628273" y="1707356"/>
            <a:ext cx="357188" cy="285750"/>
          </a:xfrm>
          <a:prstGeom prst="rect">
            <a:avLst/>
          </a:prstGeom>
        </p:spPr>
      </p:pic>
      <p:sp>
        <p:nvSpPr>
          <p:cNvPr id="5" name="Text 4">
            <a:extLst>
              <a:ext uri="{FF2B5EF4-FFF2-40B4-BE49-F238E27FC236}">
                <a16:creationId xmlns:a16="http://schemas.microsoft.com/office/drawing/2014/main" id="{A65229CB-650B-ABD9-C3FC-764E2481EA7F}"/>
              </a:ext>
            </a:extLst>
          </p:cNvPr>
          <p:cNvSpPr/>
          <p:nvPr/>
        </p:nvSpPr>
        <p:spPr>
          <a:xfrm>
            <a:off x="927878" y="2135981"/>
            <a:ext cx="1757949"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800020"/>
                </a:solidFill>
              </a:rPr>
              <a:t>Segurança e Proteção</a:t>
            </a:r>
            <a:endParaRPr lang="en-US" sz="987" dirty="0"/>
          </a:p>
        </p:txBody>
      </p:sp>
      <p:sp>
        <p:nvSpPr>
          <p:cNvPr id="6" name="Text 5">
            <a:extLst>
              <a:ext uri="{FF2B5EF4-FFF2-40B4-BE49-F238E27FC236}">
                <a16:creationId xmlns:a16="http://schemas.microsoft.com/office/drawing/2014/main" id="{599767CC-5280-2CE0-84ED-558A4B88A720}"/>
              </a:ext>
            </a:extLst>
          </p:cNvPr>
          <p:cNvSpPr/>
          <p:nvPr/>
        </p:nvSpPr>
        <p:spPr>
          <a:xfrm>
            <a:off x="750094" y="2587823"/>
            <a:ext cx="2399295"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Princípios de integridade e disponibilidade.</a:t>
            </a:r>
            <a:endParaRPr lang="en-US" sz="834" dirty="0"/>
          </a:p>
        </p:txBody>
      </p:sp>
      <p:sp>
        <p:nvSpPr>
          <p:cNvPr id="7" name="Text 6">
            <a:extLst>
              <a:ext uri="{FF2B5EF4-FFF2-40B4-BE49-F238E27FC236}">
                <a16:creationId xmlns:a16="http://schemas.microsoft.com/office/drawing/2014/main" id="{46BD6BE3-EF6E-A210-5DAC-0D7001BE0F6E}"/>
              </a:ext>
            </a:extLst>
          </p:cNvPr>
          <p:cNvSpPr/>
          <p:nvPr/>
        </p:nvSpPr>
        <p:spPr>
          <a:xfrm>
            <a:off x="737982" y="2822307"/>
            <a:ext cx="837270"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Mecanismos de</a:t>
            </a:r>
            <a:endParaRPr lang="en-US" sz="834" dirty="0"/>
          </a:p>
        </p:txBody>
      </p:sp>
      <p:sp>
        <p:nvSpPr>
          <p:cNvPr id="8" name="Shape 7">
            <a:extLst>
              <a:ext uri="{FF2B5EF4-FFF2-40B4-BE49-F238E27FC236}">
                <a16:creationId xmlns:a16="http://schemas.microsoft.com/office/drawing/2014/main" id="{70123666-0F11-E15D-A65E-93616E03BB19}"/>
              </a:ext>
            </a:extLst>
          </p:cNvPr>
          <p:cNvSpPr/>
          <p:nvPr/>
        </p:nvSpPr>
        <p:spPr>
          <a:xfrm>
            <a:off x="1575252" y="2822307"/>
            <a:ext cx="667829" cy="154288"/>
          </a:xfrm>
          <a:prstGeom prst="rect">
            <a:avLst/>
          </a:prstGeom>
          <a:solidFill>
            <a:srgbClr val="F8F8F8"/>
          </a:solidFill>
          <a:ln/>
        </p:spPr>
      </p:sp>
      <p:sp>
        <p:nvSpPr>
          <p:cNvPr id="9" name="Text 8">
            <a:extLst>
              <a:ext uri="{FF2B5EF4-FFF2-40B4-BE49-F238E27FC236}">
                <a16:creationId xmlns:a16="http://schemas.microsoft.com/office/drawing/2014/main" id="{34DB072C-0C5B-D28A-4CBC-487D8AC6DC48}"/>
              </a:ext>
            </a:extLst>
          </p:cNvPr>
          <p:cNvSpPr/>
          <p:nvPr/>
        </p:nvSpPr>
        <p:spPr>
          <a:xfrm>
            <a:off x="1575252" y="2822307"/>
            <a:ext cx="667829"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Autenticação</a:t>
            </a:r>
            <a:endParaRPr lang="en-US" sz="727" dirty="0"/>
          </a:p>
        </p:txBody>
      </p:sp>
      <p:sp>
        <p:nvSpPr>
          <p:cNvPr id="10" name="Text 9">
            <a:extLst>
              <a:ext uri="{FF2B5EF4-FFF2-40B4-BE49-F238E27FC236}">
                <a16:creationId xmlns:a16="http://schemas.microsoft.com/office/drawing/2014/main" id="{D05C892D-394E-9179-0804-5604BEAABED5}"/>
              </a:ext>
            </a:extLst>
          </p:cNvPr>
          <p:cNvSpPr/>
          <p:nvPr/>
        </p:nvSpPr>
        <p:spPr>
          <a:xfrm>
            <a:off x="2243081" y="2822307"/>
            <a:ext cx="752689"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e autorização.</a:t>
            </a:r>
            <a:endParaRPr lang="en-US" sz="834" dirty="0"/>
          </a:p>
        </p:txBody>
      </p:sp>
      <p:sp>
        <p:nvSpPr>
          <p:cNvPr id="11" name="Text 10">
            <a:extLst>
              <a:ext uri="{FF2B5EF4-FFF2-40B4-BE49-F238E27FC236}">
                <a16:creationId xmlns:a16="http://schemas.microsoft.com/office/drawing/2014/main" id="{8F6F9562-A4C2-EA29-2D11-140A08B80BF4}"/>
              </a:ext>
            </a:extLst>
          </p:cNvPr>
          <p:cNvSpPr/>
          <p:nvPr/>
        </p:nvSpPr>
        <p:spPr>
          <a:xfrm>
            <a:off x="750094" y="3113418"/>
            <a:ext cx="2399295"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Matrizes de controle de acesso.</a:t>
            </a:r>
            <a:endParaRPr lang="en-US" sz="834" dirty="0"/>
          </a:p>
        </p:txBody>
      </p:sp>
      <p:sp>
        <p:nvSpPr>
          <p:cNvPr id="12" name="Text 11">
            <a:extLst>
              <a:ext uri="{FF2B5EF4-FFF2-40B4-BE49-F238E27FC236}">
                <a16:creationId xmlns:a16="http://schemas.microsoft.com/office/drawing/2014/main" id="{5529A61D-601E-FFC5-A65F-89F6B89E2FAA}"/>
              </a:ext>
            </a:extLst>
          </p:cNvPr>
          <p:cNvSpPr/>
          <p:nvPr/>
        </p:nvSpPr>
        <p:spPr>
          <a:xfrm>
            <a:off x="750094" y="3380584"/>
            <a:ext cx="2399295"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Defesa contra ameaças digitais.</a:t>
            </a:r>
            <a:endParaRPr lang="en-US" sz="834" dirty="0"/>
          </a:p>
        </p:txBody>
      </p:sp>
      <p:sp>
        <p:nvSpPr>
          <p:cNvPr id="28" name="Shape 12">
            <a:extLst>
              <a:ext uri="{FF2B5EF4-FFF2-40B4-BE49-F238E27FC236}">
                <a16:creationId xmlns:a16="http://schemas.microsoft.com/office/drawing/2014/main" id="{7F6F9EF9-0E33-4F74-B739-5CE1DCBA93FA}"/>
              </a:ext>
            </a:extLst>
          </p:cNvPr>
          <p:cNvSpPr/>
          <p:nvPr/>
        </p:nvSpPr>
        <p:spPr>
          <a:xfrm>
            <a:off x="3399420" y="1493044"/>
            <a:ext cx="2550821" cy="3429000"/>
          </a:xfrm>
          <a:prstGeom prst="rect">
            <a:avLst/>
          </a:prstGeom>
          <a:solidFill>
            <a:srgbClr val="FFFFFF"/>
          </a:solidFill>
          <a:ln/>
        </p:spPr>
      </p:sp>
      <p:pic>
        <p:nvPicPr>
          <p:cNvPr id="43" name="Image 2" descr="preencoded.png">
            <a:extLst>
              <a:ext uri="{FF2B5EF4-FFF2-40B4-BE49-F238E27FC236}">
                <a16:creationId xmlns:a16="http://schemas.microsoft.com/office/drawing/2014/main" id="{CF5944ED-57EA-2E43-DFA6-28A4848936FA}"/>
              </a:ext>
            </a:extLst>
          </p:cNvPr>
          <p:cNvPicPr>
            <a:picLocks noChangeAspect="1"/>
          </p:cNvPicPr>
          <p:nvPr/>
        </p:nvPicPr>
        <p:blipFill>
          <a:blip r:embed="rId4"/>
          <a:stretch>
            <a:fillRect/>
          </a:stretch>
        </p:blipFill>
        <p:spPr>
          <a:xfrm>
            <a:off x="4514097" y="1707356"/>
            <a:ext cx="321469" cy="285750"/>
          </a:xfrm>
          <a:prstGeom prst="rect">
            <a:avLst/>
          </a:prstGeom>
        </p:spPr>
      </p:pic>
      <p:sp>
        <p:nvSpPr>
          <p:cNvPr id="55" name="Text 13">
            <a:extLst>
              <a:ext uri="{FF2B5EF4-FFF2-40B4-BE49-F238E27FC236}">
                <a16:creationId xmlns:a16="http://schemas.microsoft.com/office/drawing/2014/main" id="{86DA3493-CEA4-B3B5-6451-DB3A78CA840B}"/>
              </a:ext>
            </a:extLst>
          </p:cNvPr>
          <p:cNvSpPr/>
          <p:nvPr/>
        </p:nvSpPr>
        <p:spPr>
          <a:xfrm>
            <a:off x="3903306" y="2135981"/>
            <a:ext cx="1543050"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800020"/>
                </a:solidFill>
              </a:rPr>
              <a:t>Sistemas Modernos</a:t>
            </a:r>
            <a:endParaRPr lang="en-US" sz="987" dirty="0"/>
          </a:p>
        </p:txBody>
      </p:sp>
      <p:sp>
        <p:nvSpPr>
          <p:cNvPr id="56" name="Text 14">
            <a:extLst>
              <a:ext uri="{FF2B5EF4-FFF2-40B4-BE49-F238E27FC236}">
                <a16:creationId xmlns:a16="http://schemas.microsoft.com/office/drawing/2014/main" id="{5F0D6BC7-C202-0239-8D71-07A6025557CB}"/>
              </a:ext>
            </a:extLst>
          </p:cNvPr>
          <p:cNvSpPr/>
          <p:nvPr/>
        </p:nvSpPr>
        <p:spPr>
          <a:xfrm>
            <a:off x="3704899" y="2587823"/>
            <a:ext cx="658034"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Ecossistema</a:t>
            </a:r>
            <a:endParaRPr lang="en-US" sz="834" dirty="0"/>
          </a:p>
        </p:txBody>
      </p:sp>
      <p:sp>
        <p:nvSpPr>
          <p:cNvPr id="57" name="Shape 15">
            <a:extLst>
              <a:ext uri="{FF2B5EF4-FFF2-40B4-BE49-F238E27FC236}">
                <a16:creationId xmlns:a16="http://schemas.microsoft.com/office/drawing/2014/main" id="{6CB59054-5655-21BA-050E-0EC0995E7509}"/>
              </a:ext>
            </a:extLst>
          </p:cNvPr>
          <p:cNvSpPr/>
          <p:nvPr/>
        </p:nvSpPr>
        <p:spPr>
          <a:xfrm>
            <a:off x="4362933" y="2587823"/>
            <a:ext cx="311897" cy="154288"/>
          </a:xfrm>
          <a:prstGeom prst="rect">
            <a:avLst/>
          </a:prstGeom>
          <a:solidFill>
            <a:srgbClr val="F8F8F8"/>
          </a:solidFill>
          <a:ln/>
        </p:spPr>
      </p:sp>
      <p:sp>
        <p:nvSpPr>
          <p:cNvPr id="58" name="Text 16">
            <a:extLst>
              <a:ext uri="{FF2B5EF4-FFF2-40B4-BE49-F238E27FC236}">
                <a16:creationId xmlns:a16="http://schemas.microsoft.com/office/drawing/2014/main" id="{0568F8D4-5913-8C95-E117-350CA429926C}"/>
              </a:ext>
            </a:extLst>
          </p:cNvPr>
          <p:cNvSpPr/>
          <p:nvPr/>
        </p:nvSpPr>
        <p:spPr>
          <a:xfrm>
            <a:off x="4362933" y="2587823"/>
            <a:ext cx="311897"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Linux</a:t>
            </a:r>
            <a:endParaRPr lang="en-US" sz="727" dirty="0"/>
          </a:p>
        </p:txBody>
      </p:sp>
      <p:sp>
        <p:nvSpPr>
          <p:cNvPr id="59" name="Text 17">
            <a:extLst>
              <a:ext uri="{FF2B5EF4-FFF2-40B4-BE49-F238E27FC236}">
                <a16:creationId xmlns:a16="http://schemas.microsoft.com/office/drawing/2014/main" id="{05029825-3966-7CBA-D11A-3566642170FC}"/>
              </a:ext>
            </a:extLst>
          </p:cNvPr>
          <p:cNvSpPr/>
          <p:nvPr/>
        </p:nvSpPr>
        <p:spPr>
          <a:xfrm>
            <a:off x="4674830" y="2587823"/>
            <a:ext cx="1109263"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 Distribuições e Kernel.</a:t>
            </a:r>
            <a:endParaRPr lang="en-US" sz="834" dirty="0"/>
          </a:p>
        </p:txBody>
      </p:sp>
      <p:sp>
        <p:nvSpPr>
          <p:cNvPr id="60" name="Text 18">
            <a:extLst>
              <a:ext uri="{FF2B5EF4-FFF2-40B4-BE49-F238E27FC236}">
                <a16:creationId xmlns:a16="http://schemas.microsoft.com/office/drawing/2014/main" id="{677BD77E-537D-DB22-A7F5-807EEDA04597}"/>
              </a:ext>
            </a:extLst>
          </p:cNvPr>
          <p:cNvSpPr/>
          <p:nvPr/>
        </p:nvSpPr>
        <p:spPr>
          <a:xfrm>
            <a:off x="3695811" y="2849267"/>
            <a:ext cx="784222"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Arquitetura do</a:t>
            </a:r>
            <a:endParaRPr lang="en-US" sz="834" dirty="0"/>
          </a:p>
        </p:txBody>
      </p:sp>
      <p:sp>
        <p:nvSpPr>
          <p:cNvPr id="61" name="Shape 19">
            <a:extLst>
              <a:ext uri="{FF2B5EF4-FFF2-40B4-BE49-F238E27FC236}">
                <a16:creationId xmlns:a16="http://schemas.microsoft.com/office/drawing/2014/main" id="{088504CD-5B80-D213-71E3-ECE0716235F5}"/>
              </a:ext>
            </a:extLst>
          </p:cNvPr>
          <p:cNvSpPr/>
          <p:nvPr/>
        </p:nvSpPr>
        <p:spPr>
          <a:xfrm>
            <a:off x="4480033" y="2849267"/>
            <a:ext cx="484324" cy="154288"/>
          </a:xfrm>
          <a:prstGeom prst="rect">
            <a:avLst/>
          </a:prstGeom>
          <a:solidFill>
            <a:srgbClr val="F8F8F8"/>
          </a:solidFill>
          <a:ln/>
        </p:spPr>
      </p:sp>
      <p:sp>
        <p:nvSpPr>
          <p:cNvPr id="62" name="Text 20">
            <a:extLst>
              <a:ext uri="{FF2B5EF4-FFF2-40B4-BE49-F238E27FC236}">
                <a16:creationId xmlns:a16="http://schemas.microsoft.com/office/drawing/2014/main" id="{B8D3CB77-0EBA-25A7-ED69-1364722E0A90}"/>
              </a:ext>
            </a:extLst>
          </p:cNvPr>
          <p:cNvSpPr/>
          <p:nvPr/>
        </p:nvSpPr>
        <p:spPr>
          <a:xfrm>
            <a:off x="4480033" y="2849267"/>
            <a:ext cx="484324"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Windows</a:t>
            </a:r>
            <a:endParaRPr lang="en-US" sz="727" dirty="0"/>
          </a:p>
        </p:txBody>
      </p:sp>
      <p:sp>
        <p:nvSpPr>
          <p:cNvPr id="63" name="Text 21">
            <a:extLst>
              <a:ext uri="{FF2B5EF4-FFF2-40B4-BE49-F238E27FC236}">
                <a16:creationId xmlns:a16="http://schemas.microsoft.com/office/drawing/2014/main" id="{04F3D886-ECB0-2804-5DB4-54ABE2B3C69D}"/>
              </a:ext>
            </a:extLst>
          </p:cNvPr>
          <p:cNvSpPr/>
          <p:nvPr/>
        </p:nvSpPr>
        <p:spPr>
          <a:xfrm>
            <a:off x="4964357" y="2849267"/>
            <a:ext cx="528414"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moderno.</a:t>
            </a:r>
            <a:endParaRPr lang="en-US" sz="834" dirty="0"/>
          </a:p>
        </p:txBody>
      </p:sp>
      <p:sp>
        <p:nvSpPr>
          <p:cNvPr id="64" name="Text 22">
            <a:extLst>
              <a:ext uri="{FF2B5EF4-FFF2-40B4-BE49-F238E27FC236}">
                <a16:creationId xmlns:a16="http://schemas.microsoft.com/office/drawing/2014/main" id="{E0FCA6C1-1DA2-A12D-94D2-1141064CEFF3}"/>
              </a:ext>
            </a:extLst>
          </p:cNvPr>
          <p:cNvSpPr/>
          <p:nvPr/>
        </p:nvSpPr>
        <p:spPr>
          <a:xfrm>
            <a:off x="3695811" y="3127691"/>
            <a:ext cx="2193634"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3333"/>
                </a:solidFill>
              </a:rPr>
              <a:t>Sistemas para dispositivos móveis e embarcados.</a:t>
            </a:r>
            <a:endParaRPr lang="en-US" sz="834" dirty="0"/>
          </a:p>
        </p:txBody>
      </p:sp>
      <p:sp>
        <p:nvSpPr>
          <p:cNvPr id="65" name="Text 23">
            <a:extLst>
              <a:ext uri="{FF2B5EF4-FFF2-40B4-BE49-F238E27FC236}">
                <a16:creationId xmlns:a16="http://schemas.microsoft.com/office/drawing/2014/main" id="{13B4055C-5267-A661-13EE-721741DEE89B}"/>
              </a:ext>
            </a:extLst>
          </p:cNvPr>
          <p:cNvSpPr/>
          <p:nvPr/>
        </p:nvSpPr>
        <p:spPr>
          <a:xfrm>
            <a:off x="3697666" y="3380584"/>
            <a:ext cx="2193634"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Tendências de mercado e SOs líderes.</a:t>
            </a:r>
            <a:endParaRPr lang="en-US" sz="834" dirty="0"/>
          </a:p>
        </p:txBody>
      </p:sp>
      <p:sp>
        <p:nvSpPr>
          <p:cNvPr id="66" name="Shape 24">
            <a:extLst>
              <a:ext uri="{FF2B5EF4-FFF2-40B4-BE49-F238E27FC236}">
                <a16:creationId xmlns:a16="http://schemas.microsoft.com/office/drawing/2014/main" id="{368032C0-3C29-DDFD-0A8E-44A0D8B95242}"/>
              </a:ext>
            </a:extLst>
          </p:cNvPr>
          <p:cNvSpPr/>
          <p:nvPr/>
        </p:nvSpPr>
        <p:spPr>
          <a:xfrm>
            <a:off x="6164554" y="1493044"/>
            <a:ext cx="2550821" cy="3429000"/>
          </a:xfrm>
          <a:prstGeom prst="rect">
            <a:avLst/>
          </a:prstGeom>
          <a:solidFill>
            <a:srgbClr val="FFFFFF"/>
          </a:solidFill>
          <a:ln/>
        </p:spPr>
      </p:sp>
      <p:pic>
        <p:nvPicPr>
          <p:cNvPr id="67" name="Image 3" descr="preencoded.png">
            <a:extLst>
              <a:ext uri="{FF2B5EF4-FFF2-40B4-BE49-F238E27FC236}">
                <a16:creationId xmlns:a16="http://schemas.microsoft.com/office/drawing/2014/main" id="{AA24C856-AF01-3E1A-C5D1-7F339FB0FFE4}"/>
              </a:ext>
            </a:extLst>
          </p:cNvPr>
          <p:cNvPicPr>
            <a:picLocks noChangeAspect="1"/>
          </p:cNvPicPr>
          <p:nvPr/>
        </p:nvPicPr>
        <p:blipFill>
          <a:blip r:embed="rId5"/>
          <a:stretch>
            <a:fillRect/>
          </a:stretch>
        </p:blipFill>
        <p:spPr>
          <a:xfrm>
            <a:off x="7261371" y="1707356"/>
            <a:ext cx="357188" cy="285750"/>
          </a:xfrm>
          <a:prstGeom prst="rect">
            <a:avLst/>
          </a:prstGeom>
        </p:spPr>
      </p:pic>
      <p:sp>
        <p:nvSpPr>
          <p:cNvPr id="68" name="Text 25">
            <a:extLst>
              <a:ext uri="{FF2B5EF4-FFF2-40B4-BE49-F238E27FC236}">
                <a16:creationId xmlns:a16="http://schemas.microsoft.com/office/drawing/2014/main" id="{D038FC5E-8CD9-4C3A-CAE3-46CBCCE04EB6}"/>
              </a:ext>
            </a:extLst>
          </p:cNvPr>
          <p:cNvSpPr/>
          <p:nvPr/>
        </p:nvSpPr>
        <p:spPr>
          <a:xfrm>
            <a:off x="6879320" y="2135981"/>
            <a:ext cx="1121290"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800020"/>
                </a:solidFill>
              </a:rPr>
              <a:t>Virtualização</a:t>
            </a:r>
            <a:endParaRPr lang="en-US" sz="987" dirty="0"/>
          </a:p>
        </p:txBody>
      </p:sp>
      <p:sp>
        <p:nvSpPr>
          <p:cNvPr id="69" name="Text 26">
            <a:extLst>
              <a:ext uri="{FF2B5EF4-FFF2-40B4-BE49-F238E27FC236}">
                <a16:creationId xmlns:a16="http://schemas.microsoft.com/office/drawing/2014/main" id="{C15CEC36-144C-00AB-4168-8D92BB32B33C}"/>
              </a:ext>
            </a:extLst>
          </p:cNvPr>
          <p:cNvSpPr/>
          <p:nvPr/>
        </p:nvSpPr>
        <p:spPr>
          <a:xfrm>
            <a:off x="6486023" y="2587823"/>
            <a:ext cx="690488"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Conceitos de</a:t>
            </a:r>
            <a:endParaRPr lang="en-US" sz="834" dirty="0"/>
          </a:p>
        </p:txBody>
      </p:sp>
      <p:sp>
        <p:nvSpPr>
          <p:cNvPr id="70" name="Shape 27">
            <a:extLst>
              <a:ext uri="{FF2B5EF4-FFF2-40B4-BE49-F238E27FC236}">
                <a16:creationId xmlns:a16="http://schemas.microsoft.com/office/drawing/2014/main" id="{DAFC03C0-E1F2-CEAB-1E12-038111D3584D}"/>
              </a:ext>
            </a:extLst>
          </p:cNvPr>
          <p:cNvSpPr/>
          <p:nvPr/>
        </p:nvSpPr>
        <p:spPr>
          <a:xfrm>
            <a:off x="7176511" y="2587823"/>
            <a:ext cx="657644" cy="154288"/>
          </a:xfrm>
          <a:prstGeom prst="rect">
            <a:avLst/>
          </a:prstGeom>
          <a:solidFill>
            <a:srgbClr val="F8F8F8"/>
          </a:solidFill>
          <a:ln/>
        </p:spPr>
      </p:sp>
      <p:sp>
        <p:nvSpPr>
          <p:cNvPr id="71" name="Text 28">
            <a:extLst>
              <a:ext uri="{FF2B5EF4-FFF2-40B4-BE49-F238E27FC236}">
                <a16:creationId xmlns:a16="http://schemas.microsoft.com/office/drawing/2014/main" id="{5C099AC9-7876-CCDA-A93B-C15A7A0ED62B}"/>
              </a:ext>
            </a:extLst>
          </p:cNvPr>
          <p:cNvSpPr/>
          <p:nvPr/>
        </p:nvSpPr>
        <p:spPr>
          <a:xfrm>
            <a:off x="7176511" y="2587823"/>
            <a:ext cx="657644"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Virtualização</a:t>
            </a:r>
            <a:endParaRPr lang="en-US" sz="727" dirty="0"/>
          </a:p>
        </p:txBody>
      </p:sp>
      <p:sp>
        <p:nvSpPr>
          <p:cNvPr id="72" name="Text 29">
            <a:extLst>
              <a:ext uri="{FF2B5EF4-FFF2-40B4-BE49-F238E27FC236}">
                <a16:creationId xmlns:a16="http://schemas.microsoft.com/office/drawing/2014/main" id="{1AE224F7-E077-3D02-D2D5-5140F5694D29}"/>
              </a:ext>
            </a:extLst>
          </p:cNvPr>
          <p:cNvSpPr/>
          <p:nvPr/>
        </p:nvSpPr>
        <p:spPr>
          <a:xfrm>
            <a:off x="7834155" y="2587823"/>
            <a:ext cx="708431"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de hardware.</a:t>
            </a:r>
            <a:endParaRPr lang="en-US" sz="834" dirty="0"/>
          </a:p>
        </p:txBody>
      </p:sp>
      <p:sp>
        <p:nvSpPr>
          <p:cNvPr id="73" name="Text 30">
            <a:extLst>
              <a:ext uri="{FF2B5EF4-FFF2-40B4-BE49-F238E27FC236}">
                <a16:creationId xmlns:a16="http://schemas.microsoft.com/office/drawing/2014/main" id="{67B2DFB6-7D31-9CE7-64BB-59F67E5766E1}"/>
              </a:ext>
            </a:extLst>
          </p:cNvPr>
          <p:cNvSpPr/>
          <p:nvPr/>
        </p:nvSpPr>
        <p:spPr>
          <a:xfrm>
            <a:off x="6486023" y="2854989"/>
            <a:ext cx="371949"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Uso de</a:t>
            </a:r>
            <a:endParaRPr lang="en-US" sz="834" dirty="0"/>
          </a:p>
        </p:txBody>
      </p:sp>
      <p:sp>
        <p:nvSpPr>
          <p:cNvPr id="74" name="Shape 31">
            <a:extLst>
              <a:ext uri="{FF2B5EF4-FFF2-40B4-BE49-F238E27FC236}">
                <a16:creationId xmlns:a16="http://schemas.microsoft.com/office/drawing/2014/main" id="{A099F269-ED51-9185-4345-79C5A09451AE}"/>
              </a:ext>
            </a:extLst>
          </p:cNvPr>
          <p:cNvSpPr/>
          <p:nvPr/>
        </p:nvSpPr>
        <p:spPr>
          <a:xfrm>
            <a:off x="6857973" y="2854989"/>
            <a:ext cx="568123" cy="154288"/>
          </a:xfrm>
          <a:prstGeom prst="rect">
            <a:avLst/>
          </a:prstGeom>
          <a:solidFill>
            <a:srgbClr val="F8F8F8"/>
          </a:solidFill>
          <a:ln/>
        </p:spPr>
      </p:sp>
      <p:sp>
        <p:nvSpPr>
          <p:cNvPr id="75" name="Text 32">
            <a:extLst>
              <a:ext uri="{FF2B5EF4-FFF2-40B4-BE49-F238E27FC236}">
                <a16:creationId xmlns:a16="http://schemas.microsoft.com/office/drawing/2014/main" id="{37EF7160-39BB-54A0-D219-9FB86B36139B}"/>
              </a:ext>
            </a:extLst>
          </p:cNvPr>
          <p:cNvSpPr/>
          <p:nvPr/>
        </p:nvSpPr>
        <p:spPr>
          <a:xfrm>
            <a:off x="6857973" y="2854989"/>
            <a:ext cx="568123"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Containers</a:t>
            </a:r>
            <a:endParaRPr lang="en-US" sz="727" dirty="0"/>
          </a:p>
        </p:txBody>
      </p:sp>
      <p:sp>
        <p:nvSpPr>
          <p:cNvPr id="76" name="Text 33">
            <a:extLst>
              <a:ext uri="{FF2B5EF4-FFF2-40B4-BE49-F238E27FC236}">
                <a16:creationId xmlns:a16="http://schemas.microsoft.com/office/drawing/2014/main" id="{803507D6-537C-FB5B-C447-65CC3B98CE95}"/>
              </a:ext>
            </a:extLst>
          </p:cNvPr>
          <p:cNvSpPr/>
          <p:nvPr/>
        </p:nvSpPr>
        <p:spPr>
          <a:xfrm>
            <a:off x="7426096" y="2854989"/>
            <a:ext cx="903210"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para isolamento.</a:t>
            </a:r>
            <a:endParaRPr lang="en-US" sz="834" dirty="0"/>
          </a:p>
        </p:txBody>
      </p:sp>
      <p:sp>
        <p:nvSpPr>
          <p:cNvPr id="77" name="Text 34">
            <a:extLst>
              <a:ext uri="{FF2B5EF4-FFF2-40B4-BE49-F238E27FC236}">
                <a16:creationId xmlns:a16="http://schemas.microsoft.com/office/drawing/2014/main" id="{115746FB-D071-BFC5-3A11-9D74EB61FFD6}"/>
              </a:ext>
            </a:extLst>
          </p:cNvPr>
          <p:cNvSpPr/>
          <p:nvPr/>
        </p:nvSpPr>
        <p:spPr>
          <a:xfrm>
            <a:off x="6486023" y="3122154"/>
            <a:ext cx="906642"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Fundamentos de</a:t>
            </a:r>
            <a:endParaRPr lang="en-US" sz="834" dirty="0"/>
          </a:p>
        </p:txBody>
      </p:sp>
      <p:sp>
        <p:nvSpPr>
          <p:cNvPr id="78" name="Shape 35">
            <a:extLst>
              <a:ext uri="{FF2B5EF4-FFF2-40B4-BE49-F238E27FC236}">
                <a16:creationId xmlns:a16="http://schemas.microsoft.com/office/drawing/2014/main" id="{A8493780-5118-F68F-9EED-1135E59BB6AE}"/>
              </a:ext>
            </a:extLst>
          </p:cNvPr>
          <p:cNvSpPr/>
          <p:nvPr/>
        </p:nvSpPr>
        <p:spPr>
          <a:xfrm>
            <a:off x="7392666" y="3122154"/>
            <a:ext cx="389809" cy="154288"/>
          </a:xfrm>
          <a:prstGeom prst="rect">
            <a:avLst/>
          </a:prstGeom>
          <a:solidFill>
            <a:srgbClr val="F8F8F8"/>
          </a:solidFill>
          <a:ln/>
        </p:spPr>
      </p:sp>
      <p:sp>
        <p:nvSpPr>
          <p:cNvPr id="79" name="Text 36">
            <a:extLst>
              <a:ext uri="{FF2B5EF4-FFF2-40B4-BE49-F238E27FC236}">
                <a16:creationId xmlns:a16="http://schemas.microsoft.com/office/drawing/2014/main" id="{5649FF90-ACCC-92AC-35F3-82B25CDA52E3}"/>
              </a:ext>
            </a:extLst>
          </p:cNvPr>
          <p:cNvSpPr/>
          <p:nvPr/>
        </p:nvSpPr>
        <p:spPr>
          <a:xfrm>
            <a:off x="7392666" y="3122154"/>
            <a:ext cx="389809" cy="154288"/>
          </a:xfrm>
          <a:prstGeom prst="rect">
            <a:avLst/>
          </a:prstGeom>
          <a:noFill/>
          <a:ln/>
        </p:spPr>
        <p:txBody>
          <a:bodyPr wrap="none" lIns="34036" tIns="8509" rIns="34036" bIns="8509" rtlCol="0" anchor="t">
            <a:spAutoFit/>
          </a:bodyPr>
          <a:lstStyle/>
          <a:p>
            <a:pPr marL="0" indent="0" algn="l">
              <a:lnSpc>
                <a:spcPts val="1100"/>
              </a:lnSpc>
              <a:buNone/>
            </a:pPr>
            <a:r>
              <a:rPr lang="en-US" sz="727" dirty="0">
                <a:solidFill>
                  <a:srgbClr val="800020"/>
                </a:solidFill>
              </a:rPr>
              <a:t>Docker</a:t>
            </a:r>
            <a:endParaRPr lang="en-US" sz="727" dirty="0"/>
          </a:p>
        </p:txBody>
      </p:sp>
      <p:sp>
        <p:nvSpPr>
          <p:cNvPr id="80" name="Text 37">
            <a:extLst>
              <a:ext uri="{FF2B5EF4-FFF2-40B4-BE49-F238E27FC236}">
                <a16:creationId xmlns:a16="http://schemas.microsoft.com/office/drawing/2014/main" id="{2F9A7EDF-9C02-DD85-C431-663430048E3D}"/>
              </a:ext>
            </a:extLst>
          </p:cNvPr>
          <p:cNvSpPr/>
          <p:nvPr/>
        </p:nvSpPr>
        <p:spPr>
          <a:xfrm>
            <a:off x="7782474" y="3122154"/>
            <a:ext cx="30640"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a:t>
            </a:r>
            <a:endParaRPr lang="en-US" sz="834" dirty="0"/>
          </a:p>
        </p:txBody>
      </p:sp>
      <p:sp>
        <p:nvSpPr>
          <p:cNvPr id="81" name="Text 38">
            <a:extLst>
              <a:ext uri="{FF2B5EF4-FFF2-40B4-BE49-F238E27FC236}">
                <a16:creationId xmlns:a16="http://schemas.microsoft.com/office/drawing/2014/main" id="{4B9A2A8B-FD56-2732-5957-5EA76678D5B0}"/>
              </a:ext>
            </a:extLst>
          </p:cNvPr>
          <p:cNvSpPr/>
          <p:nvPr/>
        </p:nvSpPr>
        <p:spPr>
          <a:xfrm>
            <a:off x="6486023" y="3389319"/>
            <a:ext cx="2193634" cy="16000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333333"/>
                </a:solidFill>
              </a:rPr>
              <a:t>Infraestrutura como código e nuvem.</a:t>
            </a:r>
            <a:endParaRPr lang="en-US" sz="834" dirty="0"/>
          </a:p>
        </p:txBody>
      </p:sp>
    </p:spTree>
    <p:extLst>
      <p:ext uri="{BB962C8B-B14F-4D97-AF65-F5344CB8AC3E}">
        <p14:creationId xmlns:p14="http://schemas.microsoft.com/office/powerpoint/2010/main" val="3623903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2987613" cy="390235"/>
          </a:xfrm>
          <a:prstGeom prst="rect">
            <a:avLst/>
          </a:prstGeom>
          <a:noFill/>
          <a:ln/>
        </p:spPr>
        <p:txBody>
          <a:bodyPr wrap="none" lIns="0" tIns="0" rIns="0" bIns="0" rtlCol="0" anchor="t">
            <a:spAutoFit/>
          </a:bodyPr>
          <a:lstStyle/>
          <a:p>
            <a:pPr marL="0" indent="0" algn="l">
              <a:lnSpc>
                <a:spcPts val="3200"/>
              </a:lnSpc>
              <a:buNone/>
            </a:pPr>
            <a:r>
              <a:rPr lang="pt-BR" sz="2436" b="1" dirty="0">
                <a:solidFill>
                  <a:srgbClr val="971536"/>
                </a:solidFill>
              </a:rPr>
              <a:t>Metodologia de Ensino</a:t>
            </a:r>
          </a:p>
        </p:txBody>
      </p:sp>
      <p:sp>
        <p:nvSpPr>
          <p:cNvPr id="13" name="Retângulo 12">
            <a:extLst>
              <a:ext uri="{FF2B5EF4-FFF2-40B4-BE49-F238E27FC236}">
                <a16:creationId xmlns:a16="http://schemas.microsoft.com/office/drawing/2014/main" id="{ED15BF93-3E21-ADDB-2BBC-5E4F966ED69F}"/>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Shape 3">
            <a:extLst>
              <a:ext uri="{FF2B5EF4-FFF2-40B4-BE49-F238E27FC236}">
                <a16:creationId xmlns:a16="http://schemas.microsoft.com/office/drawing/2014/main" id="{B3DAF0B9-528C-0E38-883C-C4771264E01B}"/>
              </a:ext>
            </a:extLst>
          </p:cNvPr>
          <p:cNvSpPr/>
          <p:nvPr/>
        </p:nvSpPr>
        <p:spPr>
          <a:xfrm>
            <a:off x="428625" y="1493044"/>
            <a:ext cx="2543426" cy="3429000"/>
          </a:xfrm>
          <a:prstGeom prst="rect">
            <a:avLst/>
          </a:prstGeom>
          <a:solidFill>
            <a:srgbClr val="FFFFFF"/>
          </a:solidFill>
          <a:ln/>
        </p:spPr>
      </p:sp>
      <p:sp>
        <p:nvSpPr>
          <p:cNvPr id="28" name="Shape 12">
            <a:extLst>
              <a:ext uri="{FF2B5EF4-FFF2-40B4-BE49-F238E27FC236}">
                <a16:creationId xmlns:a16="http://schemas.microsoft.com/office/drawing/2014/main" id="{7F6F9EF9-0E33-4F74-B739-5CE1DCBA93FA}"/>
              </a:ext>
            </a:extLst>
          </p:cNvPr>
          <p:cNvSpPr/>
          <p:nvPr/>
        </p:nvSpPr>
        <p:spPr>
          <a:xfrm>
            <a:off x="3399420" y="1493044"/>
            <a:ext cx="2550821" cy="3429000"/>
          </a:xfrm>
          <a:prstGeom prst="rect">
            <a:avLst/>
          </a:prstGeom>
          <a:solidFill>
            <a:srgbClr val="FFFFFF"/>
          </a:solidFill>
          <a:ln/>
        </p:spPr>
      </p:sp>
      <p:sp>
        <p:nvSpPr>
          <p:cNvPr id="66" name="Shape 24">
            <a:extLst>
              <a:ext uri="{FF2B5EF4-FFF2-40B4-BE49-F238E27FC236}">
                <a16:creationId xmlns:a16="http://schemas.microsoft.com/office/drawing/2014/main" id="{368032C0-3C29-DDFD-0A8E-44A0D8B95242}"/>
              </a:ext>
            </a:extLst>
          </p:cNvPr>
          <p:cNvSpPr/>
          <p:nvPr/>
        </p:nvSpPr>
        <p:spPr>
          <a:xfrm>
            <a:off x="6164554" y="1493044"/>
            <a:ext cx="2550821" cy="3429000"/>
          </a:xfrm>
          <a:prstGeom prst="rect">
            <a:avLst/>
          </a:prstGeom>
          <a:solidFill>
            <a:srgbClr val="FFFFFF"/>
          </a:solidFill>
          <a:ln/>
        </p:spPr>
      </p:sp>
      <p:sp>
        <p:nvSpPr>
          <p:cNvPr id="2" name="Shape 3">
            <a:extLst>
              <a:ext uri="{FF2B5EF4-FFF2-40B4-BE49-F238E27FC236}">
                <a16:creationId xmlns:a16="http://schemas.microsoft.com/office/drawing/2014/main" id="{B6232240-D25F-DE0C-0442-438949B0D5AC}"/>
              </a:ext>
            </a:extLst>
          </p:cNvPr>
          <p:cNvSpPr/>
          <p:nvPr/>
        </p:nvSpPr>
        <p:spPr>
          <a:xfrm>
            <a:off x="428625" y="1564481"/>
            <a:ext cx="2619384" cy="3286125"/>
          </a:xfrm>
          <a:prstGeom prst="rect">
            <a:avLst/>
          </a:prstGeom>
          <a:solidFill>
            <a:srgbClr val="FFFFFF"/>
          </a:solidFill>
          <a:ln/>
        </p:spPr>
      </p:sp>
      <p:sp>
        <p:nvSpPr>
          <p:cNvPr id="15" name="Shape 4">
            <a:extLst>
              <a:ext uri="{FF2B5EF4-FFF2-40B4-BE49-F238E27FC236}">
                <a16:creationId xmlns:a16="http://schemas.microsoft.com/office/drawing/2014/main" id="{9BD19681-8BAD-3D66-48F2-6C2AA97D2960}"/>
              </a:ext>
            </a:extLst>
          </p:cNvPr>
          <p:cNvSpPr/>
          <p:nvPr/>
        </p:nvSpPr>
        <p:spPr>
          <a:xfrm>
            <a:off x="1488272" y="1850231"/>
            <a:ext cx="500063" cy="500063"/>
          </a:xfrm>
          <a:prstGeom prst="rect">
            <a:avLst/>
          </a:prstGeom>
          <a:solidFill>
            <a:srgbClr val="800020"/>
          </a:solidFill>
          <a:ln/>
        </p:spPr>
      </p:sp>
      <p:pic>
        <p:nvPicPr>
          <p:cNvPr id="16" name="Image 1" descr="preencoded.png">
            <a:extLst>
              <a:ext uri="{FF2B5EF4-FFF2-40B4-BE49-F238E27FC236}">
                <a16:creationId xmlns:a16="http://schemas.microsoft.com/office/drawing/2014/main" id="{20446C6A-41C3-BC95-175F-00E36DCC6C75}"/>
              </a:ext>
            </a:extLst>
          </p:cNvPr>
          <p:cNvPicPr>
            <a:picLocks noChangeAspect="1"/>
          </p:cNvPicPr>
          <p:nvPr/>
        </p:nvPicPr>
        <p:blipFill>
          <a:blip r:embed="rId3"/>
          <a:stretch>
            <a:fillRect/>
          </a:stretch>
        </p:blipFill>
        <p:spPr>
          <a:xfrm>
            <a:off x="1604358" y="1993106"/>
            <a:ext cx="267891" cy="214313"/>
          </a:xfrm>
          <a:prstGeom prst="rect">
            <a:avLst/>
          </a:prstGeom>
        </p:spPr>
      </p:pic>
      <p:sp>
        <p:nvSpPr>
          <p:cNvPr id="17" name="Text 5">
            <a:extLst>
              <a:ext uri="{FF2B5EF4-FFF2-40B4-BE49-F238E27FC236}">
                <a16:creationId xmlns:a16="http://schemas.microsoft.com/office/drawing/2014/main" id="{FB41FBD3-0613-3443-F3A4-46BA3B795DBD}"/>
              </a:ext>
            </a:extLst>
          </p:cNvPr>
          <p:cNvSpPr/>
          <p:nvPr/>
        </p:nvSpPr>
        <p:spPr>
          <a:xfrm>
            <a:off x="885630" y="2528888"/>
            <a:ext cx="1705375"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800020"/>
                </a:solidFill>
              </a:rPr>
              <a:t>Abordagem Teórica</a:t>
            </a:r>
            <a:endParaRPr lang="en-US" sz="1090" dirty="0"/>
          </a:p>
        </p:txBody>
      </p:sp>
      <p:sp>
        <p:nvSpPr>
          <p:cNvPr id="18" name="Text 6">
            <a:extLst>
              <a:ext uri="{FF2B5EF4-FFF2-40B4-BE49-F238E27FC236}">
                <a16:creationId xmlns:a16="http://schemas.microsoft.com/office/drawing/2014/main" id="{4234BCB8-BCAF-515E-350E-95239FEDBD6B}"/>
              </a:ext>
            </a:extLst>
          </p:cNvPr>
          <p:cNvSpPr/>
          <p:nvPr/>
        </p:nvSpPr>
        <p:spPr>
          <a:xfrm>
            <a:off x="642938" y="3014663"/>
            <a:ext cx="2190759"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555555"/>
                </a:solidFill>
              </a:rPr>
              <a:t>Aulas expositivas dialogadas com foco na fundamentação conceitual e arquitetural dos sistemas.</a:t>
            </a:r>
            <a:endParaRPr lang="en-US" sz="942" dirty="0"/>
          </a:p>
        </p:txBody>
      </p:sp>
      <p:sp>
        <p:nvSpPr>
          <p:cNvPr id="19" name="Shape 7">
            <a:extLst>
              <a:ext uri="{FF2B5EF4-FFF2-40B4-BE49-F238E27FC236}">
                <a16:creationId xmlns:a16="http://schemas.microsoft.com/office/drawing/2014/main" id="{22402683-54C6-B3BD-A4FC-8288E39FB7CC}"/>
              </a:ext>
            </a:extLst>
          </p:cNvPr>
          <p:cNvSpPr/>
          <p:nvPr/>
        </p:nvSpPr>
        <p:spPr>
          <a:xfrm>
            <a:off x="1205006" y="3867559"/>
            <a:ext cx="1066623" cy="192881"/>
          </a:xfrm>
          <a:prstGeom prst="rect">
            <a:avLst/>
          </a:prstGeom>
          <a:solidFill>
            <a:srgbClr val="F0F0F0"/>
          </a:solidFill>
          <a:ln/>
        </p:spPr>
      </p:sp>
      <p:sp>
        <p:nvSpPr>
          <p:cNvPr id="20" name="Text 8">
            <a:extLst>
              <a:ext uri="{FF2B5EF4-FFF2-40B4-BE49-F238E27FC236}">
                <a16:creationId xmlns:a16="http://schemas.microsoft.com/office/drawing/2014/main" id="{8D160A08-A205-63A0-0320-00E9E302CA56}"/>
              </a:ext>
            </a:extLst>
          </p:cNvPr>
          <p:cNvSpPr/>
          <p:nvPr/>
        </p:nvSpPr>
        <p:spPr>
          <a:xfrm>
            <a:off x="1205006" y="3867559"/>
            <a:ext cx="1066623" cy="192881"/>
          </a:xfrm>
          <a:prstGeom prst="rect">
            <a:avLst/>
          </a:prstGeom>
          <a:noFill/>
          <a:ln/>
        </p:spPr>
        <p:txBody>
          <a:bodyPr wrap="square" lIns="68072" tIns="34036" rIns="68072" bIns="34036" rtlCol="0" anchor="t">
            <a:spAutoFit/>
          </a:bodyPr>
          <a:lstStyle/>
          <a:p>
            <a:pPr marL="0" indent="0" algn="ctr">
              <a:lnSpc>
                <a:spcPts val="900"/>
              </a:lnSpc>
              <a:buNone/>
            </a:pPr>
            <a:r>
              <a:rPr lang="en-US" sz="727" dirty="0">
                <a:solidFill>
                  <a:srgbClr val="800020"/>
                </a:solidFill>
              </a:rPr>
              <a:t>Fundamentos de SO</a:t>
            </a:r>
            <a:endParaRPr lang="en-US" sz="727" dirty="0"/>
          </a:p>
        </p:txBody>
      </p:sp>
      <p:sp>
        <p:nvSpPr>
          <p:cNvPr id="21" name="Shape 9">
            <a:extLst>
              <a:ext uri="{FF2B5EF4-FFF2-40B4-BE49-F238E27FC236}">
                <a16:creationId xmlns:a16="http://schemas.microsoft.com/office/drawing/2014/main" id="{36540D9B-EB03-CA40-5AFF-9F28E2CB77CD}"/>
              </a:ext>
            </a:extLst>
          </p:cNvPr>
          <p:cNvSpPr/>
          <p:nvPr/>
        </p:nvSpPr>
        <p:spPr>
          <a:xfrm>
            <a:off x="3262322" y="1564481"/>
            <a:ext cx="2619384" cy="3286125"/>
          </a:xfrm>
          <a:prstGeom prst="rect">
            <a:avLst/>
          </a:prstGeom>
          <a:solidFill>
            <a:srgbClr val="FFFFFF"/>
          </a:solidFill>
          <a:ln/>
        </p:spPr>
      </p:sp>
      <p:sp>
        <p:nvSpPr>
          <p:cNvPr id="22" name="Shape 10">
            <a:extLst>
              <a:ext uri="{FF2B5EF4-FFF2-40B4-BE49-F238E27FC236}">
                <a16:creationId xmlns:a16="http://schemas.microsoft.com/office/drawing/2014/main" id="{EE878A46-B0F2-F433-9F7A-AFBF9C2A4CFF}"/>
              </a:ext>
            </a:extLst>
          </p:cNvPr>
          <p:cNvSpPr/>
          <p:nvPr/>
        </p:nvSpPr>
        <p:spPr>
          <a:xfrm>
            <a:off x="4321969" y="1850231"/>
            <a:ext cx="500063" cy="500063"/>
          </a:xfrm>
          <a:prstGeom prst="rect">
            <a:avLst/>
          </a:prstGeom>
          <a:solidFill>
            <a:srgbClr val="800020"/>
          </a:solidFill>
          <a:ln/>
        </p:spPr>
      </p:sp>
      <p:pic>
        <p:nvPicPr>
          <p:cNvPr id="23" name="Image 2" descr="preencoded.png">
            <a:extLst>
              <a:ext uri="{FF2B5EF4-FFF2-40B4-BE49-F238E27FC236}">
                <a16:creationId xmlns:a16="http://schemas.microsoft.com/office/drawing/2014/main" id="{CE6741C0-ECF4-2C26-D102-63F4B48FA62B}"/>
              </a:ext>
            </a:extLst>
          </p:cNvPr>
          <p:cNvPicPr>
            <a:picLocks noChangeAspect="1"/>
          </p:cNvPicPr>
          <p:nvPr/>
        </p:nvPicPr>
        <p:blipFill>
          <a:blip r:embed="rId4"/>
          <a:stretch>
            <a:fillRect/>
          </a:stretch>
        </p:blipFill>
        <p:spPr>
          <a:xfrm>
            <a:off x="4478238" y="1993106"/>
            <a:ext cx="187523" cy="214313"/>
          </a:xfrm>
          <a:prstGeom prst="rect">
            <a:avLst/>
          </a:prstGeom>
        </p:spPr>
      </p:pic>
      <p:sp>
        <p:nvSpPr>
          <p:cNvPr id="24" name="Text 11">
            <a:extLst>
              <a:ext uri="{FF2B5EF4-FFF2-40B4-BE49-F238E27FC236}">
                <a16:creationId xmlns:a16="http://schemas.microsoft.com/office/drawing/2014/main" id="{33247D58-6A41-ED38-C8AF-3B766EBF0A62}"/>
              </a:ext>
            </a:extLst>
          </p:cNvPr>
          <p:cNvSpPr/>
          <p:nvPr/>
        </p:nvSpPr>
        <p:spPr>
          <a:xfrm>
            <a:off x="3731577" y="2528888"/>
            <a:ext cx="1680874"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800020"/>
                </a:solidFill>
              </a:rPr>
              <a:t>Atividades Práticas</a:t>
            </a:r>
            <a:endParaRPr lang="en-US" sz="1090" dirty="0"/>
          </a:p>
        </p:txBody>
      </p:sp>
      <p:sp>
        <p:nvSpPr>
          <p:cNvPr id="25" name="Text 12">
            <a:extLst>
              <a:ext uri="{FF2B5EF4-FFF2-40B4-BE49-F238E27FC236}">
                <a16:creationId xmlns:a16="http://schemas.microsoft.com/office/drawing/2014/main" id="{8C1BEFC1-BF64-CE7F-9F11-6B39D99CA45F}"/>
              </a:ext>
            </a:extLst>
          </p:cNvPr>
          <p:cNvSpPr/>
          <p:nvPr/>
        </p:nvSpPr>
        <p:spPr>
          <a:xfrm>
            <a:off x="3476634" y="3014663"/>
            <a:ext cx="2190759"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555555"/>
                </a:solidFill>
              </a:rPr>
              <a:t>Práticas intensivas em laboratório utilizando simuladores para visualização de conceitos abstratos.</a:t>
            </a:r>
            <a:endParaRPr lang="en-US" sz="942" dirty="0"/>
          </a:p>
        </p:txBody>
      </p:sp>
      <p:sp>
        <p:nvSpPr>
          <p:cNvPr id="26" name="Shape 13">
            <a:extLst>
              <a:ext uri="{FF2B5EF4-FFF2-40B4-BE49-F238E27FC236}">
                <a16:creationId xmlns:a16="http://schemas.microsoft.com/office/drawing/2014/main" id="{D129866D-44F6-410D-5189-AB7957018291}"/>
              </a:ext>
            </a:extLst>
          </p:cNvPr>
          <p:cNvSpPr/>
          <p:nvPr/>
        </p:nvSpPr>
        <p:spPr>
          <a:xfrm>
            <a:off x="4039679" y="3867559"/>
            <a:ext cx="1064642" cy="192881"/>
          </a:xfrm>
          <a:prstGeom prst="rect">
            <a:avLst/>
          </a:prstGeom>
          <a:solidFill>
            <a:srgbClr val="F0F0F0"/>
          </a:solidFill>
          <a:ln/>
        </p:spPr>
      </p:sp>
      <p:sp>
        <p:nvSpPr>
          <p:cNvPr id="27" name="Text 14">
            <a:extLst>
              <a:ext uri="{FF2B5EF4-FFF2-40B4-BE49-F238E27FC236}">
                <a16:creationId xmlns:a16="http://schemas.microsoft.com/office/drawing/2014/main" id="{1FC641C7-791E-97C4-B431-CFFCF2D3AF3D}"/>
              </a:ext>
            </a:extLst>
          </p:cNvPr>
          <p:cNvSpPr/>
          <p:nvPr/>
        </p:nvSpPr>
        <p:spPr>
          <a:xfrm>
            <a:off x="4039679" y="3867559"/>
            <a:ext cx="1064642" cy="192881"/>
          </a:xfrm>
          <a:prstGeom prst="rect">
            <a:avLst/>
          </a:prstGeom>
          <a:noFill/>
          <a:ln/>
        </p:spPr>
        <p:txBody>
          <a:bodyPr wrap="square" lIns="68072" tIns="34036" rIns="68072" bIns="34036" rtlCol="0" anchor="t">
            <a:spAutoFit/>
          </a:bodyPr>
          <a:lstStyle/>
          <a:p>
            <a:pPr marL="0" indent="0" algn="ctr">
              <a:lnSpc>
                <a:spcPts val="900"/>
              </a:lnSpc>
              <a:buNone/>
            </a:pPr>
            <a:r>
              <a:rPr lang="en-US" sz="727" dirty="0">
                <a:solidFill>
                  <a:srgbClr val="800020"/>
                </a:solidFill>
              </a:rPr>
              <a:t>Simuladores de CPU</a:t>
            </a:r>
            <a:endParaRPr lang="en-US" sz="727" dirty="0"/>
          </a:p>
        </p:txBody>
      </p:sp>
      <p:sp>
        <p:nvSpPr>
          <p:cNvPr id="29" name="Shape 15">
            <a:extLst>
              <a:ext uri="{FF2B5EF4-FFF2-40B4-BE49-F238E27FC236}">
                <a16:creationId xmlns:a16="http://schemas.microsoft.com/office/drawing/2014/main" id="{25297B9B-C82A-5941-37E4-BBBC06989495}"/>
              </a:ext>
            </a:extLst>
          </p:cNvPr>
          <p:cNvSpPr/>
          <p:nvPr/>
        </p:nvSpPr>
        <p:spPr>
          <a:xfrm>
            <a:off x="6096019" y="1564481"/>
            <a:ext cx="2619384" cy="3286125"/>
          </a:xfrm>
          <a:prstGeom prst="rect">
            <a:avLst/>
          </a:prstGeom>
          <a:solidFill>
            <a:srgbClr val="FFFFFF"/>
          </a:solidFill>
          <a:ln/>
        </p:spPr>
      </p:sp>
      <p:sp>
        <p:nvSpPr>
          <p:cNvPr id="30" name="Shape 16">
            <a:extLst>
              <a:ext uri="{FF2B5EF4-FFF2-40B4-BE49-F238E27FC236}">
                <a16:creationId xmlns:a16="http://schemas.microsoft.com/office/drawing/2014/main" id="{B0BBB2C8-7D59-7E57-6639-B1B257D4E10D}"/>
              </a:ext>
            </a:extLst>
          </p:cNvPr>
          <p:cNvSpPr/>
          <p:nvPr/>
        </p:nvSpPr>
        <p:spPr>
          <a:xfrm>
            <a:off x="7155666" y="1850231"/>
            <a:ext cx="500063" cy="500063"/>
          </a:xfrm>
          <a:prstGeom prst="rect">
            <a:avLst/>
          </a:prstGeom>
          <a:solidFill>
            <a:srgbClr val="800020"/>
          </a:solidFill>
          <a:ln/>
        </p:spPr>
      </p:sp>
      <p:pic>
        <p:nvPicPr>
          <p:cNvPr id="31" name="Image 3" descr="preencoded.png">
            <a:extLst>
              <a:ext uri="{FF2B5EF4-FFF2-40B4-BE49-F238E27FC236}">
                <a16:creationId xmlns:a16="http://schemas.microsoft.com/office/drawing/2014/main" id="{EDDA20E6-9BD3-EA3E-792E-5869F89546E9}"/>
              </a:ext>
            </a:extLst>
          </p:cNvPr>
          <p:cNvPicPr>
            <a:picLocks noChangeAspect="1"/>
          </p:cNvPicPr>
          <p:nvPr/>
        </p:nvPicPr>
        <p:blipFill>
          <a:blip r:embed="rId5"/>
          <a:stretch>
            <a:fillRect/>
          </a:stretch>
        </p:blipFill>
        <p:spPr>
          <a:xfrm>
            <a:off x="7285146" y="1993106"/>
            <a:ext cx="241102" cy="214313"/>
          </a:xfrm>
          <a:prstGeom prst="rect">
            <a:avLst/>
          </a:prstGeom>
        </p:spPr>
      </p:pic>
      <p:sp>
        <p:nvSpPr>
          <p:cNvPr id="32" name="Text 17">
            <a:extLst>
              <a:ext uri="{FF2B5EF4-FFF2-40B4-BE49-F238E27FC236}">
                <a16:creationId xmlns:a16="http://schemas.microsoft.com/office/drawing/2014/main" id="{1A2C6B44-91E3-F77B-21EA-59D4A3C53396}"/>
              </a:ext>
            </a:extLst>
          </p:cNvPr>
          <p:cNvSpPr/>
          <p:nvPr/>
        </p:nvSpPr>
        <p:spPr>
          <a:xfrm>
            <a:off x="6690680" y="2528888"/>
            <a:ext cx="1430034" cy="214313"/>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800020"/>
                </a:solidFill>
              </a:rPr>
              <a:t>Experiência Real</a:t>
            </a:r>
            <a:endParaRPr lang="en-US" sz="1090" dirty="0"/>
          </a:p>
        </p:txBody>
      </p:sp>
      <p:sp>
        <p:nvSpPr>
          <p:cNvPr id="33" name="Text 18">
            <a:extLst>
              <a:ext uri="{FF2B5EF4-FFF2-40B4-BE49-F238E27FC236}">
                <a16:creationId xmlns:a16="http://schemas.microsoft.com/office/drawing/2014/main" id="{46F70C0A-AE86-AC80-1F0B-9BB17F4F3558}"/>
              </a:ext>
            </a:extLst>
          </p:cNvPr>
          <p:cNvSpPr/>
          <p:nvPr/>
        </p:nvSpPr>
        <p:spPr>
          <a:xfrm>
            <a:off x="6310331" y="3014663"/>
            <a:ext cx="2190759"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555555"/>
                </a:solidFill>
              </a:rPr>
              <a:t>Uso direto de terminal Linux e análise de estudos de caso sobre falhas históricas de sistemas.</a:t>
            </a:r>
            <a:endParaRPr lang="en-US" sz="942" dirty="0"/>
          </a:p>
        </p:txBody>
      </p:sp>
      <p:sp>
        <p:nvSpPr>
          <p:cNvPr id="34" name="Shape 19">
            <a:extLst>
              <a:ext uri="{FF2B5EF4-FFF2-40B4-BE49-F238E27FC236}">
                <a16:creationId xmlns:a16="http://schemas.microsoft.com/office/drawing/2014/main" id="{C96A116B-1AAE-61A7-3979-9B77474642B1}"/>
              </a:ext>
            </a:extLst>
          </p:cNvPr>
          <p:cNvSpPr/>
          <p:nvPr/>
        </p:nvSpPr>
        <p:spPr>
          <a:xfrm>
            <a:off x="7003498" y="3867559"/>
            <a:ext cx="804397" cy="192881"/>
          </a:xfrm>
          <a:prstGeom prst="rect">
            <a:avLst/>
          </a:prstGeom>
          <a:solidFill>
            <a:srgbClr val="F0F0F0"/>
          </a:solidFill>
          <a:ln/>
        </p:spPr>
      </p:sp>
      <p:sp>
        <p:nvSpPr>
          <p:cNvPr id="35" name="Text 20">
            <a:extLst>
              <a:ext uri="{FF2B5EF4-FFF2-40B4-BE49-F238E27FC236}">
                <a16:creationId xmlns:a16="http://schemas.microsoft.com/office/drawing/2014/main" id="{B3525060-360D-853C-1F78-FCC005C38F26}"/>
              </a:ext>
            </a:extLst>
          </p:cNvPr>
          <p:cNvSpPr/>
          <p:nvPr/>
        </p:nvSpPr>
        <p:spPr>
          <a:xfrm>
            <a:off x="7003498" y="3867559"/>
            <a:ext cx="804397" cy="192881"/>
          </a:xfrm>
          <a:prstGeom prst="rect">
            <a:avLst/>
          </a:prstGeom>
          <a:noFill/>
          <a:ln/>
        </p:spPr>
        <p:txBody>
          <a:bodyPr wrap="square" lIns="68072" tIns="34036" rIns="68072" bIns="34036" rtlCol="0" anchor="t">
            <a:spAutoFit/>
          </a:bodyPr>
          <a:lstStyle/>
          <a:p>
            <a:pPr marL="0" indent="0" algn="ctr">
              <a:lnSpc>
                <a:spcPts val="900"/>
              </a:lnSpc>
              <a:buNone/>
            </a:pPr>
            <a:r>
              <a:rPr lang="en-US" sz="727" dirty="0">
                <a:solidFill>
                  <a:srgbClr val="800020"/>
                </a:solidFill>
              </a:rPr>
              <a:t>Linux Terminal</a:t>
            </a:r>
            <a:endParaRPr lang="en-US" sz="727" dirty="0"/>
          </a:p>
        </p:txBody>
      </p:sp>
    </p:spTree>
    <p:extLst>
      <p:ext uri="{BB962C8B-B14F-4D97-AF65-F5344CB8AC3E}">
        <p14:creationId xmlns:p14="http://schemas.microsoft.com/office/powerpoint/2010/main" val="717896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2853153" cy="390235"/>
          </a:xfrm>
          <a:prstGeom prst="rect">
            <a:avLst/>
          </a:prstGeom>
          <a:noFill/>
          <a:ln/>
        </p:spPr>
        <p:txBody>
          <a:bodyPr wrap="none" lIns="0" tIns="0" rIns="0" bIns="0" rtlCol="0" anchor="t">
            <a:spAutoFit/>
          </a:bodyPr>
          <a:lstStyle/>
          <a:p>
            <a:pPr marL="0" indent="0" algn="l">
              <a:lnSpc>
                <a:spcPts val="3200"/>
              </a:lnSpc>
              <a:buNone/>
            </a:pPr>
            <a:r>
              <a:rPr lang="pt-BR" sz="2436" b="1" dirty="0">
                <a:solidFill>
                  <a:srgbClr val="971536"/>
                </a:solidFill>
              </a:rPr>
              <a:t>Processo de Avaliação</a:t>
            </a:r>
          </a:p>
        </p:txBody>
      </p:sp>
      <p:sp>
        <p:nvSpPr>
          <p:cNvPr id="13" name="Retângulo 12">
            <a:extLst>
              <a:ext uri="{FF2B5EF4-FFF2-40B4-BE49-F238E27FC236}">
                <a16:creationId xmlns:a16="http://schemas.microsoft.com/office/drawing/2014/main" id="{ED15BF93-3E21-ADDB-2BBC-5E4F966ED69F}"/>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 name="Shape 3">
            <a:extLst>
              <a:ext uri="{FF2B5EF4-FFF2-40B4-BE49-F238E27FC236}">
                <a16:creationId xmlns:a16="http://schemas.microsoft.com/office/drawing/2014/main" id="{4336423B-EF1D-4D2B-999B-F349D4A17889}"/>
              </a:ext>
            </a:extLst>
          </p:cNvPr>
          <p:cNvSpPr/>
          <p:nvPr/>
        </p:nvSpPr>
        <p:spPr>
          <a:xfrm>
            <a:off x="428625" y="1564481"/>
            <a:ext cx="4457700" cy="2068674"/>
          </a:xfrm>
          <a:prstGeom prst="rect">
            <a:avLst/>
          </a:prstGeom>
          <a:solidFill>
            <a:srgbClr val="FFFFFF"/>
          </a:solidFill>
          <a:ln/>
        </p:spPr>
      </p:sp>
      <p:sp>
        <p:nvSpPr>
          <p:cNvPr id="5" name="Shape 4">
            <a:extLst>
              <a:ext uri="{FF2B5EF4-FFF2-40B4-BE49-F238E27FC236}">
                <a16:creationId xmlns:a16="http://schemas.microsoft.com/office/drawing/2014/main" id="{921C39E4-7524-3949-23D3-866CA0C7203F}"/>
              </a:ext>
            </a:extLst>
          </p:cNvPr>
          <p:cNvSpPr/>
          <p:nvPr/>
        </p:nvSpPr>
        <p:spPr>
          <a:xfrm>
            <a:off x="428625" y="1564481"/>
            <a:ext cx="1238855" cy="407194"/>
          </a:xfrm>
          <a:prstGeom prst="rect">
            <a:avLst/>
          </a:prstGeom>
          <a:solidFill>
            <a:srgbClr val="800020"/>
          </a:solidFill>
          <a:ln/>
        </p:spPr>
      </p:sp>
      <p:sp>
        <p:nvSpPr>
          <p:cNvPr id="6" name="Text 5">
            <a:extLst>
              <a:ext uri="{FF2B5EF4-FFF2-40B4-BE49-F238E27FC236}">
                <a16:creationId xmlns:a16="http://schemas.microsoft.com/office/drawing/2014/main" id="{49BD6457-F485-970E-4AD9-41A5F55B1A60}"/>
              </a:ext>
            </a:extLst>
          </p:cNvPr>
          <p:cNvSpPr/>
          <p:nvPr/>
        </p:nvSpPr>
        <p:spPr>
          <a:xfrm>
            <a:off x="428625" y="1564481"/>
            <a:ext cx="1238855" cy="407194"/>
          </a:xfrm>
          <a:prstGeom prst="rect">
            <a:avLst/>
          </a:prstGeom>
          <a:noFill/>
          <a:ln/>
        </p:spPr>
        <p:txBody>
          <a:bodyPr wrap="square" lIns="170053" tIns="170053" rIns="170053" bIns="127508" rtlCol="0" anchor="ctr">
            <a:spAutoFit/>
          </a:bodyPr>
          <a:lstStyle/>
          <a:p>
            <a:pPr marL="0" indent="0" algn="l">
              <a:lnSpc>
                <a:spcPts val="1200"/>
              </a:lnSpc>
              <a:buNone/>
            </a:pPr>
            <a:r>
              <a:rPr lang="en-US" sz="885" b="1" dirty="0">
                <a:solidFill>
                  <a:srgbClr val="FFFFFF"/>
                </a:solidFill>
              </a:rPr>
              <a:t>Atividade</a:t>
            </a:r>
            <a:endParaRPr lang="en-US" sz="885" dirty="0"/>
          </a:p>
        </p:txBody>
      </p:sp>
      <p:sp>
        <p:nvSpPr>
          <p:cNvPr id="7" name="Shape 6">
            <a:extLst>
              <a:ext uri="{FF2B5EF4-FFF2-40B4-BE49-F238E27FC236}">
                <a16:creationId xmlns:a16="http://schemas.microsoft.com/office/drawing/2014/main" id="{A2F7ECFB-E178-7B2F-8057-578C20AD4D54}"/>
              </a:ext>
            </a:extLst>
          </p:cNvPr>
          <p:cNvSpPr/>
          <p:nvPr/>
        </p:nvSpPr>
        <p:spPr>
          <a:xfrm>
            <a:off x="1667480" y="1564481"/>
            <a:ext cx="2566950" cy="407194"/>
          </a:xfrm>
          <a:prstGeom prst="rect">
            <a:avLst/>
          </a:prstGeom>
          <a:solidFill>
            <a:srgbClr val="800020"/>
          </a:solidFill>
          <a:ln/>
        </p:spPr>
      </p:sp>
      <p:sp>
        <p:nvSpPr>
          <p:cNvPr id="8" name="Text 7">
            <a:extLst>
              <a:ext uri="{FF2B5EF4-FFF2-40B4-BE49-F238E27FC236}">
                <a16:creationId xmlns:a16="http://schemas.microsoft.com/office/drawing/2014/main" id="{AD7ACA47-1F19-CB65-6105-FE17C0840BDE}"/>
              </a:ext>
            </a:extLst>
          </p:cNvPr>
          <p:cNvSpPr/>
          <p:nvPr/>
        </p:nvSpPr>
        <p:spPr>
          <a:xfrm>
            <a:off x="1667480" y="1564481"/>
            <a:ext cx="2566950" cy="407194"/>
          </a:xfrm>
          <a:prstGeom prst="rect">
            <a:avLst/>
          </a:prstGeom>
          <a:noFill/>
          <a:ln/>
        </p:spPr>
        <p:txBody>
          <a:bodyPr wrap="square" lIns="170053" tIns="170053" rIns="170053" bIns="127508" rtlCol="0" anchor="ctr">
            <a:spAutoFit/>
          </a:bodyPr>
          <a:lstStyle/>
          <a:p>
            <a:pPr marL="0" indent="0" algn="l">
              <a:lnSpc>
                <a:spcPts val="1200"/>
              </a:lnSpc>
              <a:buNone/>
            </a:pPr>
            <a:r>
              <a:rPr lang="en-US" sz="885" b="1" dirty="0">
                <a:solidFill>
                  <a:srgbClr val="FFFFFF"/>
                </a:solidFill>
              </a:rPr>
              <a:t>Descrição</a:t>
            </a:r>
            <a:endParaRPr lang="en-US" sz="885" dirty="0"/>
          </a:p>
        </p:txBody>
      </p:sp>
      <p:sp>
        <p:nvSpPr>
          <p:cNvPr id="9" name="Shape 8">
            <a:extLst>
              <a:ext uri="{FF2B5EF4-FFF2-40B4-BE49-F238E27FC236}">
                <a16:creationId xmlns:a16="http://schemas.microsoft.com/office/drawing/2014/main" id="{76D5662E-9F1F-A574-3C55-C5EC770E12E9}"/>
              </a:ext>
            </a:extLst>
          </p:cNvPr>
          <p:cNvSpPr/>
          <p:nvPr/>
        </p:nvSpPr>
        <p:spPr>
          <a:xfrm>
            <a:off x="4234430" y="1564481"/>
            <a:ext cx="651895" cy="407194"/>
          </a:xfrm>
          <a:prstGeom prst="rect">
            <a:avLst/>
          </a:prstGeom>
          <a:solidFill>
            <a:srgbClr val="800020"/>
          </a:solidFill>
          <a:ln/>
        </p:spPr>
      </p:sp>
      <p:sp>
        <p:nvSpPr>
          <p:cNvPr id="10" name="Text 9">
            <a:extLst>
              <a:ext uri="{FF2B5EF4-FFF2-40B4-BE49-F238E27FC236}">
                <a16:creationId xmlns:a16="http://schemas.microsoft.com/office/drawing/2014/main" id="{0F7330A4-FF3F-00E9-A6B7-525B2F9E7EB6}"/>
              </a:ext>
            </a:extLst>
          </p:cNvPr>
          <p:cNvSpPr/>
          <p:nvPr/>
        </p:nvSpPr>
        <p:spPr>
          <a:xfrm>
            <a:off x="4234430" y="1564481"/>
            <a:ext cx="651895" cy="407194"/>
          </a:xfrm>
          <a:prstGeom prst="rect">
            <a:avLst/>
          </a:prstGeom>
          <a:noFill/>
          <a:ln/>
        </p:spPr>
        <p:txBody>
          <a:bodyPr wrap="square" lIns="170053" tIns="170053" rIns="170053" bIns="127508" rtlCol="0" anchor="ctr">
            <a:spAutoFit/>
          </a:bodyPr>
          <a:lstStyle/>
          <a:p>
            <a:pPr marL="0" indent="0" algn="ctr">
              <a:lnSpc>
                <a:spcPts val="1200"/>
              </a:lnSpc>
              <a:buNone/>
            </a:pPr>
            <a:r>
              <a:rPr lang="en-US" sz="885" b="1" dirty="0">
                <a:solidFill>
                  <a:srgbClr val="FFFFFF"/>
                </a:solidFill>
              </a:rPr>
              <a:t>Peso</a:t>
            </a:r>
            <a:endParaRPr lang="en-US" sz="885" dirty="0"/>
          </a:p>
        </p:txBody>
      </p:sp>
      <p:sp>
        <p:nvSpPr>
          <p:cNvPr id="11" name="Text 10">
            <a:extLst>
              <a:ext uri="{FF2B5EF4-FFF2-40B4-BE49-F238E27FC236}">
                <a16:creationId xmlns:a16="http://schemas.microsoft.com/office/drawing/2014/main" id="{A3B2CB52-2A17-CE96-B5A9-A47D638999BC}"/>
              </a:ext>
            </a:extLst>
          </p:cNvPr>
          <p:cNvSpPr/>
          <p:nvPr/>
        </p:nvSpPr>
        <p:spPr>
          <a:xfrm>
            <a:off x="571500" y="2116336"/>
            <a:ext cx="643412" cy="336091"/>
          </a:xfrm>
          <a:prstGeom prst="rect">
            <a:avLst/>
          </a:prstGeom>
          <a:noFill/>
          <a:ln/>
        </p:spPr>
        <p:txBody>
          <a:bodyPr wrap="square" lIns="0" tIns="0" rIns="0" bIns="0" rtlCol="0" anchor="t">
            <a:spAutoFit/>
          </a:bodyPr>
          <a:lstStyle/>
          <a:p>
            <a:pPr marL="0" indent="0" algn="l">
              <a:lnSpc>
                <a:spcPts val="1300"/>
              </a:lnSpc>
              <a:buNone/>
            </a:pPr>
            <a:r>
              <a:rPr lang="en-US" sz="834" b="1" dirty="0">
                <a:solidFill>
                  <a:srgbClr val="333333"/>
                </a:solidFill>
              </a:rPr>
              <a:t>Avaliações Teóricas</a:t>
            </a:r>
            <a:endParaRPr lang="en-US" sz="834" dirty="0"/>
          </a:p>
        </p:txBody>
      </p:sp>
      <p:sp>
        <p:nvSpPr>
          <p:cNvPr id="12" name="Text 11">
            <a:extLst>
              <a:ext uri="{FF2B5EF4-FFF2-40B4-BE49-F238E27FC236}">
                <a16:creationId xmlns:a16="http://schemas.microsoft.com/office/drawing/2014/main" id="{360AE45A-2A9D-E297-0DF4-A00BB70382DF}"/>
              </a:ext>
            </a:extLst>
          </p:cNvPr>
          <p:cNvSpPr/>
          <p:nvPr/>
        </p:nvSpPr>
        <p:spPr>
          <a:xfrm>
            <a:off x="1667480" y="1971675"/>
            <a:ext cx="2566950" cy="493588"/>
          </a:xfrm>
          <a:prstGeom prst="rect">
            <a:avLst/>
          </a:prstGeom>
          <a:noFill/>
          <a:ln/>
        </p:spPr>
        <p:txBody>
          <a:bodyPr wrap="square" lIns="170053" tIns="170053" rIns="170053" bIns="8509" rtlCol="0" anchor="ctr">
            <a:spAutoFit/>
          </a:bodyPr>
          <a:lstStyle/>
          <a:p>
            <a:pPr marL="0" indent="0" algn="l">
              <a:lnSpc>
                <a:spcPts val="1300"/>
              </a:lnSpc>
              <a:buNone/>
            </a:pPr>
            <a:r>
              <a:rPr lang="en-US" sz="888" dirty="0">
                <a:solidFill>
                  <a:srgbClr val="333333"/>
                </a:solidFill>
              </a:rPr>
              <a:t>Provas individuais focadas na compreensão conceitual e analítica.</a:t>
            </a:r>
            <a:endParaRPr lang="en-US" sz="888" dirty="0"/>
          </a:p>
        </p:txBody>
      </p:sp>
      <p:sp>
        <p:nvSpPr>
          <p:cNvPr id="36" name="Text 12">
            <a:extLst>
              <a:ext uri="{FF2B5EF4-FFF2-40B4-BE49-F238E27FC236}">
                <a16:creationId xmlns:a16="http://schemas.microsoft.com/office/drawing/2014/main" id="{8ED753F9-8BE7-FB90-2847-75257731BC85}"/>
              </a:ext>
            </a:extLst>
          </p:cNvPr>
          <p:cNvSpPr/>
          <p:nvPr/>
        </p:nvSpPr>
        <p:spPr>
          <a:xfrm>
            <a:off x="4234430" y="1971675"/>
            <a:ext cx="651895" cy="493588"/>
          </a:xfrm>
          <a:prstGeom prst="rect">
            <a:avLst/>
          </a:prstGeom>
          <a:noFill/>
          <a:ln/>
        </p:spPr>
        <p:txBody>
          <a:bodyPr wrap="square" lIns="170053" tIns="170053" rIns="170053" bIns="8509" rtlCol="0" anchor="ctr">
            <a:spAutoFit/>
          </a:bodyPr>
          <a:lstStyle/>
          <a:p>
            <a:pPr marL="0" indent="0" algn="ctr">
              <a:lnSpc>
                <a:spcPts val="1700"/>
              </a:lnSpc>
              <a:buNone/>
            </a:pPr>
            <a:r>
              <a:rPr lang="en-US" sz="1090" b="1" dirty="0">
                <a:solidFill>
                  <a:srgbClr val="800020"/>
                </a:solidFill>
              </a:rPr>
              <a:t>40%</a:t>
            </a:r>
            <a:endParaRPr lang="en-US" sz="1090" dirty="0"/>
          </a:p>
        </p:txBody>
      </p:sp>
      <p:sp>
        <p:nvSpPr>
          <p:cNvPr id="37" name="Text 13">
            <a:extLst>
              <a:ext uri="{FF2B5EF4-FFF2-40B4-BE49-F238E27FC236}">
                <a16:creationId xmlns:a16="http://schemas.microsoft.com/office/drawing/2014/main" id="{A7E9E459-370D-1422-9FEB-6C274E5D7E37}"/>
              </a:ext>
            </a:extLst>
          </p:cNvPr>
          <p:cNvSpPr/>
          <p:nvPr/>
        </p:nvSpPr>
        <p:spPr>
          <a:xfrm>
            <a:off x="571500" y="2613496"/>
            <a:ext cx="775683" cy="336091"/>
          </a:xfrm>
          <a:prstGeom prst="rect">
            <a:avLst/>
          </a:prstGeom>
          <a:noFill/>
          <a:ln/>
        </p:spPr>
        <p:txBody>
          <a:bodyPr wrap="square" lIns="0" tIns="0" rIns="0" bIns="0" rtlCol="0" anchor="t">
            <a:spAutoFit/>
          </a:bodyPr>
          <a:lstStyle/>
          <a:p>
            <a:pPr marL="0" indent="0" algn="l">
              <a:lnSpc>
                <a:spcPts val="1300"/>
              </a:lnSpc>
              <a:buNone/>
            </a:pPr>
            <a:r>
              <a:rPr lang="en-US" sz="834" b="1" dirty="0">
                <a:solidFill>
                  <a:srgbClr val="333333"/>
                </a:solidFill>
              </a:rPr>
              <a:t>Laboratórios Práticos</a:t>
            </a:r>
            <a:endParaRPr lang="en-US" sz="834" dirty="0"/>
          </a:p>
        </p:txBody>
      </p:sp>
      <p:sp>
        <p:nvSpPr>
          <p:cNvPr id="38" name="Text 14">
            <a:extLst>
              <a:ext uri="{FF2B5EF4-FFF2-40B4-BE49-F238E27FC236}">
                <a16:creationId xmlns:a16="http://schemas.microsoft.com/office/drawing/2014/main" id="{6B11CA6A-F84B-E9B2-72DD-F865805CDC5B}"/>
              </a:ext>
            </a:extLst>
          </p:cNvPr>
          <p:cNvSpPr/>
          <p:nvPr/>
        </p:nvSpPr>
        <p:spPr>
          <a:xfrm>
            <a:off x="1667480" y="2465263"/>
            <a:ext cx="2566950" cy="497160"/>
          </a:xfrm>
          <a:prstGeom prst="rect">
            <a:avLst/>
          </a:prstGeom>
          <a:noFill/>
          <a:ln/>
        </p:spPr>
        <p:txBody>
          <a:bodyPr wrap="square" lIns="170053" tIns="170053" rIns="170053" bIns="8509" rtlCol="0" anchor="ctr">
            <a:spAutoFit/>
          </a:bodyPr>
          <a:lstStyle/>
          <a:p>
            <a:pPr marL="0" indent="0" algn="l">
              <a:lnSpc>
                <a:spcPts val="1300"/>
              </a:lnSpc>
              <a:buNone/>
            </a:pPr>
            <a:r>
              <a:rPr lang="en-US" sz="888" dirty="0">
                <a:solidFill>
                  <a:srgbClr val="333333"/>
                </a:solidFill>
              </a:rPr>
              <a:t>Relatórios e exercícios realizados em ambiente de simulação ou terminal.</a:t>
            </a:r>
            <a:endParaRPr lang="en-US" sz="888" dirty="0"/>
          </a:p>
        </p:txBody>
      </p:sp>
      <p:sp>
        <p:nvSpPr>
          <p:cNvPr id="39" name="Text 15">
            <a:extLst>
              <a:ext uri="{FF2B5EF4-FFF2-40B4-BE49-F238E27FC236}">
                <a16:creationId xmlns:a16="http://schemas.microsoft.com/office/drawing/2014/main" id="{57B7C017-170C-AAC8-CD17-BACC5C945BE1}"/>
              </a:ext>
            </a:extLst>
          </p:cNvPr>
          <p:cNvSpPr/>
          <p:nvPr/>
        </p:nvSpPr>
        <p:spPr>
          <a:xfrm>
            <a:off x="4234430" y="2465263"/>
            <a:ext cx="651895" cy="497160"/>
          </a:xfrm>
          <a:prstGeom prst="rect">
            <a:avLst/>
          </a:prstGeom>
          <a:noFill/>
          <a:ln/>
        </p:spPr>
        <p:txBody>
          <a:bodyPr wrap="square" lIns="170053" tIns="170053" rIns="170053" bIns="8509" rtlCol="0" anchor="ctr">
            <a:spAutoFit/>
          </a:bodyPr>
          <a:lstStyle/>
          <a:p>
            <a:pPr marL="0" indent="0" algn="ctr">
              <a:lnSpc>
                <a:spcPts val="1700"/>
              </a:lnSpc>
              <a:buNone/>
            </a:pPr>
            <a:r>
              <a:rPr lang="en-US" sz="1090" b="1" dirty="0">
                <a:solidFill>
                  <a:srgbClr val="800020"/>
                </a:solidFill>
              </a:rPr>
              <a:t>30%</a:t>
            </a:r>
            <a:endParaRPr lang="en-US" sz="1090" dirty="0"/>
          </a:p>
        </p:txBody>
      </p:sp>
      <p:sp>
        <p:nvSpPr>
          <p:cNvPr id="40" name="Text 16">
            <a:extLst>
              <a:ext uri="{FF2B5EF4-FFF2-40B4-BE49-F238E27FC236}">
                <a16:creationId xmlns:a16="http://schemas.microsoft.com/office/drawing/2014/main" id="{10228F62-1AD3-7E03-0FA0-10F45BCD92A4}"/>
              </a:ext>
            </a:extLst>
          </p:cNvPr>
          <p:cNvSpPr/>
          <p:nvPr/>
        </p:nvSpPr>
        <p:spPr>
          <a:xfrm>
            <a:off x="571500" y="3195656"/>
            <a:ext cx="661634" cy="336091"/>
          </a:xfrm>
          <a:prstGeom prst="rect">
            <a:avLst/>
          </a:prstGeom>
          <a:noFill/>
          <a:ln/>
        </p:spPr>
        <p:txBody>
          <a:bodyPr wrap="square" lIns="0" tIns="0" rIns="0" bIns="0" rtlCol="0" anchor="t">
            <a:spAutoFit/>
          </a:bodyPr>
          <a:lstStyle/>
          <a:p>
            <a:pPr marL="0" indent="0" algn="l">
              <a:lnSpc>
                <a:spcPts val="1300"/>
              </a:lnSpc>
              <a:buNone/>
            </a:pPr>
            <a:r>
              <a:rPr lang="en-US" sz="834" b="1" dirty="0">
                <a:solidFill>
                  <a:srgbClr val="333333"/>
                </a:solidFill>
              </a:rPr>
              <a:t>Projeto Integrador</a:t>
            </a:r>
            <a:endParaRPr lang="en-US" sz="834" dirty="0"/>
          </a:p>
        </p:txBody>
      </p:sp>
      <p:sp>
        <p:nvSpPr>
          <p:cNvPr id="41" name="Text 17">
            <a:extLst>
              <a:ext uri="{FF2B5EF4-FFF2-40B4-BE49-F238E27FC236}">
                <a16:creationId xmlns:a16="http://schemas.microsoft.com/office/drawing/2014/main" id="{554840A8-4911-F686-211B-7CDEFCE56C5A}"/>
              </a:ext>
            </a:extLst>
          </p:cNvPr>
          <p:cNvSpPr/>
          <p:nvPr/>
        </p:nvSpPr>
        <p:spPr>
          <a:xfrm>
            <a:off x="1667480" y="2962424"/>
            <a:ext cx="2566950" cy="667159"/>
          </a:xfrm>
          <a:prstGeom prst="rect">
            <a:avLst/>
          </a:prstGeom>
          <a:noFill/>
          <a:ln/>
        </p:spPr>
        <p:txBody>
          <a:bodyPr wrap="square" lIns="170053" tIns="170053" rIns="170053" bIns="8509" rtlCol="0" anchor="ctr">
            <a:spAutoFit/>
          </a:bodyPr>
          <a:lstStyle/>
          <a:p>
            <a:pPr marL="0" indent="0" algn="l">
              <a:lnSpc>
                <a:spcPts val="1300"/>
              </a:lnSpc>
              <a:buNone/>
            </a:pPr>
            <a:r>
              <a:rPr lang="en-US" sz="888" dirty="0">
                <a:solidFill>
                  <a:srgbClr val="333333"/>
                </a:solidFill>
              </a:rPr>
              <a:t>Desenvolvimento de um projeto prático ou análise técnica de um subsistema de SO.</a:t>
            </a:r>
            <a:endParaRPr lang="en-US" sz="888" dirty="0"/>
          </a:p>
        </p:txBody>
      </p:sp>
      <p:sp>
        <p:nvSpPr>
          <p:cNvPr id="42" name="Text 18">
            <a:extLst>
              <a:ext uri="{FF2B5EF4-FFF2-40B4-BE49-F238E27FC236}">
                <a16:creationId xmlns:a16="http://schemas.microsoft.com/office/drawing/2014/main" id="{BD8F5CA0-F0F4-6F6B-21EF-1B786F76DEB7}"/>
              </a:ext>
            </a:extLst>
          </p:cNvPr>
          <p:cNvSpPr/>
          <p:nvPr/>
        </p:nvSpPr>
        <p:spPr>
          <a:xfrm>
            <a:off x="4234430" y="2962424"/>
            <a:ext cx="651895" cy="667159"/>
          </a:xfrm>
          <a:prstGeom prst="rect">
            <a:avLst/>
          </a:prstGeom>
          <a:noFill/>
          <a:ln/>
        </p:spPr>
        <p:txBody>
          <a:bodyPr wrap="square" lIns="170053" tIns="170053" rIns="170053" bIns="8509" rtlCol="0" anchor="ctr">
            <a:spAutoFit/>
          </a:bodyPr>
          <a:lstStyle/>
          <a:p>
            <a:pPr marL="0" indent="0" algn="ctr">
              <a:lnSpc>
                <a:spcPts val="1700"/>
              </a:lnSpc>
              <a:buNone/>
            </a:pPr>
            <a:r>
              <a:rPr lang="en-US" sz="1090" b="1" dirty="0">
                <a:solidFill>
                  <a:srgbClr val="800020"/>
                </a:solidFill>
              </a:rPr>
              <a:t>30%</a:t>
            </a:r>
            <a:endParaRPr lang="en-US" sz="1090" dirty="0"/>
          </a:p>
        </p:txBody>
      </p:sp>
      <p:sp>
        <p:nvSpPr>
          <p:cNvPr id="43" name="Shape 19">
            <a:extLst>
              <a:ext uri="{FF2B5EF4-FFF2-40B4-BE49-F238E27FC236}">
                <a16:creationId xmlns:a16="http://schemas.microsoft.com/office/drawing/2014/main" id="{A44CF9A7-A2EC-D0EE-1990-99CC2899ACC6}"/>
              </a:ext>
            </a:extLst>
          </p:cNvPr>
          <p:cNvSpPr/>
          <p:nvPr/>
        </p:nvSpPr>
        <p:spPr>
          <a:xfrm>
            <a:off x="5314950" y="1564481"/>
            <a:ext cx="3400425" cy="3052167"/>
          </a:xfrm>
          <a:prstGeom prst="rect">
            <a:avLst/>
          </a:prstGeom>
          <a:solidFill>
            <a:srgbClr val="FFFFFF"/>
          </a:solidFill>
          <a:ln/>
        </p:spPr>
      </p:sp>
      <p:sp>
        <p:nvSpPr>
          <p:cNvPr id="44" name="Text 20">
            <a:extLst>
              <a:ext uri="{FF2B5EF4-FFF2-40B4-BE49-F238E27FC236}">
                <a16:creationId xmlns:a16="http://schemas.microsoft.com/office/drawing/2014/main" id="{4AEBACF9-7AE4-30D2-600A-518EE205DC6B}"/>
              </a:ext>
            </a:extLst>
          </p:cNvPr>
          <p:cNvSpPr/>
          <p:nvPr/>
        </p:nvSpPr>
        <p:spPr>
          <a:xfrm>
            <a:off x="6270482" y="1778794"/>
            <a:ext cx="1489332"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800020"/>
                </a:solidFill>
              </a:rPr>
              <a:t>Distribuição de Pesos</a:t>
            </a:r>
            <a:endParaRPr lang="en-US" sz="987" dirty="0"/>
          </a:p>
        </p:txBody>
      </p:sp>
      <p:pic>
        <p:nvPicPr>
          <p:cNvPr id="45" name="Image 1" descr="preencoded.png">
            <a:extLst>
              <a:ext uri="{FF2B5EF4-FFF2-40B4-BE49-F238E27FC236}">
                <a16:creationId xmlns:a16="http://schemas.microsoft.com/office/drawing/2014/main" id="{9353BC24-AB61-5C07-1528-D2FF3F934169}"/>
              </a:ext>
            </a:extLst>
          </p:cNvPr>
          <p:cNvPicPr>
            <a:picLocks noChangeAspect="1"/>
          </p:cNvPicPr>
          <p:nvPr/>
        </p:nvPicPr>
        <p:blipFill>
          <a:blip r:embed="rId3"/>
          <a:stretch>
            <a:fillRect/>
          </a:stretch>
        </p:blipFill>
        <p:spPr>
          <a:xfrm>
            <a:off x="5529263" y="2116336"/>
            <a:ext cx="2971800" cy="2500313"/>
          </a:xfrm>
          <a:prstGeom prst="rect">
            <a:avLst/>
          </a:prstGeom>
        </p:spPr>
      </p:pic>
    </p:spTree>
    <p:extLst>
      <p:ext uri="{BB962C8B-B14F-4D97-AF65-F5344CB8AC3E}">
        <p14:creationId xmlns:p14="http://schemas.microsoft.com/office/powerpoint/2010/main" val="2177359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ext 0"/>
          <p:cNvSpPr/>
          <p:nvPr/>
        </p:nvSpPr>
        <p:spPr>
          <a:xfrm>
            <a:off x="576000" y="468000"/>
            <a:ext cx="3927101" cy="325602"/>
          </a:xfrm>
          <a:prstGeom prst="rect">
            <a:avLst/>
          </a:prstGeom>
          <a:noFill/>
          <a:ln/>
        </p:spPr>
        <p:txBody>
          <a:bodyPr wrap="none" lIns="0" tIns="0" rIns="0" bIns="0" rtlCol="0" anchor="t">
            <a:spAutoFit/>
          </a:bodyPr>
          <a:lstStyle/>
          <a:p>
            <a:pPr marL="0" indent="0" algn="l">
              <a:lnSpc>
                <a:spcPts val="2400"/>
              </a:lnSpc>
              <a:buNone/>
            </a:pPr>
            <a:r>
              <a:rPr lang="en-US" sz="2800" b="1" kern="0" spc="2" dirty="0" err="1">
                <a:solidFill>
                  <a:srgbClr val="971536"/>
                </a:solidFill>
              </a:rPr>
              <a:t>Bibliografia</a:t>
            </a:r>
            <a:r>
              <a:rPr lang="en-US" sz="2800" b="1" kern="0" spc="2" dirty="0">
                <a:solidFill>
                  <a:srgbClr val="971536"/>
                </a:solidFill>
              </a:rPr>
              <a:t> </a:t>
            </a:r>
            <a:r>
              <a:rPr lang="en-US" sz="2800" b="1" kern="0" spc="2" dirty="0" err="1">
                <a:solidFill>
                  <a:srgbClr val="971536"/>
                </a:solidFill>
              </a:rPr>
              <a:t>Recomendada</a:t>
            </a:r>
            <a:endParaRPr lang="en-US" sz="2800" dirty="0">
              <a:solidFill>
                <a:srgbClr val="971536"/>
              </a:solidFill>
            </a:endParaRPr>
          </a:p>
        </p:txBody>
      </p:sp>
      <p:sp>
        <p:nvSpPr>
          <p:cNvPr id="13" name="Retângulo 12">
            <a:extLst>
              <a:ext uri="{FF2B5EF4-FFF2-40B4-BE49-F238E27FC236}">
                <a16:creationId xmlns:a16="http://schemas.microsoft.com/office/drawing/2014/main" id="{ED15BF93-3E21-ADDB-2BBC-5E4F966ED69F}"/>
              </a:ext>
            </a:extLst>
          </p:cNvPr>
          <p:cNvSpPr/>
          <p:nvPr/>
        </p:nvSpPr>
        <p:spPr>
          <a:xfrm>
            <a:off x="578645" y="965385"/>
            <a:ext cx="881270" cy="36000"/>
          </a:xfrm>
          <a:prstGeom prst="rect">
            <a:avLst/>
          </a:prstGeom>
          <a:solidFill>
            <a:srgbClr val="971536"/>
          </a:solidFill>
          <a:ln>
            <a:solidFill>
              <a:srgbClr val="97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Shape 3">
            <a:extLst>
              <a:ext uri="{FF2B5EF4-FFF2-40B4-BE49-F238E27FC236}">
                <a16:creationId xmlns:a16="http://schemas.microsoft.com/office/drawing/2014/main" id="{C839BA2B-EA5A-260C-036C-26C36B90CC45}"/>
              </a:ext>
            </a:extLst>
          </p:cNvPr>
          <p:cNvSpPr/>
          <p:nvPr/>
        </p:nvSpPr>
        <p:spPr>
          <a:xfrm>
            <a:off x="428625" y="1493044"/>
            <a:ext cx="4000500" cy="3429000"/>
          </a:xfrm>
          <a:prstGeom prst="rect">
            <a:avLst/>
          </a:prstGeom>
          <a:solidFill>
            <a:srgbClr val="FFFFFF"/>
          </a:solidFill>
          <a:ln/>
        </p:spPr>
      </p:sp>
      <p:sp>
        <p:nvSpPr>
          <p:cNvPr id="14" name="Text 4">
            <a:extLst>
              <a:ext uri="{FF2B5EF4-FFF2-40B4-BE49-F238E27FC236}">
                <a16:creationId xmlns:a16="http://schemas.microsoft.com/office/drawing/2014/main" id="{A6614C36-96AF-F54B-8D1F-8B99A6ECDE07}"/>
              </a:ext>
            </a:extLst>
          </p:cNvPr>
          <p:cNvSpPr/>
          <p:nvPr/>
        </p:nvSpPr>
        <p:spPr>
          <a:xfrm>
            <a:off x="642938" y="1707356"/>
            <a:ext cx="3571875" cy="233958"/>
          </a:xfrm>
          <a:prstGeom prst="rect">
            <a:avLst/>
          </a:prstGeom>
          <a:noFill/>
          <a:ln/>
        </p:spPr>
        <p:txBody>
          <a:bodyPr wrap="none" lIns="127508" tIns="0" rIns="0" bIns="0" rtlCol="0" anchor="t">
            <a:spAutoFit/>
          </a:bodyPr>
          <a:lstStyle/>
          <a:p>
            <a:pPr marL="0" indent="0" algn="l">
              <a:lnSpc>
                <a:spcPts val="1600"/>
              </a:lnSpc>
              <a:buNone/>
            </a:pPr>
            <a:r>
              <a:rPr lang="en-US" sz="1269" dirty="0">
                <a:solidFill>
                  <a:srgbClr val="800020"/>
                </a:solidFill>
              </a:rPr>
              <a:t>Bibliografia Básica</a:t>
            </a:r>
            <a:endParaRPr lang="en-US" sz="1269" dirty="0"/>
          </a:p>
        </p:txBody>
      </p:sp>
      <p:sp>
        <p:nvSpPr>
          <p:cNvPr id="15" name="Text 5">
            <a:extLst>
              <a:ext uri="{FF2B5EF4-FFF2-40B4-BE49-F238E27FC236}">
                <a16:creationId xmlns:a16="http://schemas.microsoft.com/office/drawing/2014/main" id="{20BB361F-A0D9-38D6-F4AA-A91B5BBCA1E1}"/>
              </a:ext>
            </a:extLst>
          </p:cNvPr>
          <p:cNvSpPr/>
          <p:nvPr/>
        </p:nvSpPr>
        <p:spPr>
          <a:xfrm>
            <a:off x="928688" y="2119908"/>
            <a:ext cx="3286125" cy="180017"/>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Tanenbaum, Andrew S.</a:t>
            </a:r>
            <a:endParaRPr lang="en-US" sz="885" dirty="0"/>
          </a:p>
        </p:txBody>
      </p:sp>
      <p:sp>
        <p:nvSpPr>
          <p:cNvPr id="16" name="Text 6">
            <a:extLst>
              <a:ext uri="{FF2B5EF4-FFF2-40B4-BE49-F238E27FC236}">
                <a16:creationId xmlns:a16="http://schemas.microsoft.com/office/drawing/2014/main" id="{77748C67-3264-C41D-02C6-E2269D466C99}"/>
              </a:ext>
            </a:extLst>
          </p:cNvPr>
          <p:cNvSpPr/>
          <p:nvPr/>
        </p:nvSpPr>
        <p:spPr>
          <a:xfrm>
            <a:off x="928688" y="2301711"/>
            <a:ext cx="1894238" cy="175022"/>
          </a:xfrm>
          <a:prstGeom prst="rect">
            <a:avLst/>
          </a:prstGeom>
          <a:noFill/>
          <a:ln/>
        </p:spPr>
        <p:txBody>
          <a:bodyPr wrap="none" lIns="0" tIns="0" rIns="0" bIns="0" rtlCol="0" anchor="t">
            <a:spAutoFit/>
          </a:bodyPr>
          <a:lstStyle/>
          <a:p>
            <a:pPr marL="0" indent="0" algn="l">
              <a:lnSpc>
                <a:spcPts val="1400"/>
              </a:lnSpc>
              <a:buNone/>
            </a:pPr>
            <a:r>
              <a:rPr lang="en-US" sz="942" i="1" dirty="0">
                <a:solidFill>
                  <a:srgbClr val="555555"/>
                </a:solidFill>
              </a:rPr>
              <a:t>Sistemas Operacionais Modernos</a:t>
            </a:r>
            <a:endParaRPr lang="en-US" sz="942" dirty="0"/>
          </a:p>
        </p:txBody>
      </p:sp>
      <p:sp>
        <p:nvSpPr>
          <p:cNvPr id="17" name="Text 7">
            <a:extLst>
              <a:ext uri="{FF2B5EF4-FFF2-40B4-BE49-F238E27FC236}">
                <a16:creationId xmlns:a16="http://schemas.microsoft.com/office/drawing/2014/main" id="{D6874AE9-2C62-445B-0BDD-A3499BF8C03A}"/>
              </a:ext>
            </a:extLst>
          </p:cNvPr>
          <p:cNvSpPr/>
          <p:nvPr/>
        </p:nvSpPr>
        <p:spPr>
          <a:xfrm>
            <a:off x="928688" y="2658535"/>
            <a:ext cx="3286125" cy="180017"/>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Silberschatz, Galvin &amp; Gagne</a:t>
            </a:r>
            <a:endParaRPr lang="en-US" sz="885" dirty="0"/>
          </a:p>
        </p:txBody>
      </p:sp>
      <p:sp>
        <p:nvSpPr>
          <p:cNvPr id="18" name="Text 8">
            <a:extLst>
              <a:ext uri="{FF2B5EF4-FFF2-40B4-BE49-F238E27FC236}">
                <a16:creationId xmlns:a16="http://schemas.microsoft.com/office/drawing/2014/main" id="{2B3A8D32-B3EE-6443-74F4-DCD89032A924}"/>
              </a:ext>
            </a:extLst>
          </p:cNvPr>
          <p:cNvSpPr/>
          <p:nvPr/>
        </p:nvSpPr>
        <p:spPr>
          <a:xfrm>
            <a:off x="928688" y="2840338"/>
            <a:ext cx="2731480" cy="175022"/>
          </a:xfrm>
          <a:prstGeom prst="rect">
            <a:avLst/>
          </a:prstGeom>
          <a:noFill/>
          <a:ln/>
        </p:spPr>
        <p:txBody>
          <a:bodyPr wrap="none" lIns="0" tIns="0" rIns="0" bIns="0" rtlCol="0" anchor="t">
            <a:spAutoFit/>
          </a:bodyPr>
          <a:lstStyle/>
          <a:p>
            <a:pPr marL="0" indent="0" algn="l">
              <a:lnSpc>
                <a:spcPts val="1400"/>
              </a:lnSpc>
              <a:buNone/>
            </a:pPr>
            <a:r>
              <a:rPr lang="en-US" sz="942" i="1" dirty="0">
                <a:solidFill>
                  <a:srgbClr val="555555"/>
                </a:solidFill>
              </a:rPr>
              <a:t>Sistemas Operacionais com Java / Fundamentos</a:t>
            </a:r>
            <a:endParaRPr lang="en-US" sz="942" dirty="0"/>
          </a:p>
        </p:txBody>
      </p:sp>
      <p:sp>
        <p:nvSpPr>
          <p:cNvPr id="19" name="Shape 9">
            <a:extLst>
              <a:ext uri="{FF2B5EF4-FFF2-40B4-BE49-F238E27FC236}">
                <a16:creationId xmlns:a16="http://schemas.microsoft.com/office/drawing/2014/main" id="{A0346A10-7645-AEC0-A988-1FA45E0E04A2}"/>
              </a:ext>
            </a:extLst>
          </p:cNvPr>
          <p:cNvSpPr/>
          <p:nvPr/>
        </p:nvSpPr>
        <p:spPr>
          <a:xfrm>
            <a:off x="4714875" y="1493044"/>
            <a:ext cx="4000500" cy="3429000"/>
          </a:xfrm>
          <a:prstGeom prst="rect">
            <a:avLst/>
          </a:prstGeom>
          <a:solidFill>
            <a:srgbClr val="FFFFFF"/>
          </a:solidFill>
          <a:ln/>
        </p:spPr>
      </p:sp>
      <p:sp>
        <p:nvSpPr>
          <p:cNvPr id="20" name="Text 10">
            <a:extLst>
              <a:ext uri="{FF2B5EF4-FFF2-40B4-BE49-F238E27FC236}">
                <a16:creationId xmlns:a16="http://schemas.microsoft.com/office/drawing/2014/main" id="{90ED1D37-77F4-A61F-C2CE-EAE7FED36E29}"/>
              </a:ext>
            </a:extLst>
          </p:cNvPr>
          <p:cNvSpPr/>
          <p:nvPr/>
        </p:nvSpPr>
        <p:spPr>
          <a:xfrm>
            <a:off x="4929188" y="1707356"/>
            <a:ext cx="3571875" cy="233958"/>
          </a:xfrm>
          <a:prstGeom prst="rect">
            <a:avLst/>
          </a:prstGeom>
          <a:noFill/>
          <a:ln/>
        </p:spPr>
        <p:txBody>
          <a:bodyPr wrap="none" lIns="127508" tIns="0" rIns="0" bIns="0" rtlCol="0" anchor="t">
            <a:spAutoFit/>
          </a:bodyPr>
          <a:lstStyle/>
          <a:p>
            <a:pPr marL="0" indent="0" algn="l">
              <a:lnSpc>
                <a:spcPts val="1600"/>
              </a:lnSpc>
              <a:buNone/>
            </a:pPr>
            <a:r>
              <a:rPr lang="en-US" sz="1269" dirty="0">
                <a:solidFill>
                  <a:srgbClr val="800020"/>
                </a:solidFill>
              </a:rPr>
              <a:t>Bibliografia Complementar</a:t>
            </a:r>
            <a:endParaRPr lang="en-US" sz="1269" dirty="0"/>
          </a:p>
        </p:txBody>
      </p:sp>
      <p:sp>
        <p:nvSpPr>
          <p:cNvPr id="21" name="Text 11">
            <a:extLst>
              <a:ext uri="{FF2B5EF4-FFF2-40B4-BE49-F238E27FC236}">
                <a16:creationId xmlns:a16="http://schemas.microsoft.com/office/drawing/2014/main" id="{74930C27-1A72-B1BE-DFC8-0B832EBEE744}"/>
              </a:ext>
            </a:extLst>
          </p:cNvPr>
          <p:cNvSpPr/>
          <p:nvPr/>
        </p:nvSpPr>
        <p:spPr>
          <a:xfrm>
            <a:off x="5214938" y="2119908"/>
            <a:ext cx="3286125" cy="180017"/>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Stallings, William</a:t>
            </a:r>
            <a:endParaRPr lang="en-US" sz="885" dirty="0"/>
          </a:p>
        </p:txBody>
      </p:sp>
      <p:sp>
        <p:nvSpPr>
          <p:cNvPr id="22" name="Text 12">
            <a:extLst>
              <a:ext uri="{FF2B5EF4-FFF2-40B4-BE49-F238E27FC236}">
                <a16:creationId xmlns:a16="http://schemas.microsoft.com/office/drawing/2014/main" id="{568399BD-DA92-8B4E-7A5C-0174BCCC289B}"/>
              </a:ext>
            </a:extLst>
          </p:cNvPr>
          <p:cNvSpPr/>
          <p:nvPr/>
        </p:nvSpPr>
        <p:spPr>
          <a:xfrm>
            <a:off x="5214938" y="2301711"/>
            <a:ext cx="2903655" cy="175022"/>
          </a:xfrm>
          <a:prstGeom prst="rect">
            <a:avLst/>
          </a:prstGeom>
          <a:noFill/>
          <a:ln/>
        </p:spPr>
        <p:txBody>
          <a:bodyPr wrap="none" lIns="0" tIns="0" rIns="0" bIns="0" rtlCol="0" anchor="t">
            <a:spAutoFit/>
          </a:bodyPr>
          <a:lstStyle/>
          <a:p>
            <a:pPr marL="0" indent="0" algn="l">
              <a:lnSpc>
                <a:spcPts val="1400"/>
              </a:lnSpc>
              <a:buNone/>
            </a:pPr>
            <a:r>
              <a:rPr lang="en-US" sz="942" i="1" dirty="0">
                <a:solidFill>
                  <a:srgbClr val="555555"/>
                </a:solidFill>
              </a:rPr>
              <a:t>Operating Systems: Internals and Design Principles</a:t>
            </a:r>
            <a:endParaRPr lang="en-US" sz="942" dirty="0"/>
          </a:p>
        </p:txBody>
      </p:sp>
      <p:sp>
        <p:nvSpPr>
          <p:cNvPr id="23" name="Text 13">
            <a:extLst>
              <a:ext uri="{FF2B5EF4-FFF2-40B4-BE49-F238E27FC236}">
                <a16:creationId xmlns:a16="http://schemas.microsoft.com/office/drawing/2014/main" id="{52DB05F7-8A50-B3CB-7088-FF8CD45AC423}"/>
              </a:ext>
            </a:extLst>
          </p:cNvPr>
          <p:cNvSpPr/>
          <p:nvPr/>
        </p:nvSpPr>
        <p:spPr>
          <a:xfrm>
            <a:off x="5214938" y="2658535"/>
            <a:ext cx="3286125" cy="180017"/>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Maziero, Carlos A.</a:t>
            </a:r>
            <a:endParaRPr lang="en-US" sz="885" dirty="0"/>
          </a:p>
        </p:txBody>
      </p:sp>
      <p:sp>
        <p:nvSpPr>
          <p:cNvPr id="24" name="Text 14">
            <a:extLst>
              <a:ext uri="{FF2B5EF4-FFF2-40B4-BE49-F238E27FC236}">
                <a16:creationId xmlns:a16="http://schemas.microsoft.com/office/drawing/2014/main" id="{0498F2DD-3A00-8F71-9A9D-D5044C169BC0}"/>
              </a:ext>
            </a:extLst>
          </p:cNvPr>
          <p:cNvSpPr/>
          <p:nvPr/>
        </p:nvSpPr>
        <p:spPr>
          <a:xfrm>
            <a:off x="5214938" y="2840338"/>
            <a:ext cx="1288080" cy="175022"/>
          </a:xfrm>
          <a:prstGeom prst="rect">
            <a:avLst/>
          </a:prstGeom>
          <a:noFill/>
          <a:ln/>
        </p:spPr>
        <p:txBody>
          <a:bodyPr wrap="none" lIns="0" tIns="0" rIns="0" bIns="0" rtlCol="0" anchor="t">
            <a:spAutoFit/>
          </a:bodyPr>
          <a:lstStyle/>
          <a:p>
            <a:pPr marL="0" indent="0" algn="l">
              <a:lnSpc>
                <a:spcPts val="1400"/>
              </a:lnSpc>
              <a:buNone/>
            </a:pPr>
            <a:r>
              <a:rPr lang="en-US" sz="942" i="1" dirty="0">
                <a:solidFill>
                  <a:srgbClr val="555555"/>
                </a:solidFill>
              </a:rPr>
              <a:t>Sistemas Operacionais</a:t>
            </a:r>
            <a:endParaRPr lang="en-US" sz="942" dirty="0"/>
          </a:p>
        </p:txBody>
      </p:sp>
      <p:sp>
        <p:nvSpPr>
          <p:cNvPr id="25" name="Text 15">
            <a:extLst>
              <a:ext uri="{FF2B5EF4-FFF2-40B4-BE49-F238E27FC236}">
                <a16:creationId xmlns:a16="http://schemas.microsoft.com/office/drawing/2014/main" id="{42A38F08-4E3C-C81D-4F3C-3568C53223CB}"/>
              </a:ext>
            </a:extLst>
          </p:cNvPr>
          <p:cNvSpPr/>
          <p:nvPr/>
        </p:nvSpPr>
        <p:spPr>
          <a:xfrm>
            <a:off x="5214938" y="3197163"/>
            <a:ext cx="3286125" cy="180017"/>
          </a:xfrm>
          <a:prstGeom prst="rect">
            <a:avLst/>
          </a:prstGeom>
          <a:noFill/>
          <a:ln/>
        </p:spPr>
        <p:txBody>
          <a:bodyPr wrap="none" lIns="0" tIns="0" rIns="0" bIns="0" rtlCol="0" anchor="t">
            <a:spAutoFit/>
          </a:bodyPr>
          <a:lstStyle/>
          <a:p>
            <a:pPr marL="0" indent="0" algn="l">
              <a:lnSpc>
                <a:spcPts val="1400"/>
              </a:lnSpc>
              <a:buNone/>
            </a:pPr>
            <a:r>
              <a:rPr lang="en-US" sz="885" b="1" dirty="0">
                <a:solidFill>
                  <a:srgbClr val="333333"/>
                </a:solidFill>
              </a:rPr>
              <a:t>AIOS Foundation</a:t>
            </a:r>
            <a:endParaRPr lang="en-US" sz="885" dirty="0"/>
          </a:p>
        </p:txBody>
      </p:sp>
      <p:sp>
        <p:nvSpPr>
          <p:cNvPr id="26" name="Text 16">
            <a:extLst>
              <a:ext uri="{FF2B5EF4-FFF2-40B4-BE49-F238E27FC236}">
                <a16:creationId xmlns:a16="http://schemas.microsoft.com/office/drawing/2014/main" id="{84293067-E0BA-03C8-9A5F-5D7927EF10F1}"/>
              </a:ext>
            </a:extLst>
          </p:cNvPr>
          <p:cNvSpPr/>
          <p:nvPr/>
        </p:nvSpPr>
        <p:spPr>
          <a:xfrm>
            <a:off x="5214938" y="3412899"/>
            <a:ext cx="3286125"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800020"/>
                </a:solidFill>
              </a:rPr>
              <a:t>https://www.aios.foundation/</a:t>
            </a:r>
            <a:endParaRPr lang="en-US" sz="727" dirty="0"/>
          </a:p>
        </p:txBody>
      </p:sp>
      <p:sp>
        <p:nvSpPr>
          <p:cNvPr id="27" name="Text 17">
            <a:extLst>
              <a:ext uri="{FF2B5EF4-FFF2-40B4-BE49-F238E27FC236}">
                <a16:creationId xmlns:a16="http://schemas.microsoft.com/office/drawing/2014/main" id="{5C8369D8-6119-9161-4988-2109746AA41D}"/>
              </a:ext>
            </a:extLst>
          </p:cNvPr>
          <p:cNvSpPr/>
          <p:nvPr/>
        </p:nvSpPr>
        <p:spPr>
          <a:xfrm>
            <a:off x="6790330" y="4786313"/>
            <a:ext cx="1925045"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800020"/>
                </a:solidFill>
              </a:rPr>
              <a:t>Plano de Ensino - Sistemas Operacionais</a:t>
            </a:r>
            <a:endParaRPr lang="en-US" sz="683" dirty="0"/>
          </a:p>
        </p:txBody>
      </p:sp>
    </p:spTree>
    <p:extLst>
      <p:ext uri="{BB962C8B-B14F-4D97-AF65-F5344CB8AC3E}">
        <p14:creationId xmlns:p14="http://schemas.microsoft.com/office/powerpoint/2010/main" val="2507300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95165DC952CB74CB28C701A37019D8E" ma:contentTypeVersion="0" ma:contentTypeDescription="Crie um novo documento." ma:contentTypeScope="" ma:versionID="52d74b9b4ad8ead954e449a6bd9a922b">
  <xsd:schema xmlns:xsd="http://www.w3.org/2001/XMLSchema" xmlns:xs="http://www.w3.org/2001/XMLSchema" xmlns:p="http://schemas.microsoft.com/office/2006/metadata/properties" targetNamespace="http://schemas.microsoft.com/office/2006/metadata/properties" ma:root="true" ma:fieldsID="397561fba88d9dece65508bac662637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9A6795E-4C8F-4FCA-8C23-66ADAC7BDED3}"/>
</file>

<file path=customXml/itemProps2.xml><?xml version="1.0" encoding="utf-8"?>
<ds:datastoreItem xmlns:ds="http://schemas.openxmlformats.org/officeDocument/2006/customXml" ds:itemID="{40EAC273-B8C1-4B1A-BE39-A9FF6C098A75}"/>
</file>

<file path=customXml/itemProps3.xml><?xml version="1.0" encoding="utf-8"?>
<ds:datastoreItem xmlns:ds="http://schemas.openxmlformats.org/officeDocument/2006/customXml" ds:itemID="{11DF0804-7359-4287-89BD-794FCDF60512}"/>
</file>

<file path=docProps/app.xml><?xml version="1.0" encoding="utf-8"?>
<Properties xmlns="http://schemas.openxmlformats.org/officeDocument/2006/extended-properties" xmlns:vt="http://schemas.openxmlformats.org/officeDocument/2006/docPropsVTypes">
  <TotalTime>192</TotalTime>
  <Words>1693</Words>
  <Application>Microsoft Office PowerPoint</Application>
  <PresentationFormat>Apresentação na tela (16:9)</PresentationFormat>
  <Paragraphs>230</Paragraphs>
  <Slides>13</Slides>
  <Notes>13</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13</vt:i4>
      </vt:variant>
    </vt:vector>
  </HeadingPairs>
  <TitlesOfParts>
    <vt:vector size="17" baseType="lpstr">
      <vt:lpstr>Arial</vt:lpstr>
      <vt:lpstr>Calibri</vt:lpstr>
      <vt:lpstr>Google Sans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Rafael Descio Trineto</cp:lastModifiedBy>
  <cp:revision>25</cp:revision>
  <dcterms:created xsi:type="dcterms:W3CDTF">2026-02-10T18:15:56Z</dcterms:created>
  <dcterms:modified xsi:type="dcterms:W3CDTF">2026-02-19T21:07:13Z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0x010100795165DC952CB74CB28C701A37019D8E</vt:lpwstr>
  </property>
  <property fmtid="{D5CDD505-2E9C-101B-9397-08002B2CF9AE}" pid="3" name="Order">
    <vt:r8>200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